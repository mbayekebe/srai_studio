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7b1eced995490a" /><Relationship Type="http://schemas.openxmlformats.org/officeDocument/2006/relationships/extended-properties" Target="/docProps/app.xml" Id="R73e9941697e9425d" /><Relationship Type="http://schemas.openxmlformats.org/officeDocument/2006/relationships/officeDocument" Target="/ppt/presentation.xml" Id="R63a2e105840d4c76" /></Relationships>
</file>

<file path=ppt/presentation.xml><?xml version="1.0" encoding="utf-8"?>
<p:presentation xmlns:p="http://schemas.openxmlformats.org/presentationml/2006/main">
  <p:sldMasterIdLst>
    <p:sldMasterId xmlns:r="http://schemas.openxmlformats.org/officeDocument/2006/relationships" id="2147483648" r:id="R416c1e902f5f4e1a"/>
  </p:sldMasterIdLst>
  <p:notesMasterIdLst>
    <p:notesMasterId xmlns:r="http://schemas.openxmlformats.org/officeDocument/2006/relationships" r:id="R0cd55a490ad544bc"/>
  </p:notesMasterIdLst>
  <p:sldIdLst>
    <p:sldId xmlns:r="http://schemas.openxmlformats.org/officeDocument/2006/relationships" id="256" r:id="R82e41c97d8bd4928"/>
    <p:sldId xmlns:r="http://schemas.openxmlformats.org/officeDocument/2006/relationships" id="257" r:id="R489d3870396841cb"/>
    <p:sldId xmlns:r="http://schemas.openxmlformats.org/officeDocument/2006/relationships" id="258" r:id="R4580bd33c6774093"/>
    <p:sldId xmlns:r="http://schemas.openxmlformats.org/officeDocument/2006/relationships" id="259" r:id="R9c3ee006506b4830"/>
    <p:sldId xmlns:r="http://schemas.openxmlformats.org/officeDocument/2006/relationships" id="260" r:id="Rc8e53b804dc94e11"/>
    <p:sldId xmlns:r="http://schemas.openxmlformats.org/officeDocument/2006/relationships" id="261" r:id="R900faa819dd34720"/>
    <p:sldId xmlns:r="http://schemas.openxmlformats.org/officeDocument/2006/relationships" id="262" r:id="Rbc840ffb66b04a8e"/>
    <p:sldId xmlns:r="http://schemas.openxmlformats.org/officeDocument/2006/relationships" id="263" r:id="R655b592eb4f442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61067149e14709" /><Relationship Type="http://schemas.openxmlformats.org/officeDocument/2006/relationships/slideMaster" Target="/ppt/slideMasters/slideMaster1.xml" Id="R416c1e902f5f4e1a" /><Relationship Type="http://schemas.openxmlformats.org/officeDocument/2006/relationships/notesMaster" Target="/ppt/notesMasters/notesMaster1.xml" Id="R0cd55a490ad544bc" /><Relationship Type="http://schemas.openxmlformats.org/officeDocument/2006/relationships/presProps" Target="/ppt/presProps.xml" Id="R495c5e2ae2334754" /><Relationship Type="http://schemas.openxmlformats.org/officeDocument/2006/relationships/tableStyles" Target="/ppt/tableStyles.xml" Id="R82ff8c01e0de475f" /><Relationship Type="http://schemas.openxmlformats.org/officeDocument/2006/relationships/slide" Target="/ppt/slides/slide1.xml" Id="R82e41c97d8bd4928" /><Relationship Type="http://schemas.openxmlformats.org/officeDocument/2006/relationships/slide" Target="/ppt/slides/slide2.xml" Id="R489d3870396841cb" /><Relationship Type="http://schemas.openxmlformats.org/officeDocument/2006/relationships/slide" Target="/ppt/slides/slide3.xml" Id="R4580bd33c6774093" /><Relationship Type="http://schemas.openxmlformats.org/officeDocument/2006/relationships/slide" Target="/ppt/slides/slide4.xml" Id="R9c3ee006506b4830" /><Relationship Type="http://schemas.openxmlformats.org/officeDocument/2006/relationships/slide" Target="/ppt/slides/slide5.xml" Id="Rc8e53b804dc94e11" /><Relationship Type="http://schemas.openxmlformats.org/officeDocument/2006/relationships/slide" Target="/ppt/slides/slide6.xml" Id="R900faa819dd34720" /><Relationship Type="http://schemas.openxmlformats.org/officeDocument/2006/relationships/slide" Target="/ppt/slides/slide7.xml" Id="Rbc840ffb66b04a8e" /><Relationship Type="http://schemas.openxmlformats.org/officeDocument/2006/relationships/slide" Target="/ppt/slides/slide8.xml" Id="R655b592eb4f442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8a898bd52949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2c6265d70e4990" /><Relationship Type="http://schemas.openxmlformats.org/officeDocument/2006/relationships/notesMaster" Target="/ppt/notesMasters/notesMaster1.xml" Id="R1261eba854a34f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b26168b25647f1" /><Relationship Type="http://schemas.openxmlformats.org/officeDocument/2006/relationships/notesMaster" Target="/ppt/notesMasters/notesMaster1.xml" Id="R446bba6a53c84f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e9413bc042445b" /><Relationship Type="http://schemas.openxmlformats.org/officeDocument/2006/relationships/notesMaster" Target="/ppt/notesMasters/notesMaster1.xml" Id="R21b137562fbc4a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42db9600e04d44" /><Relationship Type="http://schemas.openxmlformats.org/officeDocument/2006/relationships/notesMaster" Target="/ppt/notesMasters/notesMaster1.xml" Id="R6a806831e6684f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36adf67dbc4be8" /><Relationship Type="http://schemas.openxmlformats.org/officeDocument/2006/relationships/notesMaster" Target="/ppt/notesMasters/notesMaster1.xml" Id="Rd687528840c24d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664907b5ef4841" /><Relationship Type="http://schemas.openxmlformats.org/officeDocument/2006/relationships/notesMaster" Target="/ppt/notesMasters/notesMaster1.xml" Id="Rb2867e32ae334b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5f3cb5bdba4a21" /><Relationship Type="http://schemas.openxmlformats.org/officeDocument/2006/relationships/notesMaster" Target="/ppt/notesMasters/notesMaster1.xml" Id="R558c5faf27e04f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60223349cf4749" /><Relationship Type="http://schemas.openxmlformats.org/officeDocument/2006/relationships/notesMaster" Target="/ppt/notesMasters/notesMaster1.xml" Id="Rdf28324289374c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Health Surveys and Small-Area Evidence. This lesson begins with one principle: local evidence must retain design, uncertainty, and disclosure safeguards.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Local evidence must retain design, uncertainty, and disclosure safeguards. The five controls shown here are Survey design, Weights, Precision, Model assumptions, Disclosure. Together, they prevent a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survey design, move through weights and precision, and finish with model assumptions and disclosure.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District estimates show design-based and model-based uncertainty before publication.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Produce small-area estimates and test precision and disclosure gates.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survey design clear? Is weights documented? Is precision testable? Is model assumptions governed? And is disclosure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68cc2224bb4d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3899825b2a4e23" /><Relationship Type="http://schemas.openxmlformats.org/officeDocument/2006/relationships/slideLayout" Target="/ppt/slideLayouts/slideLayout1.xml" Id="R8ca360d9748947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a360d9748947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3c7b324db645e7" /><Relationship Type="http://schemas.openxmlformats.org/officeDocument/2006/relationships/notesSlide" Target="/ppt/notesSlides/notesSlide1.xml" Id="Re601611f7fa84b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e68f3cb0854e1f" /><Relationship Type="http://schemas.openxmlformats.org/officeDocument/2006/relationships/notesSlide" Target="/ppt/notesSlides/notesSlide2.xml" Id="R530e87069d4e46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32cebcbd4d4907" /><Relationship Type="http://schemas.openxmlformats.org/officeDocument/2006/relationships/notesSlide" Target="/ppt/notesSlides/notesSlide3.xml" Id="Raa8fe8f00ea14b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4d7bdffef94eb4" /><Relationship Type="http://schemas.openxmlformats.org/officeDocument/2006/relationships/notesSlide" Target="/ppt/notesSlides/notesSlide4.xml" Id="R579b044d385c4b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fef4268cc140e6" /><Relationship Type="http://schemas.openxmlformats.org/officeDocument/2006/relationships/notesSlide" Target="/ppt/notesSlides/notesSlide5.xml" Id="R336ea8cd17bf42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20ad2a455e44a6" /><Relationship Type="http://schemas.openxmlformats.org/officeDocument/2006/relationships/notesSlide" Target="/ppt/notesSlides/notesSlide6.xml" Id="Rbfabcac76e7c4f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7870d5177342fb" /><Relationship Type="http://schemas.openxmlformats.org/officeDocument/2006/relationships/notesSlide" Target="/ppt/notesSlides/notesSlide7.xml" Id="R2d9d15a5356b4a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04ba7c3d04439c" /><Relationship Type="http://schemas.openxmlformats.org/officeDocument/2006/relationships/notesSlide" Target="/ppt/notesSlides/notesSlide8.xml" Id="R9c9cc879895a48dc"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E4A000-D751-432A-BDCC-CEF5AFE2F5F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3E3D45D0-AE23-4B85-8C2C-DD0AD4D52C76}"/>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BCE13EC1-D0C0-4A35-8554-CCFD85A5D8AB}"/>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727E627B-B6F7-4A8D-AA7C-8531973C0408}"/>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BE60391B-D52D-42E6-97BD-F7627110D97B}"/>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HEALTH SURVEYS AND SMALL-AREA EVIDENCE</a:t>
            </a:r>
          </a:p>
        </p:txBody>
      </p:sp>
      <p:sp>
        <p:nvSpPr>
          <p:cNvPr id="6" name="">
            <a:extLst xmlns:a="http://schemas.openxmlformats.org/drawingml/2006/main">
              <a:ext uri="{FF2B5EF4-FFF2-40B4-BE49-F238E27FC236}">
                <a16:creationId xmlns:a16="http://schemas.microsoft.com/office/drawing/2014/main" id="{905D378D-1119-4D35-B8A6-98837603F7E6}"/>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Local evidence must retain design, uncertainty, and disclosure safeguards.</a:t>
            </a:r>
          </a:p>
        </p:txBody>
      </p:sp>
      <p:sp>
        <p:nvSpPr>
          <p:cNvPr id="7" name="">
            <a:extLst xmlns:a="http://schemas.openxmlformats.org/drawingml/2006/main">
              <a:ext uri="{FF2B5EF4-FFF2-40B4-BE49-F238E27FC236}">
                <a16:creationId xmlns:a16="http://schemas.microsoft.com/office/drawing/2014/main" id="{5CDB24E3-80B5-46EC-9FC9-6F817D8EF63E}"/>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V7_B_N12</a:t>
            </a:r>
          </a:p>
        </p:txBody>
      </p:sp>
      <p:sp>
        <p:nvSpPr>
          <p:cNvPr id="8" name="">
            <a:extLst xmlns:a="http://schemas.openxmlformats.org/drawingml/2006/main">
              <a:ext uri="{FF2B5EF4-FFF2-40B4-BE49-F238E27FC236}">
                <a16:creationId xmlns:a16="http://schemas.microsoft.com/office/drawing/2014/main" id="{A0717F9B-8DE1-42E3-B3B0-688B56F8E57B}"/>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PU-B07-C32</a:t>
            </a:r>
          </a:p>
        </p:txBody>
      </p:sp>
      <p:sp>
        <p:nvSpPr>
          <p:cNvPr id="9" name="">
            <a:extLst xmlns:a="http://schemas.openxmlformats.org/drawingml/2006/main">
              <a:ext uri="{FF2B5EF4-FFF2-40B4-BE49-F238E27FC236}">
                <a16:creationId xmlns:a16="http://schemas.microsoft.com/office/drawing/2014/main" id="{C49056FA-5B71-429E-9855-595F11B8A483}"/>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D4FB7F3C-62BA-4F74-958C-D0759ED665F5}"/>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12907262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EFB4D55-C36C-42E0-84B3-18AC5BD9176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V7_B_N12</a:t>
            </a:r>
          </a:p>
        </p:txBody>
      </p:sp>
      <p:sp>
        <p:nvSpPr>
          <p:cNvPr id="2" name="">
            <a:extLst xmlns:a="http://schemas.openxmlformats.org/drawingml/2006/main">
              <a:ext uri="{FF2B5EF4-FFF2-40B4-BE49-F238E27FC236}">
                <a16:creationId xmlns:a16="http://schemas.microsoft.com/office/drawing/2014/main" id="{A459B672-C379-473E-AA20-0ACC68AB4BC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E6753599-75E3-4B9B-8876-38984FD5FCE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8D290F7-25DA-4886-8ED9-5BE5C791F084}"/>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5B8BCF65-290C-42FB-BF8B-30748EADB4AF}"/>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Local evidence must retain design, uncertainty, and disclosure safeguards.</a:t>
            </a:r>
          </a:p>
        </p:txBody>
      </p:sp>
      <p:sp>
        <p:nvSpPr>
          <p:cNvPr id="6" name="">
            <a:extLst xmlns:a="http://schemas.openxmlformats.org/drawingml/2006/main">
              <a:ext uri="{FF2B5EF4-FFF2-40B4-BE49-F238E27FC236}">
                <a16:creationId xmlns:a16="http://schemas.microsoft.com/office/drawing/2014/main" id="{F066C0BF-ABE2-4E1A-96AA-41BE70BEDF52}"/>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DBB85FB0-8A1E-4FA6-9F3B-6EC743D3DF21}"/>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CAC03CC4-64E6-4B42-B838-B02BB7AC925D}"/>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Survey design</a:t>
            </a:r>
          </a:p>
        </p:txBody>
      </p:sp>
      <p:sp>
        <p:nvSpPr>
          <p:cNvPr id="9" name="">
            <a:extLst xmlns:a="http://schemas.openxmlformats.org/drawingml/2006/main">
              <a:ext uri="{FF2B5EF4-FFF2-40B4-BE49-F238E27FC236}">
                <a16:creationId xmlns:a16="http://schemas.microsoft.com/office/drawing/2014/main" id="{65A992B2-BB6E-4028-BEA9-41929763B49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7F21515F-9BE5-4CA2-B5CC-D7981157FEE7}"/>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Weights</a:t>
            </a:r>
          </a:p>
        </p:txBody>
      </p:sp>
      <p:sp>
        <p:nvSpPr>
          <p:cNvPr id="11" name="">
            <a:extLst xmlns:a="http://schemas.openxmlformats.org/drawingml/2006/main">
              <a:ext uri="{FF2B5EF4-FFF2-40B4-BE49-F238E27FC236}">
                <a16:creationId xmlns:a16="http://schemas.microsoft.com/office/drawing/2014/main" id="{13242A1C-05D8-43F5-BE72-E3337F730506}"/>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E45D4D70-EAA8-47E9-B876-019FF74FB78B}"/>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Precision</a:t>
            </a:r>
          </a:p>
        </p:txBody>
      </p:sp>
      <p:sp>
        <p:nvSpPr>
          <p:cNvPr id="13" name="">
            <a:extLst xmlns:a="http://schemas.openxmlformats.org/drawingml/2006/main">
              <a:ext uri="{FF2B5EF4-FFF2-40B4-BE49-F238E27FC236}">
                <a16:creationId xmlns:a16="http://schemas.microsoft.com/office/drawing/2014/main" id="{D5BD7048-7436-4964-B537-81233F03B798}"/>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4F1C0D6B-EE07-47BC-9A7F-5CA79E2EE282}"/>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Model assumptions</a:t>
            </a:r>
          </a:p>
        </p:txBody>
      </p:sp>
      <p:sp>
        <p:nvSpPr>
          <p:cNvPr id="15" name="">
            <a:extLst xmlns:a="http://schemas.openxmlformats.org/drawingml/2006/main">
              <a:ext uri="{FF2B5EF4-FFF2-40B4-BE49-F238E27FC236}">
                <a16:creationId xmlns:a16="http://schemas.microsoft.com/office/drawing/2014/main" id="{25D24952-0EC5-4B6E-BDFA-A4CDF1DCDEE4}"/>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C4BF907F-96D9-4546-BB92-A297ADDEA9E3}"/>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Disclosure</a:t>
            </a:r>
          </a:p>
        </p:txBody>
      </p:sp>
      <p:sp>
        <p:nvSpPr>
          <p:cNvPr id="17" name="">
            <a:extLst xmlns:a="http://schemas.openxmlformats.org/drawingml/2006/main">
              <a:ext uri="{FF2B5EF4-FFF2-40B4-BE49-F238E27FC236}">
                <a16:creationId xmlns:a16="http://schemas.microsoft.com/office/drawing/2014/main" id="{E6D4B40E-8111-4B4D-ADBD-9DA6291448F0}"/>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60812806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F0D02F8-C0E7-4C48-BB1D-DC19702A0F1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V7_B_N12</a:t>
            </a:r>
          </a:p>
        </p:txBody>
      </p:sp>
      <p:sp>
        <p:nvSpPr>
          <p:cNvPr id="2" name="">
            <a:extLst xmlns:a="http://schemas.openxmlformats.org/drawingml/2006/main">
              <a:ext uri="{FF2B5EF4-FFF2-40B4-BE49-F238E27FC236}">
                <a16:creationId xmlns:a16="http://schemas.microsoft.com/office/drawing/2014/main" id="{3E2F37ED-8A04-461A-95BF-A784E34E654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5B091936-65F9-41EA-9986-5102350BC8F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B271BAA-CD75-4B84-955C-24097338CFE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252F1DFB-E3A6-4A3F-BE5B-AA68416BCF4A}"/>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D1B512BD-6FB1-4D81-B750-6BDD7634A0C1}"/>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B7EB90FF-A71A-4D79-A44E-AE3DCC218F47}"/>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Survey design</a:t>
            </a:r>
          </a:p>
        </p:txBody>
      </p:sp>
      <p:sp>
        <p:nvSpPr>
          <p:cNvPr id="8" name="">
            <a:extLst xmlns:a="http://schemas.openxmlformats.org/drawingml/2006/main">
              <a:ext uri="{FF2B5EF4-FFF2-40B4-BE49-F238E27FC236}">
                <a16:creationId xmlns:a16="http://schemas.microsoft.com/office/drawing/2014/main" id="{BF8FD71E-28D0-4606-AA5A-B16E14D83BBF}"/>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CCC7BD4-59BE-4821-9ECC-F42CB44A7304}"/>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B7DD970-2C32-4208-9A18-F391A01B307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Weights</a:t>
            </a:r>
          </a:p>
        </p:txBody>
      </p:sp>
      <p:sp>
        <p:nvSpPr>
          <p:cNvPr id="11" name="">
            <a:extLst xmlns:a="http://schemas.openxmlformats.org/drawingml/2006/main">
              <a:ext uri="{FF2B5EF4-FFF2-40B4-BE49-F238E27FC236}">
                <a16:creationId xmlns:a16="http://schemas.microsoft.com/office/drawing/2014/main" id="{EA454B48-7CBE-4841-BB88-C2C68456F9D5}"/>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A9F79023-3206-4196-9044-318DCDD31174}"/>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8FDF9C62-249C-4E85-9511-B2782CD55993}"/>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Precision</a:t>
            </a:r>
          </a:p>
        </p:txBody>
      </p:sp>
      <p:sp>
        <p:nvSpPr>
          <p:cNvPr id="14" name="">
            <a:extLst xmlns:a="http://schemas.openxmlformats.org/drawingml/2006/main">
              <a:ext uri="{FF2B5EF4-FFF2-40B4-BE49-F238E27FC236}">
                <a16:creationId xmlns:a16="http://schemas.microsoft.com/office/drawing/2014/main" id="{84A18BF3-AE8E-49BD-8317-8F7D34FB425F}"/>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A33DDD79-9B78-4878-8F4E-EAEE86DBD1DD}"/>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97ADBF48-A5A8-420E-B6C6-7D969B830554}"/>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Model assumptions</a:t>
            </a:r>
          </a:p>
        </p:txBody>
      </p:sp>
      <p:sp>
        <p:nvSpPr>
          <p:cNvPr id="17" name="">
            <a:extLst xmlns:a="http://schemas.openxmlformats.org/drawingml/2006/main">
              <a:ext uri="{FF2B5EF4-FFF2-40B4-BE49-F238E27FC236}">
                <a16:creationId xmlns:a16="http://schemas.microsoft.com/office/drawing/2014/main" id="{66217D26-F210-49E3-B604-4CA77CC4A40D}"/>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5F19A72C-E4B8-4094-8B38-E647D8629702}"/>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D738BB41-91A3-4742-912C-21F393E3CEA4}"/>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Disclosure</a:t>
            </a:r>
          </a:p>
        </p:txBody>
      </p:sp>
      <p:sp>
        <p:nvSpPr>
          <p:cNvPr id="20" name="">
            <a:extLst xmlns:a="http://schemas.openxmlformats.org/drawingml/2006/main">
              <a:ext uri="{FF2B5EF4-FFF2-40B4-BE49-F238E27FC236}">
                <a16:creationId xmlns:a16="http://schemas.microsoft.com/office/drawing/2014/main" id="{4029BE19-E1BF-4E80-8330-FDE0DDA5775E}"/>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374389358"/>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EBCCEF-57C4-427D-8C06-599BE8D5614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V7_B_N12</a:t>
            </a:r>
          </a:p>
        </p:txBody>
      </p:sp>
      <p:sp>
        <p:nvSpPr>
          <p:cNvPr id="2" name="">
            <a:extLst xmlns:a="http://schemas.openxmlformats.org/drawingml/2006/main">
              <a:ext uri="{FF2B5EF4-FFF2-40B4-BE49-F238E27FC236}">
                <a16:creationId xmlns:a16="http://schemas.microsoft.com/office/drawing/2014/main" id="{7558CB52-DC5C-4314-AECA-D547F3E65CB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A5142F90-5AE9-4544-AB39-9360AAD7CAD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BF646D5-F2C6-4133-8BFA-10F85B6BFA4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7ED3F0E8-457D-4CF4-938E-77014E2544EB}"/>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93C50FC6-F183-4E1B-8DFF-429F8AC2F861}"/>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8707A50D-580F-41EC-AFA4-59971097E784}"/>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District estimates show design-based and model-based uncertainty before publication.</a:t>
            </a:r>
          </a:p>
        </p:txBody>
      </p:sp>
      <p:sp>
        <p:nvSpPr>
          <p:cNvPr id="8" name="">
            <a:extLst xmlns:a="http://schemas.openxmlformats.org/drawingml/2006/main">
              <a:ext uri="{FF2B5EF4-FFF2-40B4-BE49-F238E27FC236}">
                <a16:creationId xmlns:a16="http://schemas.microsoft.com/office/drawing/2014/main" id="{BB54580F-9D91-4416-9CED-CAD4DB9E2E86}"/>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4AC69773-61E9-4234-BEC7-101B8ED701DE}"/>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E6FDAADD-329E-497C-AA8B-E51150A32CAA}"/>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2B4EE130-59F2-481F-888E-72DFF1A092AE}"/>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29629056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496FE43-7CD6-4CB6-B928-F475D718C98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V7_B_N12</a:t>
            </a:r>
          </a:p>
        </p:txBody>
      </p:sp>
      <p:sp>
        <p:nvSpPr>
          <p:cNvPr id="2" name="">
            <a:extLst xmlns:a="http://schemas.openxmlformats.org/drawingml/2006/main">
              <a:ext uri="{FF2B5EF4-FFF2-40B4-BE49-F238E27FC236}">
                <a16:creationId xmlns:a16="http://schemas.microsoft.com/office/drawing/2014/main" id="{D0161C5A-B09D-4623-8CAD-66A6D6A27B0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BCEA8B2B-B856-4093-8A42-F8CCA8D33AA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F8C0BC5-7ECB-4A9D-A5DB-3674C444A98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D8E17998-3EE6-4E3D-99AC-2D7924A4A149}"/>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Produce small-area estimates and test precision and disclosure gates.</a:t>
            </a:r>
          </a:p>
        </p:txBody>
      </p:sp>
      <p:sp>
        <p:nvSpPr>
          <p:cNvPr id="6" name="">
            <a:extLst xmlns:a="http://schemas.openxmlformats.org/drawingml/2006/main">
              <a:ext uri="{FF2B5EF4-FFF2-40B4-BE49-F238E27FC236}">
                <a16:creationId xmlns:a16="http://schemas.microsoft.com/office/drawing/2014/main" id="{5948D996-B0D1-4386-97CF-A8C8DD8AE6EE}"/>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149D8605-EDE1-4EBA-8989-749512F77974}"/>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D7CD9121-699C-4D18-8E8B-3DEBFC931318}"/>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8C80AE3B-B14D-4C3D-A278-9D11B9C2D51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2DE50EAD-218E-43DB-AB7D-309E5576CF93}"/>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34BD75F9-C32E-4EEA-9321-E306A4FD3EE4}"/>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BAD3CFEB-1B08-4343-A589-FD4732C950B6}"/>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B298DEF3-41C3-4DA5-856F-9B054482CFE5}"/>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4004105-9F69-4DA2-A061-4CE9B10470DD}"/>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65E57362-018F-414B-B689-908EA3F2F7D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73310FF5-B44A-4ADA-904B-558E81D48449}"/>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87016F6A-322F-4372-9979-BE20948FD0C9}"/>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2028951367"/>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181B44D-D2CD-4B14-8C70-2B725595816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V7_B_N12</a:t>
            </a:r>
          </a:p>
        </p:txBody>
      </p:sp>
      <p:sp>
        <p:nvSpPr>
          <p:cNvPr id="2" name="">
            <a:extLst xmlns:a="http://schemas.openxmlformats.org/drawingml/2006/main">
              <a:ext uri="{FF2B5EF4-FFF2-40B4-BE49-F238E27FC236}">
                <a16:creationId xmlns:a16="http://schemas.microsoft.com/office/drawing/2014/main" id="{EEB75E4F-69E4-445F-9E5F-605BB3B1D15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82AC72A7-34EC-4ADD-A773-7CE8C05FA2B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8AD9B7F-CB07-4624-9CA6-36780889A94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511B39EA-1847-4668-868B-6A399D04560B}"/>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4AE98309-53FE-4D66-84C8-99F9BFDC2E3A}"/>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C956A3FC-1E26-4934-9DE8-84CF8C5A4F83}"/>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74F0E06A-04A3-4DB7-8CB6-88027185604A}"/>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DE392804-2F0B-4030-B3F5-64C9CA61400A}"/>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8A4164B2-730B-4823-B4AE-5CA377682C65}"/>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514B31A9-E0CB-4097-B9F5-BC3E46B9AC98}"/>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8B6C4A0D-42F1-4562-84B8-DAB519FF6A56}"/>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A2A3CADA-871E-4BB2-86BB-6C63E17326FA}"/>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B62A04CF-DE33-4787-AFD3-42B6D790EA42}"/>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369333191"/>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361B02-5787-427E-98CD-93B0B83EC4E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V7_B_N12</a:t>
            </a:r>
          </a:p>
        </p:txBody>
      </p:sp>
      <p:sp>
        <p:nvSpPr>
          <p:cNvPr id="2" name="">
            <a:extLst xmlns:a="http://schemas.openxmlformats.org/drawingml/2006/main">
              <a:ext uri="{FF2B5EF4-FFF2-40B4-BE49-F238E27FC236}">
                <a16:creationId xmlns:a16="http://schemas.microsoft.com/office/drawing/2014/main" id="{6462F899-3693-48FC-A93D-2AD39A7D600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41896B35-43D2-45A9-B2C1-57AF6BB7E0F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C840BCE-B1A7-4092-B5D2-662BB605C96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0E83713F-6276-4991-AFE2-6258C22FA81C}"/>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F9D28B68-6B96-469F-9D39-B168BB499FF6}"/>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BF04111F-F65F-4FE2-89A1-546430195D22}"/>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3C7B802C-4042-4132-A49C-8996F11008C0}"/>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D3774BE-BD6B-403F-A8AF-A416C19177C8}"/>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1F9BA7BD-B1B5-4EEA-BE5B-2D89D5BDB375}"/>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89512440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0AF2A0-36D4-4C50-9BD2-F91121F95B1F}"/>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943CC12C-EB23-4462-865C-490106DF8CD2}"/>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E835D324-16D5-44E3-99F4-0E21F9A2BDEF}"/>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Survey design</a:t>
            </a:r>
          </a:p>
        </p:txBody>
      </p:sp>
      <p:sp>
        <p:nvSpPr>
          <p:cNvPr id="4" name="">
            <a:extLst xmlns:a="http://schemas.openxmlformats.org/drawingml/2006/main">
              <a:ext uri="{FF2B5EF4-FFF2-40B4-BE49-F238E27FC236}">
                <a16:creationId xmlns:a16="http://schemas.microsoft.com/office/drawing/2014/main" id="{B6E76100-A40D-4F2D-81B2-4051B00CE383}"/>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9211AF2-21AB-476E-922C-5B38190250C9}"/>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Weights</a:t>
            </a:r>
          </a:p>
        </p:txBody>
      </p:sp>
      <p:sp>
        <p:nvSpPr>
          <p:cNvPr id="6" name="">
            <a:extLst xmlns:a="http://schemas.openxmlformats.org/drawingml/2006/main">
              <a:ext uri="{FF2B5EF4-FFF2-40B4-BE49-F238E27FC236}">
                <a16:creationId xmlns:a16="http://schemas.microsoft.com/office/drawing/2014/main" id="{C368F68C-14AD-4E76-874F-6895DB1542EB}"/>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D0676D20-8967-4AB7-8AD0-53CD736ED4F1}"/>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Precision</a:t>
            </a:r>
          </a:p>
        </p:txBody>
      </p:sp>
      <p:sp>
        <p:nvSpPr>
          <p:cNvPr id="8" name="">
            <a:extLst xmlns:a="http://schemas.openxmlformats.org/drawingml/2006/main">
              <a:ext uri="{FF2B5EF4-FFF2-40B4-BE49-F238E27FC236}">
                <a16:creationId xmlns:a16="http://schemas.microsoft.com/office/drawing/2014/main" id="{3AAD54EC-D634-4A0F-A435-73212A871C96}"/>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44921ADA-3F04-4B91-8B6E-81261FFEFDF3}"/>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Model assumptions</a:t>
            </a:r>
          </a:p>
        </p:txBody>
      </p:sp>
      <p:sp>
        <p:nvSpPr>
          <p:cNvPr id="10" name="">
            <a:extLst xmlns:a="http://schemas.openxmlformats.org/drawingml/2006/main">
              <a:ext uri="{FF2B5EF4-FFF2-40B4-BE49-F238E27FC236}">
                <a16:creationId xmlns:a16="http://schemas.microsoft.com/office/drawing/2014/main" id="{20C61E29-DADE-4083-9543-C13B5697E330}"/>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C189BFF7-3E75-45EF-A484-21E92A5274DF}"/>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Disclosure</a:t>
            </a:r>
          </a:p>
        </p:txBody>
      </p:sp>
      <p:sp>
        <p:nvSpPr>
          <p:cNvPr id="12" name="">
            <a:extLst xmlns:a="http://schemas.openxmlformats.org/drawingml/2006/main">
              <a:ext uri="{FF2B5EF4-FFF2-40B4-BE49-F238E27FC236}">
                <a16:creationId xmlns:a16="http://schemas.microsoft.com/office/drawing/2014/main" id="{EF701A9C-9E4B-4B61-BC58-9B6D23D84122}"/>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8772853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2026-09-04T15:21:07.1910000Z</dcterms:created>
  <dcterms:modified xsi:type="dcterms:W3CDTF">2026-09-04T15:21:07.1910000Z</dcterms:modified>
</coreProperties>
</file>