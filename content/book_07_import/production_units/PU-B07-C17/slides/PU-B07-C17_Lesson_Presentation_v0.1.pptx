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8e8606979044c5" /><Relationship Type="http://schemas.openxmlformats.org/officeDocument/2006/relationships/extended-properties" Target="/docProps/app.xml" Id="Ra340913557924483" /><Relationship Type="http://schemas.openxmlformats.org/officeDocument/2006/relationships/officeDocument" Target="/ppt/presentation.xml" Id="R0b7c2cab7ee3432c" /></Relationships>
</file>

<file path=ppt/presentation.xml><?xml version="1.0" encoding="utf-8"?>
<p:presentation xmlns:p="http://schemas.openxmlformats.org/presentationml/2006/main">
  <p:sldMasterIdLst>
    <p:sldMasterId xmlns:r="http://schemas.openxmlformats.org/officeDocument/2006/relationships" id="2147483648" r:id="Rf7487ab60dea4083"/>
  </p:sldMasterIdLst>
  <p:notesMasterIdLst>
    <p:notesMasterId xmlns:r="http://schemas.openxmlformats.org/officeDocument/2006/relationships" r:id="Rf0fdd5b983be4cae"/>
  </p:notesMasterIdLst>
  <p:sldIdLst>
    <p:sldId xmlns:r="http://schemas.openxmlformats.org/officeDocument/2006/relationships" id="256" r:id="R4ad90b22c98c4002"/>
    <p:sldId xmlns:r="http://schemas.openxmlformats.org/officeDocument/2006/relationships" id="257" r:id="Re6b8796e7d244210"/>
    <p:sldId xmlns:r="http://schemas.openxmlformats.org/officeDocument/2006/relationships" id="258" r:id="Re509c8dce821414a"/>
    <p:sldId xmlns:r="http://schemas.openxmlformats.org/officeDocument/2006/relationships" id="259" r:id="Ref0edf2824a8412e"/>
    <p:sldId xmlns:r="http://schemas.openxmlformats.org/officeDocument/2006/relationships" id="260" r:id="Rb894945153e04daf"/>
    <p:sldId xmlns:r="http://schemas.openxmlformats.org/officeDocument/2006/relationships" id="261" r:id="Rc3791819146948f6"/>
    <p:sldId xmlns:r="http://schemas.openxmlformats.org/officeDocument/2006/relationships" id="262" r:id="R00d9db2a69404659"/>
    <p:sldId xmlns:r="http://schemas.openxmlformats.org/officeDocument/2006/relationships" id="263" r:id="R869be14dc4c04d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aa8d83e6164d50" /><Relationship Type="http://schemas.openxmlformats.org/officeDocument/2006/relationships/slideMaster" Target="/ppt/slideMasters/slideMaster1.xml" Id="Rf7487ab60dea4083" /><Relationship Type="http://schemas.openxmlformats.org/officeDocument/2006/relationships/notesMaster" Target="/ppt/notesMasters/notesMaster1.xml" Id="Rf0fdd5b983be4cae" /><Relationship Type="http://schemas.openxmlformats.org/officeDocument/2006/relationships/presProps" Target="/ppt/presProps.xml" Id="R4e337b5550924d30" /><Relationship Type="http://schemas.openxmlformats.org/officeDocument/2006/relationships/tableStyles" Target="/ppt/tableStyles.xml" Id="Rebbb138d79394cd6" /><Relationship Type="http://schemas.openxmlformats.org/officeDocument/2006/relationships/slide" Target="/ppt/slides/slide1.xml" Id="R4ad90b22c98c4002" /><Relationship Type="http://schemas.openxmlformats.org/officeDocument/2006/relationships/slide" Target="/ppt/slides/slide2.xml" Id="Re6b8796e7d244210" /><Relationship Type="http://schemas.openxmlformats.org/officeDocument/2006/relationships/slide" Target="/ppt/slides/slide3.xml" Id="Re509c8dce821414a" /><Relationship Type="http://schemas.openxmlformats.org/officeDocument/2006/relationships/slide" Target="/ppt/slides/slide4.xml" Id="Ref0edf2824a8412e" /><Relationship Type="http://schemas.openxmlformats.org/officeDocument/2006/relationships/slide" Target="/ppt/slides/slide5.xml" Id="Rb894945153e04daf" /><Relationship Type="http://schemas.openxmlformats.org/officeDocument/2006/relationships/slide" Target="/ppt/slides/slide6.xml" Id="Rc3791819146948f6" /><Relationship Type="http://schemas.openxmlformats.org/officeDocument/2006/relationships/slide" Target="/ppt/slides/slide7.xml" Id="R00d9db2a69404659" /><Relationship Type="http://schemas.openxmlformats.org/officeDocument/2006/relationships/slide" Target="/ppt/slides/slide8.xml" Id="R869be14dc4c04d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f53cb7e9ae4a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ec82f43c6c4eb9" /><Relationship Type="http://schemas.openxmlformats.org/officeDocument/2006/relationships/notesMaster" Target="/ppt/notesMasters/notesMaster1.xml" Id="R588ae14a326d44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ced220eb0f47eb" /><Relationship Type="http://schemas.openxmlformats.org/officeDocument/2006/relationships/notesMaster" Target="/ppt/notesMasters/notesMaster1.xml" Id="Rbb21ee857cfc44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16495454864c3f" /><Relationship Type="http://schemas.openxmlformats.org/officeDocument/2006/relationships/notesMaster" Target="/ppt/notesMasters/notesMaster1.xml" Id="Reba80b87e7954a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06e2ce36d247b1" /><Relationship Type="http://schemas.openxmlformats.org/officeDocument/2006/relationships/notesMaster" Target="/ppt/notesMasters/notesMaster1.xml" Id="R80f57ff465634a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c2fd6301204020" /><Relationship Type="http://schemas.openxmlformats.org/officeDocument/2006/relationships/notesMaster" Target="/ppt/notesMasters/notesMaster1.xml" Id="R5330cbce90e44a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bd66b8f9a4076" /><Relationship Type="http://schemas.openxmlformats.org/officeDocument/2006/relationships/notesMaster" Target="/ppt/notesMasters/notesMaster1.xml" Id="R0f794875b67f42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d23b51a3694dcd" /><Relationship Type="http://schemas.openxmlformats.org/officeDocument/2006/relationships/notesMaster" Target="/ppt/notesMasters/notesMaster1.xml" Id="R2c53a5e339e94b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51b1d8a63747c6" /><Relationship Type="http://schemas.openxmlformats.org/officeDocument/2006/relationships/notesMaster" Target="/ppt/notesMasters/notesMaster1.xml" Id="Rd6889e146db843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Samples That Can Represent a Nation. This lesson begins with one principle: national representation depends on design—not sample size alone.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National representation depends on design—not sample size alone. The five controls shown here are Target population, Stratification, Selection probability, Survey weight, Precision.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target population, move through stratification and selection probability, and finish with survey weight and precision.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stratified sample retains selection probabilities, weights, nonresponse adjustments, and precision.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Draw a probability sample, calculate weights, and inspect design-based uncertainty.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target population clear? Is stratification documented? Is selection probability testable? Is survey weight governed? And is precision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c44d881ed74b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ef46e9b97145dd" /><Relationship Type="http://schemas.openxmlformats.org/officeDocument/2006/relationships/slideLayout" Target="/ppt/slideLayouts/slideLayout1.xml" Id="R9ad22ac4519849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d22ac4519849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6675ef4f064875" /><Relationship Type="http://schemas.openxmlformats.org/officeDocument/2006/relationships/notesSlide" Target="/ppt/notesSlides/notesSlide1.xml" Id="Ra2abacd157ee47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23332c5b2e4f00" /><Relationship Type="http://schemas.openxmlformats.org/officeDocument/2006/relationships/notesSlide" Target="/ppt/notesSlides/notesSlide2.xml" Id="R7b8aed14c37843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3ff4c225fa4a5e" /><Relationship Type="http://schemas.openxmlformats.org/officeDocument/2006/relationships/notesSlide" Target="/ppt/notesSlides/notesSlide3.xml" Id="R5f0c6251093f46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3d5071586b442a" /><Relationship Type="http://schemas.openxmlformats.org/officeDocument/2006/relationships/notesSlide" Target="/ppt/notesSlides/notesSlide4.xml" Id="Ra0922311141c43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96f73e1ebd46c3" /><Relationship Type="http://schemas.openxmlformats.org/officeDocument/2006/relationships/notesSlide" Target="/ppt/notesSlides/notesSlide5.xml" Id="Rc591cbe3dbba41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b0583630dc4dbd" /><Relationship Type="http://schemas.openxmlformats.org/officeDocument/2006/relationships/notesSlide" Target="/ppt/notesSlides/notesSlide6.xml" Id="Rd66d20cbd33846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72aa31ce7e4ee5" /><Relationship Type="http://schemas.openxmlformats.org/officeDocument/2006/relationships/notesSlide" Target="/ppt/notesSlides/notesSlide7.xml" Id="R76f2576b34f64b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382f7f22f0e4345" /><Relationship Type="http://schemas.openxmlformats.org/officeDocument/2006/relationships/notesSlide" Target="/ppt/notesSlides/notesSlide8.xml" Id="R289cbff6c729446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D5AB82-6D5D-4BDA-B9D4-0F73444BB0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61BF5B01-BBD3-4112-9106-DC82751ECF39}"/>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3889F943-0794-4C37-9F7E-7D4F18979D0F}"/>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F72EC3D9-6653-4A02-B4AD-908412451DA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784FE6C6-181C-4450-B3B6-BB6038E2E2E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SAMPLES THAT CAN REPRESENT A NATION</a:t>
            </a:r>
          </a:p>
        </p:txBody>
      </p:sp>
      <p:sp>
        <p:nvSpPr>
          <p:cNvPr id="6" name="">
            <a:extLst xmlns:a="http://schemas.openxmlformats.org/drawingml/2006/main">
              <a:ext uri="{FF2B5EF4-FFF2-40B4-BE49-F238E27FC236}">
                <a16:creationId xmlns:a16="http://schemas.microsoft.com/office/drawing/2014/main" id="{9690AFDB-E3BC-4AC2-BC87-BA461D73D24B}"/>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National representation depends on design—not sample size alone.</a:t>
            </a:r>
          </a:p>
        </p:txBody>
      </p:sp>
      <p:sp>
        <p:nvSpPr>
          <p:cNvPr id="7" name="">
            <a:extLst xmlns:a="http://schemas.openxmlformats.org/drawingml/2006/main">
              <a:ext uri="{FF2B5EF4-FFF2-40B4-BE49-F238E27FC236}">
                <a16:creationId xmlns:a16="http://schemas.microsoft.com/office/drawing/2014/main" id="{F98519C3-BA5F-4CBB-827E-074459B57779}"/>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V7_A_N12</a:t>
            </a:r>
          </a:p>
        </p:txBody>
      </p:sp>
      <p:sp>
        <p:nvSpPr>
          <p:cNvPr id="8" name="">
            <a:extLst xmlns:a="http://schemas.openxmlformats.org/drawingml/2006/main">
              <a:ext uri="{FF2B5EF4-FFF2-40B4-BE49-F238E27FC236}">
                <a16:creationId xmlns:a16="http://schemas.microsoft.com/office/drawing/2014/main" id="{FB97802B-1B57-4A05-9449-BCB5A8C1F82C}"/>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PU-B07-C17</a:t>
            </a:r>
          </a:p>
        </p:txBody>
      </p:sp>
      <p:sp>
        <p:nvSpPr>
          <p:cNvPr id="9" name="">
            <a:extLst xmlns:a="http://schemas.openxmlformats.org/drawingml/2006/main">
              <a:ext uri="{FF2B5EF4-FFF2-40B4-BE49-F238E27FC236}">
                <a16:creationId xmlns:a16="http://schemas.microsoft.com/office/drawing/2014/main" id="{A3EC09EA-0134-4CA6-84D2-F90E580423AB}"/>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7C67A13A-774D-4991-A453-22EB8540A6A0}"/>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89695134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6DE2438-AA25-4223-9443-62C57992373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59DF96DF-2AC3-4C90-B484-07F3D1BD8ED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5FA75CDE-1835-4F91-8FA1-EE9167E5C29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CEB3DE2-917B-4470-8573-8D1080EC0A24}"/>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C1D4BB77-950A-4677-AD14-1EE0C49FEFB9}"/>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National representation depends on design—not sample size alone.</a:t>
            </a:r>
          </a:p>
        </p:txBody>
      </p:sp>
      <p:sp>
        <p:nvSpPr>
          <p:cNvPr id="6" name="">
            <a:extLst xmlns:a="http://schemas.openxmlformats.org/drawingml/2006/main">
              <a:ext uri="{FF2B5EF4-FFF2-40B4-BE49-F238E27FC236}">
                <a16:creationId xmlns:a16="http://schemas.microsoft.com/office/drawing/2014/main" id="{3ECB2A38-BA1C-4A2A-AB6B-6C9E03374B25}"/>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25C2C9B5-09B9-466C-BA15-2B94A6C3CAA5}"/>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3488FC9E-AC40-4AF0-9AC7-14159F8237B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Target population</a:t>
            </a:r>
          </a:p>
        </p:txBody>
      </p:sp>
      <p:sp>
        <p:nvSpPr>
          <p:cNvPr id="9" name="">
            <a:extLst xmlns:a="http://schemas.openxmlformats.org/drawingml/2006/main">
              <a:ext uri="{FF2B5EF4-FFF2-40B4-BE49-F238E27FC236}">
                <a16:creationId xmlns:a16="http://schemas.microsoft.com/office/drawing/2014/main" id="{BCB3CB33-5C66-49D0-A35A-07B6E7FC1C2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11242B1C-8C65-4E55-A366-8D56B3659A2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Stratification</a:t>
            </a:r>
          </a:p>
        </p:txBody>
      </p:sp>
      <p:sp>
        <p:nvSpPr>
          <p:cNvPr id="11" name="">
            <a:extLst xmlns:a="http://schemas.openxmlformats.org/drawingml/2006/main">
              <a:ext uri="{FF2B5EF4-FFF2-40B4-BE49-F238E27FC236}">
                <a16:creationId xmlns:a16="http://schemas.microsoft.com/office/drawing/2014/main" id="{28FEE390-D4FF-4417-BF2C-959C60AC9E58}"/>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760F2A37-FB13-4406-AA68-F9F7F644A68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Selection probability</a:t>
            </a:r>
          </a:p>
        </p:txBody>
      </p:sp>
      <p:sp>
        <p:nvSpPr>
          <p:cNvPr id="13" name="">
            <a:extLst xmlns:a="http://schemas.openxmlformats.org/drawingml/2006/main">
              <a:ext uri="{FF2B5EF4-FFF2-40B4-BE49-F238E27FC236}">
                <a16:creationId xmlns:a16="http://schemas.microsoft.com/office/drawing/2014/main" id="{473F16B1-1494-4A54-AC9D-F823AB2BAD8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4828ABC9-6A4D-4B5E-B9B3-499C8857881C}"/>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Survey weight</a:t>
            </a:r>
          </a:p>
        </p:txBody>
      </p:sp>
      <p:sp>
        <p:nvSpPr>
          <p:cNvPr id="15" name="">
            <a:extLst xmlns:a="http://schemas.openxmlformats.org/drawingml/2006/main">
              <a:ext uri="{FF2B5EF4-FFF2-40B4-BE49-F238E27FC236}">
                <a16:creationId xmlns:a16="http://schemas.microsoft.com/office/drawing/2014/main" id="{9B5EA64F-E127-4510-A300-02AE4AC74BAF}"/>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7FBD6C16-DCE0-4406-B942-94E5370D2CD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Precision</a:t>
            </a:r>
          </a:p>
        </p:txBody>
      </p:sp>
      <p:sp>
        <p:nvSpPr>
          <p:cNvPr id="17" name="">
            <a:extLst xmlns:a="http://schemas.openxmlformats.org/drawingml/2006/main">
              <a:ext uri="{FF2B5EF4-FFF2-40B4-BE49-F238E27FC236}">
                <a16:creationId xmlns:a16="http://schemas.microsoft.com/office/drawing/2014/main" id="{6AD6FFB0-746B-4BC3-81DC-213D142636D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92178871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D124C4-1FD5-4123-B96A-2D97877E7B2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D235E855-F21A-4135-8441-94BB6A96A5C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184A7AC8-8C26-46A5-A4D0-C1F973B44F3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2C13C2F-D48F-4A02-B92B-193B5322E5C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57230BF-E823-4B57-9E1B-D2367D0EF3C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4B7592B3-1126-489B-8728-D1FEE7322819}"/>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66660D1B-153A-464C-8A6E-7DC634922B39}"/>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Target population</a:t>
            </a:r>
          </a:p>
        </p:txBody>
      </p:sp>
      <p:sp>
        <p:nvSpPr>
          <p:cNvPr id="8" name="">
            <a:extLst xmlns:a="http://schemas.openxmlformats.org/drawingml/2006/main">
              <a:ext uri="{FF2B5EF4-FFF2-40B4-BE49-F238E27FC236}">
                <a16:creationId xmlns:a16="http://schemas.microsoft.com/office/drawing/2014/main" id="{8D30A04B-0A52-42DE-953E-7C0C8BF1AF9E}"/>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42B8230D-0908-4CDE-98A4-5A7CC14EF807}"/>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63FF0CE5-7955-4BBE-86B5-9DA099592C1D}"/>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Stratification</a:t>
            </a:r>
          </a:p>
        </p:txBody>
      </p:sp>
      <p:sp>
        <p:nvSpPr>
          <p:cNvPr id="11" name="">
            <a:extLst xmlns:a="http://schemas.openxmlformats.org/drawingml/2006/main">
              <a:ext uri="{FF2B5EF4-FFF2-40B4-BE49-F238E27FC236}">
                <a16:creationId xmlns:a16="http://schemas.microsoft.com/office/drawing/2014/main" id="{40389259-BF4C-4EBA-A65E-1573AD0A96CF}"/>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2B1AC61-9736-4BB6-8BAD-771F45CEA26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771B10C0-E2EF-4C54-B55B-BBD5530B02B4}"/>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Selection probability</a:t>
            </a:r>
          </a:p>
        </p:txBody>
      </p:sp>
      <p:sp>
        <p:nvSpPr>
          <p:cNvPr id="14" name="">
            <a:extLst xmlns:a="http://schemas.openxmlformats.org/drawingml/2006/main">
              <a:ext uri="{FF2B5EF4-FFF2-40B4-BE49-F238E27FC236}">
                <a16:creationId xmlns:a16="http://schemas.microsoft.com/office/drawing/2014/main" id="{CEC3CBAE-3916-49BF-9B9C-5D07A59B5E1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3ABF3677-633B-4F1D-A432-E39B3C3A84AA}"/>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BF031574-54FC-487C-969C-63D33DD9319F}"/>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Survey weight</a:t>
            </a:r>
          </a:p>
        </p:txBody>
      </p:sp>
      <p:sp>
        <p:nvSpPr>
          <p:cNvPr id="17" name="">
            <a:extLst xmlns:a="http://schemas.openxmlformats.org/drawingml/2006/main">
              <a:ext uri="{FF2B5EF4-FFF2-40B4-BE49-F238E27FC236}">
                <a16:creationId xmlns:a16="http://schemas.microsoft.com/office/drawing/2014/main" id="{04F7AB94-3B75-4A53-B1DD-4F423D7AFDEE}"/>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3D7896F-04A6-4F87-96EA-BECFE2FDA3F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AD419721-804E-412C-8715-BD00037F27A0}"/>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Precision</a:t>
            </a:r>
          </a:p>
        </p:txBody>
      </p:sp>
      <p:sp>
        <p:nvSpPr>
          <p:cNvPr id="20" name="">
            <a:extLst xmlns:a="http://schemas.openxmlformats.org/drawingml/2006/main">
              <a:ext uri="{FF2B5EF4-FFF2-40B4-BE49-F238E27FC236}">
                <a16:creationId xmlns:a16="http://schemas.microsoft.com/office/drawing/2014/main" id="{0526196D-83D7-4DA2-961E-0B2515F3BFC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127560576"/>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3238B09-8EC3-488C-9A2B-AE06717A2B7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9B89BCE4-3FC2-4408-89BB-05A23A2D0E2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16302099-25B6-4DD4-8BEC-E5406CBB3DB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A25788D-7594-4EC6-812D-97BEB11D123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FE59C67A-ACA0-4829-87FC-437E9F00CE24}"/>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B6DE5450-6D78-45D0-8899-123335D455D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2C4AC4E9-E062-412D-8F40-319BCA5260C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stratified sample retains selection probabilities, weights, nonresponse adjustments, and precision.</a:t>
            </a:r>
          </a:p>
        </p:txBody>
      </p:sp>
      <p:sp>
        <p:nvSpPr>
          <p:cNvPr id="8" name="">
            <a:extLst xmlns:a="http://schemas.openxmlformats.org/drawingml/2006/main">
              <a:ext uri="{FF2B5EF4-FFF2-40B4-BE49-F238E27FC236}">
                <a16:creationId xmlns:a16="http://schemas.microsoft.com/office/drawing/2014/main" id="{F0C936EF-AB8F-4914-8AEC-01BC72B6607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10195DD-62A8-4C43-B1DE-54C8822B0182}"/>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89CCD767-CAA1-49FE-AF95-DFDAB813CEC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88E3A506-8429-4412-B983-BCB63DC378CD}"/>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87845901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1D9B21-8AB0-413F-9455-23E017FBBAB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ED32B61A-5862-49E6-92A2-EDBD7C6A343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3B46072-9CF4-4266-A737-CD5A53381DF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791CBFA-272C-4AEE-8D55-B9A2C5F65A1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64F530B-F6F7-4DDB-BD31-82F372A8F762}"/>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Draw a probability sample, calculate weights, and inspect design-based uncertainty.</a:t>
            </a:r>
          </a:p>
        </p:txBody>
      </p:sp>
      <p:sp>
        <p:nvSpPr>
          <p:cNvPr id="6" name="">
            <a:extLst xmlns:a="http://schemas.openxmlformats.org/drawingml/2006/main">
              <a:ext uri="{FF2B5EF4-FFF2-40B4-BE49-F238E27FC236}">
                <a16:creationId xmlns:a16="http://schemas.microsoft.com/office/drawing/2014/main" id="{E45E3840-85A4-4059-8BA6-91710E157EB8}"/>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894C3AC6-70AE-4DE6-B83A-68EF5EC31A4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B7B87CE-6FA2-4F29-A224-19F9B77E73E0}"/>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4BD5D34C-D011-42EA-8620-AC1AA107409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293DEE8A-626A-4722-9104-5C36CD28B4AB}"/>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00B6636A-CC51-4F19-8509-B94D115EBFF7}"/>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F3AF67E9-BE63-411A-AD34-9A95FA7BD6A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8B2A7A3-2BF6-4252-8179-C9B1B144BA7C}"/>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2FD4D2B-3EE4-4EAB-922D-7A44A59B1A7A}"/>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645EAE3-7447-4F04-9DF2-BD8BEE8F5BD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D8BA941A-8D7A-4734-B5EF-168CD48C87B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BC6DC44-1827-4679-B503-EF8260D8B141}"/>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0659963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E55091-0143-4D72-B8BA-625696EB06D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20B159CF-C55D-4FFE-B75F-87FF0969B71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B21B70FF-8308-45C1-A635-418E2346F75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2E5A9E5-16A4-4076-AAA2-4A84477EDA9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83C1DFB3-F96B-42CE-ABFA-AC40BD74DE23}"/>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D80E554-4FA3-4F4F-8082-8DDAF0AECAC2}"/>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6785CDF2-20C7-49AE-9E9B-A7496160425E}"/>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A5BC7F3-20BC-4868-8773-09EF2F716A55}"/>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AF6D855-89D0-4356-B225-D14F88A62C46}"/>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BDFAA7E3-8145-466C-B198-568187B67E3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4D807A7-8D3A-4DD5-A1BF-F3DD4AE0A48F}"/>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C2D231DF-8A1B-4A98-AD79-E148EE6CDDB9}"/>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C9F0F773-B369-4724-BF8F-6EC9BB6C7E44}"/>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254237D-B19C-45E7-B8A0-47EBE31E70A5}"/>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838577295"/>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EE47B7-44E2-4860-ADE9-CFC454168C8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V7_A_N12</a:t>
            </a:r>
          </a:p>
        </p:txBody>
      </p:sp>
      <p:sp>
        <p:nvSpPr>
          <p:cNvPr id="2" name="">
            <a:extLst xmlns:a="http://schemas.openxmlformats.org/drawingml/2006/main">
              <a:ext uri="{FF2B5EF4-FFF2-40B4-BE49-F238E27FC236}">
                <a16:creationId xmlns:a16="http://schemas.microsoft.com/office/drawing/2014/main" id="{F08D6F94-1FD3-4275-90C7-FC2427D6A5D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33050E94-5BB8-4EBD-8503-FC2ECC3F120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EFE9CFF-1656-44AF-B186-E58EAA1909C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226A5E0-BE3A-4794-8D30-6E51394E3D86}"/>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9D7B822-C3FE-4055-A42A-D30A484EABED}"/>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4B18F3C9-F690-472F-9AD2-AED16BFCE292}"/>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75541589-86E1-48EB-A469-A8C8C22E4E9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C6E2EB5-D5B3-4337-A820-D4A17E2F4CFE}"/>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7E66FB89-4EDD-4962-8BA1-37BEE5DE10D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32779923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BAEE5D5-42A0-4AB9-8FDB-073F5052831F}"/>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0851D0C-B853-4604-9CB3-A811BD3DAF00}"/>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C52D749D-E818-41C0-B830-6119662A6DC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Target population</a:t>
            </a:r>
          </a:p>
        </p:txBody>
      </p:sp>
      <p:sp>
        <p:nvSpPr>
          <p:cNvPr id="4" name="">
            <a:extLst xmlns:a="http://schemas.openxmlformats.org/drawingml/2006/main">
              <a:ext uri="{FF2B5EF4-FFF2-40B4-BE49-F238E27FC236}">
                <a16:creationId xmlns:a16="http://schemas.microsoft.com/office/drawing/2014/main" id="{3585BBA1-F42C-4932-B63D-A582607219DF}"/>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AE254F35-C990-42C2-B721-D96CDABFC52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Stratification</a:t>
            </a:r>
          </a:p>
        </p:txBody>
      </p:sp>
      <p:sp>
        <p:nvSpPr>
          <p:cNvPr id="6" name="">
            <a:extLst xmlns:a="http://schemas.openxmlformats.org/drawingml/2006/main">
              <a:ext uri="{FF2B5EF4-FFF2-40B4-BE49-F238E27FC236}">
                <a16:creationId xmlns:a16="http://schemas.microsoft.com/office/drawing/2014/main" id="{454F909A-A91E-4D64-99D4-D059F80D32D9}"/>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690B2AA8-30EB-4294-8FB7-54FD2955ECAA}"/>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Selection probability</a:t>
            </a:r>
          </a:p>
        </p:txBody>
      </p:sp>
      <p:sp>
        <p:nvSpPr>
          <p:cNvPr id="8" name="">
            <a:extLst xmlns:a="http://schemas.openxmlformats.org/drawingml/2006/main">
              <a:ext uri="{FF2B5EF4-FFF2-40B4-BE49-F238E27FC236}">
                <a16:creationId xmlns:a16="http://schemas.microsoft.com/office/drawing/2014/main" id="{9E009542-C94A-4C9C-9A02-E8B93BD49C3E}"/>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B31FAC8C-7211-4D0E-9CAF-3C96E692A8FC}"/>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Survey weight</a:t>
            </a:r>
          </a:p>
        </p:txBody>
      </p:sp>
      <p:sp>
        <p:nvSpPr>
          <p:cNvPr id="10" name="">
            <a:extLst xmlns:a="http://schemas.openxmlformats.org/drawingml/2006/main">
              <a:ext uri="{FF2B5EF4-FFF2-40B4-BE49-F238E27FC236}">
                <a16:creationId xmlns:a16="http://schemas.microsoft.com/office/drawing/2014/main" id="{E10715CF-BE34-4F82-A11D-CAFDDB4ABB7F}"/>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D8FE6114-DDF6-426A-8B78-CDCC8C912B41}"/>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Precision</a:t>
            </a:r>
          </a:p>
        </p:txBody>
      </p:sp>
      <p:sp>
        <p:nvSpPr>
          <p:cNvPr id="12" name="">
            <a:extLst xmlns:a="http://schemas.openxmlformats.org/drawingml/2006/main">
              <a:ext uri="{FF2B5EF4-FFF2-40B4-BE49-F238E27FC236}">
                <a16:creationId xmlns:a16="http://schemas.microsoft.com/office/drawing/2014/main" id="{24555322-4467-4F77-BAE4-496AC9CD95C4}"/>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689047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2026-09-04T14:43:44.9350000Z</dcterms:created>
  <dcterms:modified xsi:type="dcterms:W3CDTF">2026-09-04T14:43:44.9350000Z</dcterms:modified>
</coreProperties>
</file>