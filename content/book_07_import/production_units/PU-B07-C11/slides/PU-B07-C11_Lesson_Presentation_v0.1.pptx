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f43a23f4b384395" /><Relationship Type="http://schemas.openxmlformats.org/officeDocument/2006/relationships/extended-properties" Target="/docProps/app.xml" Id="R18f1445bf6314003" /><Relationship Type="http://schemas.openxmlformats.org/officeDocument/2006/relationships/officeDocument" Target="/ppt/presentation.xml" Id="R0d19df1c79004e90" /></Relationships>
</file>

<file path=ppt/presentation.xml><?xml version="1.0" encoding="utf-8"?>
<p:presentation xmlns:p="http://schemas.openxmlformats.org/presentationml/2006/main">
  <p:sldMasterIdLst>
    <p:sldMasterId xmlns:r="http://schemas.openxmlformats.org/officeDocument/2006/relationships" id="2147483648" r:id="R58318834d35e47aa"/>
  </p:sldMasterIdLst>
  <p:notesMasterIdLst>
    <p:notesMasterId xmlns:r="http://schemas.openxmlformats.org/officeDocument/2006/relationships" r:id="R690172d70b7c4f0f"/>
  </p:notesMasterIdLst>
  <p:sldIdLst>
    <p:sldId xmlns:r="http://schemas.openxmlformats.org/officeDocument/2006/relationships" id="256" r:id="R16492adcd58c44e8"/>
    <p:sldId xmlns:r="http://schemas.openxmlformats.org/officeDocument/2006/relationships" id="257" r:id="R0c76cf18eb674e2a"/>
    <p:sldId xmlns:r="http://schemas.openxmlformats.org/officeDocument/2006/relationships" id="258" r:id="R88e358ab72c04cd2"/>
    <p:sldId xmlns:r="http://schemas.openxmlformats.org/officeDocument/2006/relationships" id="259" r:id="Rf67a4902dc534abe"/>
    <p:sldId xmlns:r="http://schemas.openxmlformats.org/officeDocument/2006/relationships" id="260" r:id="Rb3c700c9ddaf45e2"/>
    <p:sldId xmlns:r="http://schemas.openxmlformats.org/officeDocument/2006/relationships" id="261" r:id="Raf0775f69d034af0"/>
    <p:sldId xmlns:r="http://schemas.openxmlformats.org/officeDocument/2006/relationships" id="262" r:id="Rec4451050d41407f"/>
    <p:sldId xmlns:r="http://schemas.openxmlformats.org/officeDocument/2006/relationships" id="263" r:id="Rec88f5346f0249a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f2b014346a84362" /><Relationship Type="http://schemas.openxmlformats.org/officeDocument/2006/relationships/slideMaster" Target="/ppt/slideMasters/slideMaster1.xml" Id="R58318834d35e47aa" /><Relationship Type="http://schemas.openxmlformats.org/officeDocument/2006/relationships/notesMaster" Target="/ppt/notesMasters/notesMaster1.xml" Id="R690172d70b7c4f0f" /><Relationship Type="http://schemas.openxmlformats.org/officeDocument/2006/relationships/presProps" Target="/ppt/presProps.xml" Id="R201f5acd4afc422d" /><Relationship Type="http://schemas.openxmlformats.org/officeDocument/2006/relationships/tableStyles" Target="/ppt/tableStyles.xml" Id="Rf6a75a1141b946a0" /><Relationship Type="http://schemas.openxmlformats.org/officeDocument/2006/relationships/slide" Target="/ppt/slides/slide1.xml" Id="R16492adcd58c44e8" /><Relationship Type="http://schemas.openxmlformats.org/officeDocument/2006/relationships/slide" Target="/ppt/slides/slide2.xml" Id="R0c76cf18eb674e2a" /><Relationship Type="http://schemas.openxmlformats.org/officeDocument/2006/relationships/slide" Target="/ppt/slides/slide3.xml" Id="R88e358ab72c04cd2" /><Relationship Type="http://schemas.openxmlformats.org/officeDocument/2006/relationships/slide" Target="/ppt/slides/slide4.xml" Id="Rf67a4902dc534abe" /><Relationship Type="http://schemas.openxmlformats.org/officeDocument/2006/relationships/slide" Target="/ppt/slides/slide5.xml" Id="Rb3c700c9ddaf45e2" /><Relationship Type="http://schemas.openxmlformats.org/officeDocument/2006/relationships/slide" Target="/ppt/slides/slide6.xml" Id="Raf0775f69d034af0" /><Relationship Type="http://schemas.openxmlformats.org/officeDocument/2006/relationships/slide" Target="/ppt/slides/slide7.xml" Id="Rec4451050d41407f" /><Relationship Type="http://schemas.openxmlformats.org/officeDocument/2006/relationships/slide" Target="/ppt/slides/slide8.xml" Id="Rec88f5346f0249a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d7e4857228e440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b734e9f0e224a0b" /><Relationship Type="http://schemas.openxmlformats.org/officeDocument/2006/relationships/notesMaster" Target="/ppt/notesMasters/notesMaster1.xml" Id="R79207f4ac5584230" /></Relationships>
</file>

<file path=ppt/notesSlides/_rels/notesSlide2.xml.rels>&#65279;<?xml version="1.0" encoding="utf-8"?><Relationships xmlns="http://schemas.openxmlformats.org/package/2006/relationships"><Relationship Type="http://schemas.openxmlformats.org/officeDocument/2006/relationships/slide" Target="/ppt/slides/slide2.xml" Id="R8162eb31bbc3415b" /><Relationship Type="http://schemas.openxmlformats.org/officeDocument/2006/relationships/notesMaster" Target="/ppt/notesMasters/notesMaster1.xml" Id="R68951db2382d43ea" /></Relationships>
</file>

<file path=ppt/notesSlides/_rels/notesSlide3.xml.rels>&#65279;<?xml version="1.0" encoding="utf-8"?><Relationships xmlns="http://schemas.openxmlformats.org/package/2006/relationships"><Relationship Type="http://schemas.openxmlformats.org/officeDocument/2006/relationships/slide" Target="/ppt/slides/slide3.xml" Id="R3cd80f8065354d96" /><Relationship Type="http://schemas.openxmlformats.org/officeDocument/2006/relationships/notesMaster" Target="/ppt/notesMasters/notesMaster1.xml" Id="R8ed66dfc08c9472c" /></Relationships>
</file>

<file path=ppt/notesSlides/_rels/notesSlide4.xml.rels>&#65279;<?xml version="1.0" encoding="utf-8"?><Relationships xmlns="http://schemas.openxmlformats.org/package/2006/relationships"><Relationship Type="http://schemas.openxmlformats.org/officeDocument/2006/relationships/slide" Target="/ppt/slides/slide4.xml" Id="R81439bbb78454d15" /><Relationship Type="http://schemas.openxmlformats.org/officeDocument/2006/relationships/notesMaster" Target="/ppt/notesMasters/notesMaster1.xml" Id="Ra5baae474e584154" /></Relationships>
</file>

<file path=ppt/notesSlides/_rels/notesSlide5.xml.rels>&#65279;<?xml version="1.0" encoding="utf-8"?><Relationships xmlns="http://schemas.openxmlformats.org/package/2006/relationships"><Relationship Type="http://schemas.openxmlformats.org/officeDocument/2006/relationships/slide" Target="/ppt/slides/slide5.xml" Id="R4686c5b11c2b4326" /><Relationship Type="http://schemas.openxmlformats.org/officeDocument/2006/relationships/notesMaster" Target="/ppt/notesMasters/notesMaster1.xml" Id="R8d64ae66ff7e4e55" /></Relationships>
</file>

<file path=ppt/notesSlides/_rels/notesSlide6.xml.rels>&#65279;<?xml version="1.0" encoding="utf-8"?><Relationships xmlns="http://schemas.openxmlformats.org/package/2006/relationships"><Relationship Type="http://schemas.openxmlformats.org/officeDocument/2006/relationships/slide" Target="/ppt/slides/slide6.xml" Id="R1269c51c9e2e4a36" /><Relationship Type="http://schemas.openxmlformats.org/officeDocument/2006/relationships/notesMaster" Target="/ppt/notesMasters/notesMaster1.xml" Id="R0a69a6a8a2664bb4" /></Relationships>
</file>

<file path=ppt/notesSlides/_rels/notesSlide7.xml.rels>&#65279;<?xml version="1.0" encoding="utf-8"?><Relationships xmlns="http://schemas.openxmlformats.org/package/2006/relationships"><Relationship Type="http://schemas.openxmlformats.org/officeDocument/2006/relationships/slide" Target="/ppt/slides/slide7.xml" Id="R64aa80e52dd84ab5" /><Relationship Type="http://schemas.openxmlformats.org/officeDocument/2006/relationships/notesMaster" Target="/ppt/notesMasters/notesMaster1.xml" Id="Ra72944b897f64281" /></Relationships>
</file>

<file path=ppt/notesSlides/_rels/notesSlide8.xml.rels>&#65279;<?xml version="1.0" encoding="utf-8"?><Relationships xmlns="http://schemas.openxmlformats.org/package/2006/relationships"><Relationship Type="http://schemas.openxmlformats.org/officeDocument/2006/relationships/slide" Target="/ppt/slides/slide8.xml" Id="R2880ab336be149c4" /><Relationship Type="http://schemas.openxmlformats.org/officeDocument/2006/relationships/notesMaster" Target="/ppt/notesMasters/notesMaster1.xml" Id="R0397d8de30b3442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to Seasonal Crop Production Forecasting. This lesson begins with one principle: forecast the season with baselines, validation, and visible uncertainty. We will connect that principle to an accountable agricultural decision and make it testable in the companion notebook.</a:t>
            </a:r>
          </a:p>
          <a:p xmlns:a="http://schemas.openxmlformats.org/drawingml/2006/main">
            <a:r>
              <a:t/>
            </a:r>
          </a:p>
          <a:p xmlns:a="http://schemas.openxmlformats.org/drawingml/2006/main">
            <a:r>
              <a:t>[Sources]</a:t>
            </a:r>
          </a:p>
          <a:p xmlns:a="http://schemas.openxmlformats.org/drawingml/2006/main">
            <a:r>
              <a:t>- Canonical notebook V7_A_N06,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central idea is simple. Forecast the season with baselines, validation, and visible uncertainty. The five controls shown here are Seasonal baseline, Time holdout, Interval coverage, Revision rule, Abstention gate. Together, they prevent an agricultural signal from being mistaken for an authorized decision.</a:t>
            </a:r>
          </a:p>
          <a:p xmlns:a="http://schemas.openxmlformats.org/drawingml/2006/main">
            <a:r>
              <a:t/>
            </a:r>
          </a:p>
          <a:p xmlns:a="http://schemas.openxmlformats.org/drawingml/2006/main">
            <a:r>
              <a:t>[Sources]</a:t>
            </a:r>
          </a:p>
          <a:p xmlns:a="http://schemas.openxmlformats.org/drawingml/2006/main">
            <a:r>
              <a:t>- Canonical notebook V7_A_N06,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five controls form one operating chain. We begin with seasonal baseline, move through time holdout and interval coverage, and finish with revision rule and abstention gate. Every control must be explicit, reviewable, and owned.</a:t>
            </a:r>
          </a:p>
          <a:p xmlns:a="http://schemas.openxmlformats.org/drawingml/2006/main">
            <a:r>
              <a:t/>
            </a:r>
          </a:p>
          <a:p xmlns:a="http://schemas.openxmlformats.org/drawingml/2006/main">
            <a:r>
              <a:t>[Sources]</a:t>
            </a:r>
          </a:p>
          <a:p xmlns:a="http://schemas.openxmlformats.org/drawingml/2006/main">
            <a:r>
              <a:t>- Canonical notebook V7_A_N06,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Consider this agricultural example. A production forecast is withheld when input quality or interval coverage fails. The platform may organize evidence, flag uncertainty, and route a case for authorized review. It may not take the consequential action on its own.</a:t>
            </a:r>
          </a:p>
          <a:p xmlns:a="http://schemas.openxmlformats.org/drawingml/2006/main">
            <a:r>
              <a:t/>
            </a:r>
          </a:p>
          <a:p xmlns:a="http://schemas.openxmlformats.org/drawingml/2006/main">
            <a:r>
              <a:t>[Sources]</a:t>
            </a:r>
          </a:p>
          <a:p xmlns:a="http://schemas.openxmlformats.org/drawingml/2006/main">
            <a:r>
              <a:t>- Canonical notebook V7_A_N06,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notebook converts the lesson into executable evidence. Compare seasonal forecasts with transparent baselines and test uncertainty gates. As you review the saved outputs, focus on what the evidence supports, what remains uncertain, and the condition that requires abstention or escalation.</a:t>
            </a:r>
          </a:p>
          <a:p xmlns:a="http://schemas.openxmlformats.org/drawingml/2006/main">
            <a:r>
              <a:t/>
            </a:r>
          </a:p>
          <a:p xmlns:a="http://schemas.openxmlformats.org/drawingml/2006/main">
            <a:r>
              <a:t>[Sources]</a:t>
            </a:r>
          </a:p>
          <a:p xmlns:a="http://schemas.openxmlformats.org/drawingml/2006/main">
            <a:r>
              <a:t>- Canonical notebook V7_A_N06,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transfer the contract to a new agricultural case. Name the decision owner and lawful action. Define the evidence, horizon, and failure conditions. Then state when the system must abstain, escalate, be monitored, or be retired. A strong answer keeps human authority visible.</a:t>
            </a:r>
          </a:p>
          <a:p xmlns:a="http://schemas.openxmlformats.org/drawingml/2006/main">
            <a:r>
              <a:t/>
            </a:r>
          </a:p>
          <a:p xmlns:a="http://schemas.openxmlformats.org/drawingml/2006/main">
            <a:r>
              <a:t>[Sources]</a:t>
            </a:r>
          </a:p>
          <a:p xmlns:a="http://schemas.openxmlformats.org/drawingml/2006/main">
            <a:r>
              <a:t>- Canonical notebook V7_A_N06,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guardrails are functional requirements. Evidence provenance must be preserved. Uncertainty must be visible. Human review, override, incident response, and retirement must be defined. Silent delegation, automatic consequential action, and false precision are not acceptable.</a:t>
            </a:r>
          </a:p>
          <a:p xmlns:a="http://schemas.openxmlformats.org/drawingml/2006/main">
            <a:r>
              <a:t/>
            </a:r>
          </a:p>
          <a:p xmlns:a="http://schemas.openxmlformats.org/drawingml/2006/main">
            <a:r>
              <a:t>[Sources]</a:t>
            </a:r>
          </a:p>
          <a:p xmlns:a="http://schemas.openxmlformats.org/drawingml/2006/main">
            <a:r>
              <a:t>- Canonical notebook V7_A_N06,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deployment, ask five questions. Is seasonal baseline clear? Is time holdout documented? Is interval coverage testable? Is revision rule governed? And is abstention gate explicit? If one critical answer is missing, pause and refer the system for review.</a:t>
            </a:r>
          </a:p>
          <a:p xmlns:a="http://schemas.openxmlformats.org/drawingml/2006/main">
            <a:r>
              <a:t/>
            </a:r>
          </a:p>
          <a:p xmlns:a="http://schemas.openxmlformats.org/drawingml/2006/main">
            <a:r>
              <a:t>[Sources]</a:t>
            </a:r>
          </a:p>
          <a:p xmlns:a="http://schemas.openxmlformats.org/drawingml/2006/main">
            <a:r>
              <a:t>- Canonical notebook V7_A_N06,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e703e4f51f04bd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8638f06926b4294" /><Relationship Type="http://schemas.openxmlformats.org/officeDocument/2006/relationships/slideLayout" Target="/ppt/slideLayouts/slideLayout1.xml" Id="R85225868509143f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5225868509143f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51d9bd1601445ec" /><Relationship Type="http://schemas.openxmlformats.org/officeDocument/2006/relationships/notesSlide" Target="/ppt/notesSlides/notesSlide1.xml" Id="R407cc4f0998240f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2717d5af7244ccc" /><Relationship Type="http://schemas.openxmlformats.org/officeDocument/2006/relationships/notesSlide" Target="/ppt/notesSlides/notesSlide2.xml" Id="R318ba0081db649d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9fa386b4f7d4fc1" /><Relationship Type="http://schemas.openxmlformats.org/officeDocument/2006/relationships/notesSlide" Target="/ppt/notesSlides/notesSlide3.xml" Id="R4c3ab7bff2c4465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bc6cac27a994b04" /><Relationship Type="http://schemas.openxmlformats.org/officeDocument/2006/relationships/notesSlide" Target="/ppt/notesSlides/notesSlide4.xml" Id="R7edafeffc4df499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f6fcb5d5e514280" /><Relationship Type="http://schemas.openxmlformats.org/officeDocument/2006/relationships/notesSlide" Target="/ppt/notesSlides/notesSlide5.xml" Id="R051930ea63e547e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45c4dd14b104ed5" /><Relationship Type="http://schemas.openxmlformats.org/officeDocument/2006/relationships/notesSlide" Target="/ppt/notesSlides/notesSlide6.xml" Id="R5a283dae4f624ae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2cb2048f2de4521" /><Relationship Type="http://schemas.openxmlformats.org/officeDocument/2006/relationships/notesSlide" Target="/ppt/notesSlides/notesSlide7.xml" Id="Ra716219968f84d6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f317026bb184a09" /><Relationship Type="http://schemas.openxmlformats.org/officeDocument/2006/relationships/notesSlide" Target="/ppt/notesSlides/notesSlide8.xml" Id="R298c0efcdcce40d6" /></Relationships>
</file>

<file path=ppt/slides/slide1.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30DBF0F-6E82-4BD9-9D73-8150257BABBE}"/>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DCA24A"/>
          </a:solidFill>
          <a:ln xmlns:a="http://schemas.openxmlformats.org/drawingml/2006/main" w="9525">
            <a:solidFill>
              <a:srgbClr val="DCA24A"/>
            </a:solidFill>
            <a:prstDash val="solid"/>
          </a:ln>
        </p:spPr>
      </p:sp>
      <p:sp>
        <p:nvSpPr>
          <p:cNvPr id="2" name="">
            <a:extLst xmlns:a="http://schemas.openxmlformats.org/drawingml/2006/main">
              <a:ext uri="{FF2B5EF4-FFF2-40B4-BE49-F238E27FC236}">
                <a16:creationId xmlns:a16="http://schemas.microsoft.com/office/drawing/2014/main" id="{44F768E4-7314-41E4-8176-3A23D5054D8A}"/>
              </a:ext>
            </a:extLst>
          </p:cNvPr>
          <p:cNvSpPr>
            <a:spLocks xmlns:a="http://schemas.openxmlformats.org/drawingml/2006/main" noGrp="1"/>
          </p:cNvSpPr>
          <p:nvPr/>
        </p:nvSpPr>
        <p:spPr>
          <a:xfrm xmlns:a="http://schemas.openxmlformats.org/drawingml/2006/main">
            <a:off x="8286750" y="0"/>
            <a:ext cx="3905250" cy="6858000"/>
          </a:xfrm>
          <a:prstGeom xmlns:a="http://schemas.openxmlformats.org/drawingml/2006/main" prst="rect">
            <a:avLst/>
          </a:prstGeom>
          <a:solidFill xmlns:a="http://schemas.openxmlformats.org/drawingml/2006/main">
            <a:srgbClr val="0B2E45"/>
          </a:solidFill>
          <a:ln xmlns:a="http://schemas.openxmlformats.org/drawingml/2006/main" w="9525">
            <a:solidFill>
              <a:srgbClr val="0B2E45"/>
            </a:solidFill>
            <a:prstDash val="solid"/>
          </a:ln>
        </p:spPr>
      </p:sp>
      <p:sp>
        <p:nvSpPr>
          <p:cNvPr id="3" name="">
            <a:extLst xmlns:a="http://schemas.openxmlformats.org/drawingml/2006/main">
              <a:ext uri="{FF2B5EF4-FFF2-40B4-BE49-F238E27FC236}">
                <a16:creationId xmlns:a16="http://schemas.microsoft.com/office/drawing/2014/main" id="{44726159-38CA-453A-8311-AE2527B57895}"/>
              </a:ext>
            </a:extLst>
          </p:cNvPr>
          <p:cNvSpPr>
            <a:spLocks xmlns:a="http://schemas.openxmlformats.org/drawingml/2006/main" noGrp="1"/>
          </p:cNvSpPr>
          <p:nvPr/>
        </p:nvSpPr>
        <p:spPr>
          <a:xfrm xmlns:a="http://schemas.openxmlformats.org/drawingml/2006/main">
            <a:off x="552450" y="38100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2AA79B"/>
                </a:solidFill>
              </a:defRPr>
            </a:pPr>
            <a:r>
              <a:rPr sz="1275" b="1">
                <a:solidFill>
                  <a:srgbClr val="2AA79B"/>
                </a:solidFill>
              </a:rPr>
              <a:t>SRAI</a:t>
            </a:r>
          </a:p>
        </p:txBody>
      </p:sp>
      <p:sp>
        <p:nvSpPr>
          <p:cNvPr id="4" name="">
            <a:extLst xmlns:a="http://schemas.openxmlformats.org/drawingml/2006/main">
              <a:ext uri="{FF2B5EF4-FFF2-40B4-BE49-F238E27FC236}">
                <a16:creationId xmlns:a16="http://schemas.microsoft.com/office/drawing/2014/main" id="{3ADEC07C-0777-4909-94FF-C335DD1933DB}"/>
              </a:ext>
            </a:extLst>
          </p:cNvPr>
          <p:cNvSpPr>
            <a:spLocks xmlns:a="http://schemas.openxmlformats.org/drawingml/2006/main" noGrp="1"/>
          </p:cNvSpPr>
          <p:nvPr/>
        </p:nvSpPr>
        <p:spPr>
          <a:xfrm xmlns:a="http://schemas.openxmlformats.org/drawingml/2006/main">
            <a:off x="552450" y="990600"/>
            <a:ext cx="381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DCA24A"/>
                </a:solidFill>
              </a:defRPr>
            </a:pPr>
            <a:r>
              <a:rPr sz="1200" b="1">
                <a:solidFill>
                  <a:srgbClr val="DCA24A"/>
                </a:solidFill>
              </a:rPr>
              <a:t>AGRICULTURE TRACK</a:t>
            </a:r>
          </a:p>
        </p:txBody>
      </p:sp>
      <p:sp>
        <p:nvSpPr>
          <p:cNvPr id="5" name="">
            <a:extLst xmlns:a="http://schemas.openxmlformats.org/drawingml/2006/main">
              <a:ext uri="{FF2B5EF4-FFF2-40B4-BE49-F238E27FC236}">
                <a16:creationId xmlns:a16="http://schemas.microsoft.com/office/drawing/2014/main" id="{1BCEAB13-4F9A-4186-AA90-E1C85BD88276}"/>
              </a:ext>
            </a:extLst>
          </p:cNvPr>
          <p:cNvSpPr>
            <a:spLocks xmlns:a="http://schemas.openxmlformats.org/drawingml/2006/main" noGrp="1"/>
          </p:cNvSpPr>
          <p:nvPr/>
        </p:nvSpPr>
        <p:spPr>
          <a:xfrm xmlns:a="http://schemas.openxmlformats.org/drawingml/2006/main">
            <a:off x="552450" y="1581150"/>
            <a:ext cx="69532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750" b="0">
                <a:solidFill>
                  <a:srgbClr val="F7F4EC"/>
                </a:solidFill>
              </a:defRPr>
            </a:pPr>
            <a:r>
              <a:rPr sz="3750" b="0">
                <a:solidFill>
                  <a:srgbClr val="F7F4EC"/>
                </a:solidFill>
              </a:rPr>
              <a:t>SEASONAL CROP PRODUCTION FORECASTING</a:t>
            </a:r>
          </a:p>
        </p:txBody>
      </p:sp>
      <p:sp>
        <p:nvSpPr>
          <p:cNvPr id="6" name="">
            <a:extLst xmlns:a="http://schemas.openxmlformats.org/drawingml/2006/main">
              <a:ext uri="{FF2B5EF4-FFF2-40B4-BE49-F238E27FC236}">
                <a16:creationId xmlns:a16="http://schemas.microsoft.com/office/drawing/2014/main" id="{439F2725-65A3-483C-AA31-C68ADBD2E507}"/>
              </a:ext>
            </a:extLst>
          </p:cNvPr>
          <p:cNvSpPr>
            <a:spLocks xmlns:a="http://schemas.openxmlformats.org/drawingml/2006/main" noGrp="1"/>
          </p:cNvSpPr>
          <p:nvPr/>
        </p:nvSpPr>
        <p:spPr>
          <a:xfrm xmlns:a="http://schemas.openxmlformats.org/drawingml/2006/main">
            <a:off x="552450" y="3714750"/>
            <a:ext cx="685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B8CBC8"/>
                </a:solidFill>
              </a:defRPr>
            </a:pPr>
            <a:r>
              <a:rPr sz="1650" b="0">
                <a:solidFill>
                  <a:srgbClr val="B8CBC8"/>
                </a:solidFill>
              </a:rPr>
              <a:t>Forecast the season with baselines, validation, and visible uncertainty.</a:t>
            </a:r>
          </a:p>
        </p:txBody>
      </p:sp>
      <p:sp>
        <p:nvSpPr>
          <p:cNvPr id="7" name="">
            <a:extLst xmlns:a="http://schemas.openxmlformats.org/drawingml/2006/main">
              <a:ext uri="{FF2B5EF4-FFF2-40B4-BE49-F238E27FC236}">
                <a16:creationId xmlns:a16="http://schemas.microsoft.com/office/drawing/2014/main" id="{C55768D8-84E3-4119-B3F3-4EC9D09E5331}"/>
              </a:ext>
            </a:extLst>
          </p:cNvPr>
          <p:cNvSpPr>
            <a:spLocks xmlns:a="http://schemas.openxmlformats.org/drawingml/2006/main" noGrp="1"/>
          </p:cNvSpPr>
          <p:nvPr/>
        </p:nvSpPr>
        <p:spPr>
          <a:xfrm xmlns:a="http://schemas.openxmlformats.org/drawingml/2006/main">
            <a:off x="8858250" y="1809750"/>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DCA24A"/>
                </a:solidFill>
              </a:defRPr>
            </a:pPr>
            <a:r>
              <a:rPr sz="1650" b="1">
                <a:solidFill>
                  <a:srgbClr val="DCA24A"/>
                </a:solidFill>
              </a:rPr>
              <a:t>V7_A_N06</a:t>
            </a:r>
          </a:p>
        </p:txBody>
      </p:sp>
      <p:sp>
        <p:nvSpPr>
          <p:cNvPr id="8" name="">
            <a:extLst xmlns:a="http://schemas.openxmlformats.org/drawingml/2006/main">
              <a:ext uri="{FF2B5EF4-FFF2-40B4-BE49-F238E27FC236}">
                <a16:creationId xmlns:a16="http://schemas.microsoft.com/office/drawing/2014/main" id="{705D27C4-8D0A-49A9-8396-B88715326E77}"/>
              </a:ext>
            </a:extLst>
          </p:cNvPr>
          <p:cNvSpPr>
            <a:spLocks xmlns:a="http://schemas.openxmlformats.org/drawingml/2006/main" noGrp="1"/>
          </p:cNvSpPr>
          <p:nvPr/>
        </p:nvSpPr>
        <p:spPr>
          <a:xfrm xmlns:a="http://schemas.openxmlformats.org/drawingml/2006/main">
            <a:off x="8858250" y="2381250"/>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F7F4EC"/>
                </a:solidFill>
              </a:defRPr>
            </a:pPr>
            <a:r>
              <a:rPr sz="1200" b="1">
                <a:solidFill>
                  <a:srgbClr val="F7F4EC"/>
                </a:solidFill>
              </a:rPr>
              <a:t>PU-B07-C11</a:t>
            </a:r>
          </a:p>
        </p:txBody>
      </p:sp>
      <p:sp>
        <p:nvSpPr>
          <p:cNvPr id="9" name="">
            <a:extLst xmlns:a="http://schemas.openxmlformats.org/drawingml/2006/main">
              <a:ext uri="{FF2B5EF4-FFF2-40B4-BE49-F238E27FC236}">
                <a16:creationId xmlns:a16="http://schemas.microsoft.com/office/drawing/2014/main" id="{EBA376E9-DECF-411B-9681-DF18E3F98BD4}"/>
              </a:ext>
            </a:extLst>
          </p:cNvPr>
          <p:cNvSpPr>
            <a:spLocks xmlns:a="http://schemas.openxmlformats.org/drawingml/2006/main" noGrp="1"/>
          </p:cNvSpPr>
          <p:nvPr/>
        </p:nvSpPr>
        <p:spPr>
          <a:xfrm xmlns:a="http://schemas.openxmlformats.org/drawingml/2006/main">
            <a:off x="8858250" y="3219450"/>
            <a:ext cx="1714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B8CBC8"/>
                </a:solidFill>
              </a:defRPr>
            </a:pPr>
            <a:r>
              <a:rPr sz="1500" b="1">
                <a:solidFill>
                  <a:srgbClr val="B8CBC8"/>
                </a:solidFill>
              </a:rPr>
              <a:t>Decision-centred</a:t>
            </a:r>
          </a:p>
          <a:p xmlns:a="http://schemas.openxmlformats.org/drawingml/2006/main">
            <a:pPr algn="ctr">
              <a:defRPr sz="1500" b="1">
                <a:solidFill>
                  <a:srgbClr val="B8CBC8"/>
                </a:solidFill>
              </a:defRPr>
            </a:pPr>
            <a:r>
              <a:rPr sz="1500" b="1">
                <a:solidFill>
                  <a:srgbClr val="B8CBC8"/>
                </a:solidFill>
              </a:rPr>
              <a:t>learning asset</a:t>
            </a:r>
          </a:p>
        </p:txBody>
      </p:sp>
      <p:sp>
        <p:nvSpPr>
          <p:cNvPr id="10" name="">
            <a:extLst xmlns:a="http://schemas.openxmlformats.org/drawingml/2006/main">
              <a:ext uri="{FF2B5EF4-FFF2-40B4-BE49-F238E27FC236}">
                <a16:creationId xmlns:a16="http://schemas.microsoft.com/office/drawing/2014/main" id="{490670DC-9889-4FFC-B6AF-5A218FD970E2}"/>
              </a:ext>
            </a:extLst>
          </p:cNvPr>
          <p:cNvSpPr>
            <a:spLocks xmlns:a="http://schemas.openxmlformats.org/drawingml/2006/main" noGrp="1"/>
          </p:cNvSpPr>
          <p:nvPr/>
        </p:nvSpPr>
        <p:spPr>
          <a:xfrm xmlns:a="http://schemas.openxmlformats.org/drawingml/2006/main">
            <a:off x="552450" y="6000750"/>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B8CBC8"/>
                </a:solidFill>
              </a:defRPr>
            </a:pPr>
            <a:r>
              <a:rPr sz="1050" b="0">
                <a:solidFill>
                  <a:srgbClr val="B8CBC8"/>
                </a:solidFill>
              </a:rPr>
              <a:t>Canonical Controlled Edition v1.0</a:t>
            </a:r>
          </a:p>
        </p:txBody>
      </p:sp>
    </p:spTree>
    <p:extLst>
      <p:ext uri="{BB962C8B-B14F-4D97-AF65-F5344CB8AC3E}">
        <p14:creationId xmlns:p14="http://schemas.microsoft.com/office/powerpoint/2010/main" val="2055383847"/>
      </p:ext>
    </p:extLst>
  </p:cSld>
</p:sld>
</file>

<file path=ppt/slides/slide2.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A16A4EF4-9931-4A37-9126-55090A2B0BF5}"/>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V7_A_N06</a:t>
            </a:r>
          </a:p>
        </p:txBody>
      </p:sp>
      <p:sp>
        <p:nvSpPr>
          <p:cNvPr id="2" name="">
            <a:extLst xmlns:a="http://schemas.openxmlformats.org/drawingml/2006/main">
              <a:ext uri="{FF2B5EF4-FFF2-40B4-BE49-F238E27FC236}">
                <a16:creationId xmlns:a16="http://schemas.microsoft.com/office/drawing/2014/main" id="{C25BA664-2C92-4662-A9AB-CBBF1CFA425C}"/>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02</a:t>
            </a:r>
          </a:p>
        </p:txBody>
      </p:sp>
      <p:sp>
        <p:nvSpPr>
          <p:cNvPr id="3" name="">
            <a:extLst xmlns:a="http://schemas.openxmlformats.org/drawingml/2006/main">
              <a:ext uri="{FF2B5EF4-FFF2-40B4-BE49-F238E27FC236}">
                <a16:creationId xmlns:a16="http://schemas.microsoft.com/office/drawing/2014/main" id="{CD661605-1709-40D4-BAD2-448DA9A399D4}"/>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E8DC42A9-A263-4C01-AAEA-7A9F07A55C1E}"/>
              </a:ext>
            </a:extLst>
          </p:cNvPr>
          <p:cNvSpPr>
            <a:spLocks xmlns:a="http://schemas.openxmlformats.org/drawingml/2006/main" noGrp="1"/>
          </p:cNvSpPr>
          <p:nvPr/>
        </p:nvSpPr>
        <p:spPr>
          <a:xfrm xmlns:a="http://schemas.openxmlformats.org/drawingml/2006/main">
            <a:off x="552450" y="895350"/>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The analytical workflow starts with a contract</a:t>
            </a:r>
          </a:p>
        </p:txBody>
      </p:sp>
      <p:sp>
        <p:nvSpPr>
          <p:cNvPr id="5" name="">
            <a:extLst xmlns:a="http://schemas.openxmlformats.org/drawingml/2006/main">
              <a:ext uri="{FF2B5EF4-FFF2-40B4-BE49-F238E27FC236}">
                <a16:creationId xmlns:a16="http://schemas.microsoft.com/office/drawing/2014/main" id="{2E1BB0AD-C147-4F58-96F1-201CE0EC8211}"/>
              </a:ext>
            </a:extLst>
          </p:cNvPr>
          <p:cNvSpPr>
            <a:spLocks xmlns:a="http://schemas.openxmlformats.org/drawingml/2006/main" noGrp="1"/>
          </p:cNvSpPr>
          <p:nvPr/>
        </p:nvSpPr>
        <p:spPr>
          <a:xfrm xmlns:a="http://schemas.openxmlformats.org/drawingml/2006/main">
            <a:off x="552450" y="1790700"/>
            <a:ext cx="5334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a:solidFill>
                  <a:srgbClr val="102A3A"/>
                </a:solidFill>
              </a:defRPr>
            </a:pPr>
            <a:r>
              <a:rPr sz="2250" b="1">
                <a:solidFill>
                  <a:srgbClr val="102A3A"/>
                </a:solidFill>
              </a:rPr>
              <a:t>Forecast the season with baselines, validation, and visible uncertainty.</a:t>
            </a:r>
          </a:p>
        </p:txBody>
      </p:sp>
      <p:sp>
        <p:nvSpPr>
          <p:cNvPr id="6" name="">
            <a:extLst xmlns:a="http://schemas.openxmlformats.org/drawingml/2006/main">
              <a:ext uri="{FF2B5EF4-FFF2-40B4-BE49-F238E27FC236}">
                <a16:creationId xmlns:a16="http://schemas.microsoft.com/office/drawing/2014/main" id="{763B912A-B443-4BEF-987B-3AC70E42E7EC}"/>
              </a:ext>
            </a:extLst>
          </p:cNvPr>
          <p:cNvSpPr>
            <a:spLocks xmlns:a="http://schemas.openxmlformats.org/drawingml/2006/main" noGrp="1"/>
          </p:cNvSpPr>
          <p:nvPr/>
        </p:nvSpPr>
        <p:spPr>
          <a:xfrm xmlns:a="http://schemas.openxmlformats.org/drawingml/2006/main">
            <a:off x="6858000" y="1638300"/>
            <a:ext cx="4191000" cy="3143250"/>
          </a:xfrm>
          <a:prstGeom xmlns:a="http://schemas.openxmlformats.org/drawingml/2006/main" prst="rect">
            <a:avLst/>
          </a:prstGeom>
          <a:solidFill xmlns:a="http://schemas.openxmlformats.org/drawingml/2006/main">
            <a:srgbClr val="D9E9E5"/>
          </a:solidFill>
          <a:ln xmlns:a="http://schemas.openxmlformats.org/drawingml/2006/main" w="9525">
            <a:solidFill>
              <a:srgbClr val="D4DEE9"/>
            </a:solidFill>
            <a:prstDash val="solid"/>
          </a:ln>
        </p:spPr>
      </p:sp>
      <p:sp>
        <p:nvSpPr>
          <p:cNvPr id="7" name="">
            <a:extLst xmlns:a="http://schemas.openxmlformats.org/drawingml/2006/main">
              <a:ext uri="{FF2B5EF4-FFF2-40B4-BE49-F238E27FC236}">
                <a16:creationId xmlns:a16="http://schemas.microsoft.com/office/drawing/2014/main" id="{60479A1F-EFC7-418C-B5A3-05A32E7AD8B0}"/>
              </a:ext>
            </a:extLst>
          </p:cNvPr>
          <p:cNvSpPr>
            <a:spLocks xmlns:a="http://schemas.openxmlformats.org/drawingml/2006/main" noGrp="1"/>
          </p:cNvSpPr>
          <p:nvPr/>
        </p:nvSpPr>
        <p:spPr>
          <a:xfrm xmlns:a="http://schemas.openxmlformats.org/drawingml/2006/main">
            <a:off x="7162800" y="192405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01</a:t>
            </a:r>
          </a:p>
        </p:txBody>
      </p:sp>
      <p:sp>
        <p:nvSpPr>
          <p:cNvPr id="8" name="">
            <a:extLst xmlns:a="http://schemas.openxmlformats.org/drawingml/2006/main">
              <a:ext uri="{FF2B5EF4-FFF2-40B4-BE49-F238E27FC236}">
                <a16:creationId xmlns:a16="http://schemas.microsoft.com/office/drawing/2014/main" id="{CEB7A9A1-5C16-40AA-BC3F-D8FE7E5C9730}"/>
              </a:ext>
            </a:extLst>
          </p:cNvPr>
          <p:cNvSpPr>
            <a:spLocks xmlns:a="http://schemas.openxmlformats.org/drawingml/2006/main" noGrp="1"/>
          </p:cNvSpPr>
          <p:nvPr/>
        </p:nvSpPr>
        <p:spPr>
          <a:xfrm xmlns:a="http://schemas.openxmlformats.org/drawingml/2006/main">
            <a:off x="7734300" y="189547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102A3A"/>
                </a:solidFill>
              </a:defRPr>
            </a:pPr>
            <a:r>
              <a:rPr sz="1650" b="1">
                <a:solidFill>
                  <a:srgbClr val="102A3A"/>
                </a:solidFill>
              </a:rPr>
              <a:t>Seasonal baseline</a:t>
            </a:r>
          </a:p>
        </p:txBody>
      </p:sp>
      <p:sp>
        <p:nvSpPr>
          <p:cNvPr id="9" name="">
            <a:extLst xmlns:a="http://schemas.openxmlformats.org/drawingml/2006/main">
              <a:ext uri="{FF2B5EF4-FFF2-40B4-BE49-F238E27FC236}">
                <a16:creationId xmlns:a16="http://schemas.microsoft.com/office/drawing/2014/main" id="{564B16B8-D2A2-45EC-B3A6-A9A50062DDCE}"/>
              </a:ext>
            </a:extLst>
          </p:cNvPr>
          <p:cNvSpPr>
            <a:spLocks xmlns:a="http://schemas.openxmlformats.org/drawingml/2006/main" noGrp="1"/>
          </p:cNvSpPr>
          <p:nvPr/>
        </p:nvSpPr>
        <p:spPr>
          <a:xfrm xmlns:a="http://schemas.openxmlformats.org/drawingml/2006/main">
            <a:off x="7162800" y="244792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02</a:t>
            </a:r>
          </a:p>
        </p:txBody>
      </p:sp>
      <p:sp>
        <p:nvSpPr>
          <p:cNvPr id="10" name="">
            <a:extLst xmlns:a="http://schemas.openxmlformats.org/drawingml/2006/main">
              <a:ext uri="{FF2B5EF4-FFF2-40B4-BE49-F238E27FC236}">
                <a16:creationId xmlns:a16="http://schemas.microsoft.com/office/drawing/2014/main" id="{EDD52200-3BC7-4ECF-9355-7D1862925EAE}"/>
              </a:ext>
            </a:extLst>
          </p:cNvPr>
          <p:cNvSpPr>
            <a:spLocks xmlns:a="http://schemas.openxmlformats.org/drawingml/2006/main" noGrp="1"/>
          </p:cNvSpPr>
          <p:nvPr/>
        </p:nvSpPr>
        <p:spPr>
          <a:xfrm xmlns:a="http://schemas.openxmlformats.org/drawingml/2006/main">
            <a:off x="7734300" y="24193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Time holdout</a:t>
            </a:r>
          </a:p>
        </p:txBody>
      </p:sp>
      <p:sp>
        <p:nvSpPr>
          <p:cNvPr id="11" name="">
            <a:extLst xmlns:a="http://schemas.openxmlformats.org/drawingml/2006/main">
              <a:ext uri="{FF2B5EF4-FFF2-40B4-BE49-F238E27FC236}">
                <a16:creationId xmlns:a16="http://schemas.microsoft.com/office/drawing/2014/main" id="{830A95C2-0328-43E6-AF1D-7FEEC9FCB973}"/>
              </a:ext>
            </a:extLst>
          </p:cNvPr>
          <p:cNvSpPr>
            <a:spLocks xmlns:a="http://schemas.openxmlformats.org/drawingml/2006/main" noGrp="1"/>
          </p:cNvSpPr>
          <p:nvPr/>
        </p:nvSpPr>
        <p:spPr>
          <a:xfrm xmlns:a="http://schemas.openxmlformats.org/drawingml/2006/main">
            <a:off x="7162800" y="29718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03</a:t>
            </a:r>
          </a:p>
        </p:txBody>
      </p:sp>
      <p:sp>
        <p:nvSpPr>
          <p:cNvPr id="12" name="">
            <a:extLst xmlns:a="http://schemas.openxmlformats.org/drawingml/2006/main">
              <a:ext uri="{FF2B5EF4-FFF2-40B4-BE49-F238E27FC236}">
                <a16:creationId xmlns:a16="http://schemas.microsoft.com/office/drawing/2014/main" id="{25A6B09D-5091-41D6-8A79-B69E5D22AF20}"/>
              </a:ext>
            </a:extLst>
          </p:cNvPr>
          <p:cNvSpPr>
            <a:spLocks xmlns:a="http://schemas.openxmlformats.org/drawingml/2006/main" noGrp="1"/>
          </p:cNvSpPr>
          <p:nvPr/>
        </p:nvSpPr>
        <p:spPr>
          <a:xfrm xmlns:a="http://schemas.openxmlformats.org/drawingml/2006/main">
            <a:off x="7734300" y="294322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Interval coverage</a:t>
            </a:r>
          </a:p>
        </p:txBody>
      </p:sp>
      <p:sp>
        <p:nvSpPr>
          <p:cNvPr id="13" name="">
            <a:extLst xmlns:a="http://schemas.openxmlformats.org/drawingml/2006/main">
              <a:ext uri="{FF2B5EF4-FFF2-40B4-BE49-F238E27FC236}">
                <a16:creationId xmlns:a16="http://schemas.microsoft.com/office/drawing/2014/main" id="{1852388F-9283-49AE-AD8A-FBA279E410A4}"/>
              </a:ext>
            </a:extLst>
          </p:cNvPr>
          <p:cNvSpPr>
            <a:spLocks xmlns:a="http://schemas.openxmlformats.org/drawingml/2006/main" noGrp="1"/>
          </p:cNvSpPr>
          <p:nvPr/>
        </p:nvSpPr>
        <p:spPr>
          <a:xfrm xmlns:a="http://schemas.openxmlformats.org/drawingml/2006/main">
            <a:off x="7162800" y="349567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04</a:t>
            </a:r>
          </a:p>
        </p:txBody>
      </p:sp>
      <p:sp>
        <p:nvSpPr>
          <p:cNvPr id="14" name="">
            <a:extLst xmlns:a="http://schemas.openxmlformats.org/drawingml/2006/main">
              <a:ext uri="{FF2B5EF4-FFF2-40B4-BE49-F238E27FC236}">
                <a16:creationId xmlns:a16="http://schemas.microsoft.com/office/drawing/2014/main" id="{699599D6-BB5E-4EFF-9749-EDC961ED9789}"/>
              </a:ext>
            </a:extLst>
          </p:cNvPr>
          <p:cNvSpPr>
            <a:spLocks xmlns:a="http://schemas.openxmlformats.org/drawingml/2006/main" noGrp="1"/>
          </p:cNvSpPr>
          <p:nvPr/>
        </p:nvSpPr>
        <p:spPr>
          <a:xfrm xmlns:a="http://schemas.openxmlformats.org/drawingml/2006/main">
            <a:off x="7734300" y="346710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Revision rule</a:t>
            </a:r>
          </a:p>
        </p:txBody>
      </p:sp>
      <p:sp>
        <p:nvSpPr>
          <p:cNvPr id="15" name="">
            <a:extLst xmlns:a="http://schemas.openxmlformats.org/drawingml/2006/main">
              <a:ext uri="{FF2B5EF4-FFF2-40B4-BE49-F238E27FC236}">
                <a16:creationId xmlns:a16="http://schemas.microsoft.com/office/drawing/2014/main" id="{5FD681DB-7E45-4545-8F6A-0004297BA718}"/>
              </a:ext>
            </a:extLst>
          </p:cNvPr>
          <p:cNvSpPr>
            <a:spLocks xmlns:a="http://schemas.openxmlformats.org/drawingml/2006/main" noGrp="1"/>
          </p:cNvSpPr>
          <p:nvPr/>
        </p:nvSpPr>
        <p:spPr>
          <a:xfrm xmlns:a="http://schemas.openxmlformats.org/drawingml/2006/main">
            <a:off x="7162800" y="401955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05</a:t>
            </a:r>
          </a:p>
        </p:txBody>
      </p:sp>
      <p:sp>
        <p:nvSpPr>
          <p:cNvPr id="16" name="">
            <a:extLst xmlns:a="http://schemas.openxmlformats.org/drawingml/2006/main">
              <a:ext uri="{FF2B5EF4-FFF2-40B4-BE49-F238E27FC236}">
                <a16:creationId xmlns:a16="http://schemas.microsoft.com/office/drawing/2014/main" id="{8C2BD32D-18AA-4766-9FAF-7CEB155D91FD}"/>
              </a:ext>
            </a:extLst>
          </p:cNvPr>
          <p:cNvSpPr>
            <a:spLocks xmlns:a="http://schemas.openxmlformats.org/drawingml/2006/main" noGrp="1"/>
          </p:cNvSpPr>
          <p:nvPr/>
        </p:nvSpPr>
        <p:spPr>
          <a:xfrm xmlns:a="http://schemas.openxmlformats.org/drawingml/2006/main">
            <a:off x="7734300" y="399097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Abstention gate</a:t>
            </a:r>
          </a:p>
        </p:txBody>
      </p:sp>
      <p:sp>
        <p:nvSpPr>
          <p:cNvPr id="17" name="">
            <a:extLst xmlns:a="http://schemas.openxmlformats.org/drawingml/2006/main">
              <a:ext uri="{FF2B5EF4-FFF2-40B4-BE49-F238E27FC236}">
                <a16:creationId xmlns:a16="http://schemas.microsoft.com/office/drawing/2014/main" id="{F45D7CA4-6EAB-4A92-8785-D829BDBF25CA}"/>
              </a:ext>
            </a:extLst>
          </p:cNvPr>
          <p:cNvSpPr>
            <a:spLocks xmlns:a="http://schemas.openxmlformats.org/drawingml/2006/main" noGrp="1"/>
          </p:cNvSpPr>
          <p:nvPr/>
        </p:nvSpPr>
        <p:spPr>
          <a:xfrm xmlns:a="http://schemas.openxmlformats.org/drawingml/2006/main">
            <a:off x="552450" y="5048250"/>
            <a:ext cx="5334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DCA24A"/>
                </a:solidFill>
              </a:defRPr>
            </a:pPr>
            <a:r>
              <a:rPr sz="1650" b="1">
                <a:solidFill>
                  <a:srgbClr val="DCA24A"/>
                </a:solidFill>
              </a:rPr>
              <a:t>A model is one component—not the decision-maker.</a:t>
            </a:r>
          </a:p>
        </p:txBody>
      </p:sp>
    </p:spTree>
    <p:extLst>
      <p:ext uri="{BB962C8B-B14F-4D97-AF65-F5344CB8AC3E}">
        <p14:creationId xmlns:p14="http://schemas.microsoft.com/office/powerpoint/2010/main" val="255329236"/>
      </p:ext>
    </p:extLst>
  </p:cSld>
</p:sld>
</file>

<file path=ppt/slides/slide3.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EC6C89B3-A4A7-4930-B8F7-C364F0321454}"/>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V7_A_N06</a:t>
            </a:r>
          </a:p>
        </p:txBody>
      </p:sp>
      <p:sp>
        <p:nvSpPr>
          <p:cNvPr id="2" name="">
            <a:extLst xmlns:a="http://schemas.openxmlformats.org/drawingml/2006/main">
              <a:ext uri="{FF2B5EF4-FFF2-40B4-BE49-F238E27FC236}">
                <a16:creationId xmlns:a16="http://schemas.microsoft.com/office/drawing/2014/main" id="{305E807D-DC1F-432A-98A4-5167F7188BD5}"/>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03</a:t>
            </a:r>
          </a:p>
        </p:txBody>
      </p:sp>
      <p:sp>
        <p:nvSpPr>
          <p:cNvPr id="3" name="">
            <a:extLst xmlns:a="http://schemas.openxmlformats.org/drawingml/2006/main">
              <a:ext uri="{FF2B5EF4-FFF2-40B4-BE49-F238E27FC236}">
                <a16:creationId xmlns:a16="http://schemas.microsoft.com/office/drawing/2014/main" id="{7F652465-D4CA-4C95-BB3C-5116DC826CCB}"/>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D3010CD6-C481-4D87-9A28-4DA9BBE4122A}"/>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Five controls make the lesson operational</a:t>
            </a:r>
          </a:p>
        </p:txBody>
      </p:sp>
      <p:sp>
        <p:nvSpPr>
          <p:cNvPr id="5" name="">
            <a:extLst xmlns:a="http://schemas.openxmlformats.org/drawingml/2006/main">
              <a:ext uri="{FF2B5EF4-FFF2-40B4-BE49-F238E27FC236}">
                <a16:creationId xmlns:a16="http://schemas.microsoft.com/office/drawing/2014/main" id="{27601BE4-0234-4E2A-816B-761EFDF1F9A3}"/>
              </a:ext>
            </a:extLst>
          </p:cNvPr>
          <p:cNvSpPr>
            <a:spLocks xmlns:a="http://schemas.openxmlformats.org/drawingml/2006/main" noGrp="1"/>
          </p:cNvSpPr>
          <p:nvPr/>
        </p:nvSpPr>
        <p:spPr>
          <a:xfrm xmlns:a="http://schemas.openxmlformats.org/drawingml/2006/main">
            <a:off x="55245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6" name="">
            <a:extLst xmlns:a="http://schemas.openxmlformats.org/drawingml/2006/main">
              <a:ext uri="{FF2B5EF4-FFF2-40B4-BE49-F238E27FC236}">
                <a16:creationId xmlns:a16="http://schemas.microsoft.com/office/drawing/2014/main" id="{89197B53-D484-46CC-8FF3-BFB45A869ED7}"/>
              </a:ext>
            </a:extLst>
          </p:cNvPr>
          <p:cNvSpPr>
            <a:spLocks xmlns:a="http://schemas.openxmlformats.org/drawingml/2006/main" noGrp="1"/>
          </p:cNvSpPr>
          <p:nvPr/>
        </p:nvSpPr>
        <p:spPr>
          <a:xfrm xmlns:a="http://schemas.openxmlformats.org/drawingml/2006/main">
            <a:off x="7239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1</a:t>
            </a:r>
          </a:p>
        </p:txBody>
      </p:sp>
      <p:sp>
        <p:nvSpPr>
          <p:cNvPr id="7" name="">
            <a:extLst xmlns:a="http://schemas.openxmlformats.org/drawingml/2006/main">
              <a:ext uri="{FF2B5EF4-FFF2-40B4-BE49-F238E27FC236}">
                <a16:creationId xmlns:a16="http://schemas.microsoft.com/office/drawing/2014/main" id="{C84AAE0E-8E63-42A8-A78F-E0698E139CDA}"/>
              </a:ext>
            </a:extLst>
          </p:cNvPr>
          <p:cNvSpPr>
            <a:spLocks xmlns:a="http://schemas.openxmlformats.org/drawingml/2006/main" noGrp="1"/>
          </p:cNvSpPr>
          <p:nvPr/>
        </p:nvSpPr>
        <p:spPr>
          <a:xfrm xmlns:a="http://schemas.openxmlformats.org/drawingml/2006/main">
            <a:off x="7239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Seasonal baseline</a:t>
            </a:r>
          </a:p>
        </p:txBody>
      </p:sp>
      <p:sp>
        <p:nvSpPr>
          <p:cNvPr id="8" name="">
            <a:extLst xmlns:a="http://schemas.openxmlformats.org/drawingml/2006/main">
              <a:ext uri="{FF2B5EF4-FFF2-40B4-BE49-F238E27FC236}">
                <a16:creationId xmlns:a16="http://schemas.microsoft.com/office/drawing/2014/main" id="{0406C6EC-C7F1-4034-9069-21EF922683E5}"/>
              </a:ext>
            </a:extLst>
          </p:cNvPr>
          <p:cNvSpPr>
            <a:spLocks xmlns:a="http://schemas.openxmlformats.org/drawingml/2006/main" noGrp="1"/>
          </p:cNvSpPr>
          <p:nvPr/>
        </p:nvSpPr>
        <p:spPr>
          <a:xfrm xmlns:a="http://schemas.openxmlformats.org/drawingml/2006/main">
            <a:off x="266700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9" name="">
            <a:extLst xmlns:a="http://schemas.openxmlformats.org/drawingml/2006/main">
              <a:ext uri="{FF2B5EF4-FFF2-40B4-BE49-F238E27FC236}">
                <a16:creationId xmlns:a16="http://schemas.microsoft.com/office/drawing/2014/main" id="{677C8186-51A9-466C-A16C-F70042951137}"/>
              </a:ext>
            </a:extLst>
          </p:cNvPr>
          <p:cNvSpPr>
            <a:spLocks xmlns:a="http://schemas.openxmlformats.org/drawingml/2006/main" noGrp="1"/>
          </p:cNvSpPr>
          <p:nvPr/>
        </p:nvSpPr>
        <p:spPr>
          <a:xfrm xmlns:a="http://schemas.openxmlformats.org/drawingml/2006/main">
            <a:off x="283845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2</a:t>
            </a:r>
          </a:p>
        </p:txBody>
      </p:sp>
      <p:sp>
        <p:nvSpPr>
          <p:cNvPr id="10" name="">
            <a:extLst xmlns:a="http://schemas.openxmlformats.org/drawingml/2006/main">
              <a:ext uri="{FF2B5EF4-FFF2-40B4-BE49-F238E27FC236}">
                <a16:creationId xmlns:a16="http://schemas.microsoft.com/office/drawing/2014/main" id="{82FF18A8-0FA5-4667-8D57-F18FE6C0CD30}"/>
              </a:ext>
            </a:extLst>
          </p:cNvPr>
          <p:cNvSpPr>
            <a:spLocks xmlns:a="http://schemas.openxmlformats.org/drawingml/2006/main" noGrp="1"/>
          </p:cNvSpPr>
          <p:nvPr/>
        </p:nvSpPr>
        <p:spPr>
          <a:xfrm xmlns:a="http://schemas.openxmlformats.org/drawingml/2006/main">
            <a:off x="283845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Time holdout</a:t>
            </a:r>
          </a:p>
        </p:txBody>
      </p:sp>
      <p:sp>
        <p:nvSpPr>
          <p:cNvPr id="11" name="">
            <a:extLst xmlns:a="http://schemas.openxmlformats.org/drawingml/2006/main">
              <a:ext uri="{FF2B5EF4-FFF2-40B4-BE49-F238E27FC236}">
                <a16:creationId xmlns:a16="http://schemas.microsoft.com/office/drawing/2014/main" id="{B7FADE4C-36F7-4A06-ABF0-0D09EB08C2BE}"/>
              </a:ext>
            </a:extLst>
          </p:cNvPr>
          <p:cNvSpPr>
            <a:spLocks xmlns:a="http://schemas.openxmlformats.org/drawingml/2006/main" noGrp="1"/>
          </p:cNvSpPr>
          <p:nvPr/>
        </p:nvSpPr>
        <p:spPr>
          <a:xfrm xmlns:a="http://schemas.openxmlformats.org/drawingml/2006/main">
            <a:off x="4781550" y="2171700"/>
            <a:ext cx="1809750" cy="1619250"/>
          </a:xfrm>
          <a:prstGeom xmlns:a="http://schemas.openxmlformats.org/drawingml/2006/main" prst="rect">
            <a:avLst/>
          </a:prstGeom>
          <a:solidFill xmlns:a="http://schemas.openxmlformats.org/drawingml/2006/main">
            <a:srgbClr val="D0EDFA"/>
          </a:solidFill>
          <a:ln xmlns:a="http://schemas.openxmlformats.org/drawingml/2006/main" w="9525">
            <a:solidFill>
              <a:srgbClr val="B8BCC4"/>
            </a:solidFill>
            <a:prstDash val="solid"/>
          </a:ln>
        </p:spPr>
      </p:sp>
      <p:sp>
        <p:nvSpPr>
          <p:cNvPr id="12" name="">
            <a:extLst xmlns:a="http://schemas.openxmlformats.org/drawingml/2006/main">
              <a:ext uri="{FF2B5EF4-FFF2-40B4-BE49-F238E27FC236}">
                <a16:creationId xmlns:a16="http://schemas.microsoft.com/office/drawing/2014/main" id="{6BECF7BF-8D4B-4B34-84E4-4F28FC50986B}"/>
              </a:ext>
            </a:extLst>
          </p:cNvPr>
          <p:cNvSpPr>
            <a:spLocks xmlns:a="http://schemas.openxmlformats.org/drawingml/2006/main" noGrp="1"/>
          </p:cNvSpPr>
          <p:nvPr/>
        </p:nvSpPr>
        <p:spPr>
          <a:xfrm xmlns:a="http://schemas.openxmlformats.org/drawingml/2006/main">
            <a:off x="49530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3</a:t>
            </a:r>
          </a:p>
        </p:txBody>
      </p:sp>
      <p:sp>
        <p:nvSpPr>
          <p:cNvPr id="13" name="">
            <a:extLst xmlns:a="http://schemas.openxmlformats.org/drawingml/2006/main">
              <a:ext uri="{FF2B5EF4-FFF2-40B4-BE49-F238E27FC236}">
                <a16:creationId xmlns:a16="http://schemas.microsoft.com/office/drawing/2014/main" id="{C0E25579-EBA7-435C-BEC4-C85BDCD206EE}"/>
              </a:ext>
            </a:extLst>
          </p:cNvPr>
          <p:cNvSpPr>
            <a:spLocks xmlns:a="http://schemas.openxmlformats.org/drawingml/2006/main" noGrp="1"/>
          </p:cNvSpPr>
          <p:nvPr/>
        </p:nvSpPr>
        <p:spPr>
          <a:xfrm xmlns:a="http://schemas.openxmlformats.org/drawingml/2006/main">
            <a:off x="49530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Interval coverage</a:t>
            </a:r>
          </a:p>
        </p:txBody>
      </p:sp>
      <p:sp>
        <p:nvSpPr>
          <p:cNvPr id="14" name="">
            <a:extLst xmlns:a="http://schemas.openxmlformats.org/drawingml/2006/main">
              <a:ext uri="{FF2B5EF4-FFF2-40B4-BE49-F238E27FC236}">
                <a16:creationId xmlns:a16="http://schemas.microsoft.com/office/drawing/2014/main" id="{4F15BE1E-B51F-4A87-A918-8518EA1067F6}"/>
              </a:ext>
            </a:extLst>
          </p:cNvPr>
          <p:cNvSpPr>
            <a:spLocks xmlns:a="http://schemas.openxmlformats.org/drawingml/2006/main" noGrp="1"/>
          </p:cNvSpPr>
          <p:nvPr/>
        </p:nvSpPr>
        <p:spPr>
          <a:xfrm xmlns:a="http://schemas.openxmlformats.org/drawingml/2006/main">
            <a:off x="689610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5" name="">
            <a:extLst xmlns:a="http://schemas.openxmlformats.org/drawingml/2006/main">
              <a:ext uri="{FF2B5EF4-FFF2-40B4-BE49-F238E27FC236}">
                <a16:creationId xmlns:a16="http://schemas.microsoft.com/office/drawing/2014/main" id="{76C0A332-2B3B-4257-A6A3-D55E28AEDBE4}"/>
              </a:ext>
            </a:extLst>
          </p:cNvPr>
          <p:cNvSpPr>
            <a:spLocks xmlns:a="http://schemas.openxmlformats.org/drawingml/2006/main" noGrp="1"/>
          </p:cNvSpPr>
          <p:nvPr/>
        </p:nvSpPr>
        <p:spPr>
          <a:xfrm xmlns:a="http://schemas.openxmlformats.org/drawingml/2006/main">
            <a:off x="706755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4</a:t>
            </a:r>
          </a:p>
        </p:txBody>
      </p:sp>
      <p:sp>
        <p:nvSpPr>
          <p:cNvPr id="16" name="">
            <a:extLst xmlns:a="http://schemas.openxmlformats.org/drawingml/2006/main">
              <a:ext uri="{FF2B5EF4-FFF2-40B4-BE49-F238E27FC236}">
                <a16:creationId xmlns:a16="http://schemas.microsoft.com/office/drawing/2014/main" id="{09E445F5-10FA-4ADD-94CB-7E5AE34D330A}"/>
              </a:ext>
            </a:extLst>
          </p:cNvPr>
          <p:cNvSpPr>
            <a:spLocks xmlns:a="http://schemas.openxmlformats.org/drawingml/2006/main" noGrp="1"/>
          </p:cNvSpPr>
          <p:nvPr/>
        </p:nvSpPr>
        <p:spPr>
          <a:xfrm xmlns:a="http://schemas.openxmlformats.org/drawingml/2006/main">
            <a:off x="706755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Revision rule</a:t>
            </a:r>
          </a:p>
        </p:txBody>
      </p:sp>
      <p:sp>
        <p:nvSpPr>
          <p:cNvPr id="17" name="">
            <a:extLst xmlns:a="http://schemas.openxmlformats.org/drawingml/2006/main">
              <a:ext uri="{FF2B5EF4-FFF2-40B4-BE49-F238E27FC236}">
                <a16:creationId xmlns:a16="http://schemas.microsoft.com/office/drawing/2014/main" id="{A2AC727A-C72A-42F8-BEB5-0EE33255012A}"/>
              </a:ext>
            </a:extLst>
          </p:cNvPr>
          <p:cNvSpPr>
            <a:spLocks xmlns:a="http://schemas.openxmlformats.org/drawingml/2006/main" noGrp="1"/>
          </p:cNvSpPr>
          <p:nvPr/>
        </p:nvSpPr>
        <p:spPr>
          <a:xfrm xmlns:a="http://schemas.openxmlformats.org/drawingml/2006/main">
            <a:off x="901065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8" name="">
            <a:extLst xmlns:a="http://schemas.openxmlformats.org/drawingml/2006/main">
              <a:ext uri="{FF2B5EF4-FFF2-40B4-BE49-F238E27FC236}">
                <a16:creationId xmlns:a16="http://schemas.microsoft.com/office/drawing/2014/main" id="{3CB449CA-DD16-4B41-BE6D-CC345FB199CB}"/>
              </a:ext>
            </a:extLst>
          </p:cNvPr>
          <p:cNvSpPr>
            <a:spLocks xmlns:a="http://schemas.openxmlformats.org/drawingml/2006/main" noGrp="1"/>
          </p:cNvSpPr>
          <p:nvPr/>
        </p:nvSpPr>
        <p:spPr>
          <a:xfrm xmlns:a="http://schemas.openxmlformats.org/drawingml/2006/main">
            <a:off x="91821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5</a:t>
            </a:r>
          </a:p>
        </p:txBody>
      </p:sp>
      <p:sp>
        <p:nvSpPr>
          <p:cNvPr id="19" name="">
            <a:extLst xmlns:a="http://schemas.openxmlformats.org/drawingml/2006/main">
              <a:ext uri="{FF2B5EF4-FFF2-40B4-BE49-F238E27FC236}">
                <a16:creationId xmlns:a16="http://schemas.microsoft.com/office/drawing/2014/main" id="{1FA47EA4-EF13-404A-A97E-9203A02FACEA}"/>
              </a:ext>
            </a:extLst>
          </p:cNvPr>
          <p:cNvSpPr>
            <a:spLocks xmlns:a="http://schemas.openxmlformats.org/drawingml/2006/main" noGrp="1"/>
          </p:cNvSpPr>
          <p:nvPr/>
        </p:nvSpPr>
        <p:spPr>
          <a:xfrm xmlns:a="http://schemas.openxmlformats.org/drawingml/2006/main">
            <a:off x="91821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Abstention gate</a:t>
            </a:r>
          </a:p>
        </p:txBody>
      </p:sp>
      <p:sp>
        <p:nvSpPr>
          <p:cNvPr id="20" name="">
            <a:extLst xmlns:a="http://schemas.openxmlformats.org/drawingml/2006/main">
              <a:ext uri="{FF2B5EF4-FFF2-40B4-BE49-F238E27FC236}">
                <a16:creationId xmlns:a16="http://schemas.microsoft.com/office/drawing/2014/main" id="{9F9082D6-1C88-4697-A318-4B18C2DFFBD8}"/>
              </a:ext>
            </a:extLst>
          </p:cNvPr>
          <p:cNvSpPr>
            <a:spLocks xmlns:a="http://schemas.openxmlformats.org/drawingml/2006/main" noGrp="1"/>
          </p:cNvSpPr>
          <p:nvPr/>
        </p:nvSpPr>
        <p:spPr>
          <a:xfrm xmlns:a="http://schemas.openxmlformats.org/drawingml/2006/main">
            <a:off x="552450" y="4476750"/>
            <a:ext cx="10477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75" b="1">
                <a:solidFill>
                  <a:srgbClr val="102A3A"/>
                </a:solidFill>
              </a:defRPr>
            </a:pPr>
            <a:r>
              <a:rPr sz="1875" b="1">
                <a:solidFill>
                  <a:srgbClr val="102A3A"/>
                </a:solidFill>
              </a:rPr>
              <a:t>Each control must be explicit, reviewable, and owned.</a:t>
            </a:r>
          </a:p>
        </p:txBody>
      </p:sp>
    </p:spTree>
    <p:extLst>
      <p:ext uri="{BB962C8B-B14F-4D97-AF65-F5344CB8AC3E}">
        <p14:creationId xmlns:p14="http://schemas.microsoft.com/office/powerpoint/2010/main" val="1901925384"/>
      </p:ext>
    </p:extLst>
  </p:cSld>
</p:sld>
</file>

<file path=ppt/slides/slide4.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F4FB420-6202-4867-8331-9A529C5F6980}"/>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V7_A_N06</a:t>
            </a:r>
          </a:p>
        </p:txBody>
      </p:sp>
      <p:sp>
        <p:nvSpPr>
          <p:cNvPr id="2" name="">
            <a:extLst xmlns:a="http://schemas.openxmlformats.org/drawingml/2006/main">
              <a:ext uri="{FF2B5EF4-FFF2-40B4-BE49-F238E27FC236}">
                <a16:creationId xmlns:a16="http://schemas.microsoft.com/office/drawing/2014/main" id="{5A477160-7AB9-415E-91AD-CCBAD9FAA7C5}"/>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04</a:t>
            </a:r>
          </a:p>
        </p:txBody>
      </p:sp>
      <p:sp>
        <p:nvSpPr>
          <p:cNvPr id="3" name="">
            <a:extLst xmlns:a="http://schemas.openxmlformats.org/drawingml/2006/main">
              <a:ext uri="{FF2B5EF4-FFF2-40B4-BE49-F238E27FC236}">
                <a16:creationId xmlns:a16="http://schemas.microsoft.com/office/drawing/2014/main" id="{A521D0D9-181A-48E2-BD84-0C722AC50DB4}"/>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89E7973C-D553-4282-99E2-0438BB6B9216}"/>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7F4EC"/>
                </a:solidFill>
              </a:defRPr>
            </a:pPr>
            <a:r>
              <a:rPr sz="2850" b="1">
                <a:solidFill>
                  <a:srgbClr val="F7F4EC"/>
                </a:solidFill>
              </a:rPr>
              <a:t>A worked example separates support from authority</a:t>
            </a:r>
          </a:p>
        </p:txBody>
      </p:sp>
      <p:sp>
        <p:nvSpPr>
          <p:cNvPr id="5" name="">
            <a:extLst xmlns:a="http://schemas.openxmlformats.org/drawingml/2006/main">
              <a:ext uri="{FF2B5EF4-FFF2-40B4-BE49-F238E27FC236}">
                <a16:creationId xmlns:a16="http://schemas.microsoft.com/office/drawing/2014/main" id="{785B6E24-8382-464E-B94C-77D09EDFF970}"/>
              </a:ext>
            </a:extLst>
          </p:cNvPr>
          <p:cNvSpPr>
            <a:spLocks xmlns:a="http://schemas.openxmlformats.org/drawingml/2006/main" noGrp="1"/>
          </p:cNvSpPr>
          <p:nvPr/>
        </p:nvSpPr>
        <p:spPr>
          <a:xfrm xmlns:a="http://schemas.openxmlformats.org/drawingml/2006/main">
            <a:off x="552450" y="1809750"/>
            <a:ext cx="6667500" cy="2476500"/>
          </a:xfrm>
          <a:prstGeom xmlns:a="http://schemas.openxmlformats.org/drawingml/2006/main" prst="rect">
            <a:avLst/>
          </a:prstGeom>
          <a:solidFill xmlns:a="http://schemas.openxmlformats.org/drawingml/2006/main">
            <a:srgbClr val="0B2E45"/>
          </a:solidFill>
          <a:ln xmlns:a="http://schemas.openxmlformats.org/drawingml/2006/main" w="9525">
            <a:solidFill>
              <a:srgbClr val="2AA79B"/>
            </a:solidFill>
            <a:prstDash val="solid"/>
          </a:ln>
        </p:spPr>
      </p:sp>
      <p:sp>
        <p:nvSpPr>
          <p:cNvPr id="6" name="">
            <a:extLst xmlns:a="http://schemas.openxmlformats.org/drawingml/2006/main">
              <a:ext uri="{FF2B5EF4-FFF2-40B4-BE49-F238E27FC236}">
                <a16:creationId xmlns:a16="http://schemas.microsoft.com/office/drawing/2014/main" id="{5D4B3252-BBE7-49DB-9E36-39586DC18A19}"/>
              </a:ext>
            </a:extLst>
          </p:cNvPr>
          <p:cNvSpPr>
            <a:spLocks xmlns:a="http://schemas.openxmlformats.org/drawingml/2006/main" noGrp="1"/>
          </p:cNvSpPr>
          <p:nvPr/>
        </p:nvSpPr>
        <p:spPr>
          <a:xfrm xmlns:a="http://schemas.openxmlformats.org/drawingml/2006/main">
            <a:off x="838200" y="209550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2AA79B"/>
                </a:solidFill>
              </a:defRPr>
            </a:pPr>
            <a:r>
              <a:rPr sz="1050" b="1">
                <a:solidFill>
                  <a:srgbClr val="2AA79B"/>
                </a:solidFill>
              </a:rPr>
              <a:t>ILLUSTRATIVE APPLICATION</a:t>
            </a:r>
          </a:p>
        </p:txBody>
      </p:sp>
      <p:sp>
        <p:nvSpPr>
          <p:cNvPr id="7" name="">
            <a:extLst xmlns:a="http://schemas.openxmlformats.org/drawingml/2006/main">
              <a:ext uri="{FF2B5EF4-FFF2-40B4-BE49-F238E27FC236}">
                <a16:creationId xmlns:a16="http://schemas.microsoft.com/office/drawing/2014/main" id="{8BA5693D-00AB-4707-8827-0C1A0D2B9C76}"/>
              </a:ext>
            </a:extLst>
          </p:cNvPr>
          <p:cNvSpPr>
            <a:spLocks xmlns:a="http://schemas.openxmlformats.org/drawingml/2006/main" noGrp="1"/>
          </p:cNvSpPr>
          <p:nvPr/>
        </p:nvSpPr>
        <p:spPr>
          <a:xfrm xmlns:a="http://schemas.openxmlformats.org/drawingml/2006/main">
            <a:off x="838200" y="2667000"/>
            <a:ext cx="6000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F7F4EC"/>
                </a:solidFill>
              </a:defRPr>
            </a:pPr>
            <a:r>
              <a:rPr sz="2025" b="1">
                <a:solidFill>
                  <a:srgbClr val="F7F4EC"/>
                </a:solidFill>
              </a:rPr>
              <a:t>A production forecast is withheld when input quality or interval coverage fails.</a:t>
            </a:r>
          </a:p>
        </p:txBody>
      </p:sp>
      <p:sp>
        <p:nvSpPr>
          <p:cNvPr id="8" name="">
            <a:extLst xmlns:a="http://schemas.openxmlformats.org/drawingml/2006/main">
              <a:ext uri="{FF2B5EF4-FFF2-40B4-BE49-F238E27FC236}">
                <a16:creationId xmlns:a16="http://schemas.microsoft.com/office/drawing/2014/main" id="{C62F6E2D-A794-45C1-8984-8EB13AD46D6E}"/>
              </a:ext>
            </a:extLst>
          </p:cNvPr>
          <p:cNvSpPr>
            <a:spLocks xmlns:a="http://schemas.openxmlformats.org/drawingml/2006/main" noGrp="1"/>
          </p:cNvSpPr>
          <p:nvPr/>
        </p:nvSpPr>
        <p:spPr>
          <a:xfrm xmlns:a="http://schemas.openxmlformats.org/drawingml/2006/main">
            <a:off x="7858125" y="1809750"/>
            <a:ext cx="3190875" cy="2476500"/>
          </a:xfrm>
          <a:prstGeom xmlns:a="http://schemas.openxmlformats.org/drawingml/2006/main" prst="rect">
            <a:avLst/>
          </a:prstGeom>
          <a:solidFill xmlns:a="http://schemas.openxmlformats.org/drawingml/2006/main">
            <a:srgbClr val="FFFFFF"/>
          </a:solidFill>
          <a:ln xmlns:a="http://schemas.openxmlformats.org/drawingml/2006/main" w="9525">
            <a:solidFill>
              <a:srgbClr val="D4DEE9"/>
            </a:solidFill>
            <a:prstDash val="solid"/>
          </a:ln>
        </p:spPr>
      </p:sp>
      <p:sp>
        <p:nvSpPr>
          <p:cNvPr id="9" name="">
            <a:extLst xmlns:a="http://schemas.openxmlformats.org/drawingml/2006/main">
              <a:ext uri="{FF2B5EF4-FFF2-40B4-BE49-F238E27FC236}">
                <a16:creationId xmlns:a16="http://schemas.microsoft.com/office/drawing/2014/main" id="{9075A15A-764D-4697-A4AD-D76910735CFC}"/>
              </a:ext>
            </a:extLst>
          </p:cNvPr>
          <p:cNvSpPr>
            <a:spLocks xmlns:a="http://schemas.openxmlformats.org/drawingml/2006/main" noGrp="1"/>
          </p:cNvSpPr>
          <p:nvPr/>
        </p:nvSpPr>
        <p:spPr>
          <a:xfrm xmlns:a="http://schemas.openxmlformats.org/drawingml/2006/main">
            <a:off x="8143875" y="2095500"/>
            <a:ext cx="2619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DCA24A"/>
                </a:solidFill>
              </a:defRPr>
            </a:pPr>
            <a:r>
              <a:rPr sz="1050" b="1">
                <a:solidFill>
                  <a:srgbClr val="DCA24A"/>
                </a:solidFill>
              </a:rPr>
              <a:t>THE SYSTEM MAY</a:t>
            </a:r>
          </a:p>
        </p:txBody>
      </p:sp>
      <p:sp>
        <p:nvSpPr>
          <p:cNvPr id="10" name="">
            <a:extLst xmlns:a="http://schemas.openxmlformats.org/drawingml/2006/main">
              <a:ext uri="{FF2B5EF4-FFF2-40B4-BE49-F238E27FC236}">
                <a16:creationId xmlns:a16="http://schemas.microsoft.com/office/drawing/2014/main" id="{EF1136C0-6EA7-4D45-B3AD-6CA7A82FFA49}"/>
              </a:ext>
            </a:extLst>
          </p:cNvPr>
          <p:cNvSpPr>
            <a:spLocks xmlns:a="http://schemas.openxmlformats.org/drawingml/2006/main" noGrp="1"/>
          </p:cNvSpPr>
          <p:nvPr/>
        </p:nvSpPr>
        <p:spPr>
          <a:xfrm xmlns:a="http://schemas.openxmlformats.org/drawingml/2006/main">
            <a:off x="8143875" y="2571750"/>
            <a:ext cx="2571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a:solidFill>
                  <a:srgbClr val="102A3A"/>
                </a:solidFill>
              </a:defRPr>
            </a:pPr>
            <a:r>
              <a:rPr sz="1725" b="0">
                <a:solidFill>
                  <a:srgbClr val="102A3A"/>
                </a:solidFill>
              </a:rPr>
              <a:t>Generate evidence</a:t>
            </a:r>
          </a:p>
          <a:p xmlns:a="http://schemas.openxmlformats.org/drawingml/2006/main">
            <a:pPr algn="l">
              <a:defRPr sz="1725" b="0">
                <a:solidFill>
                  <a:srgbClr val="102A3A"/>
                </a:solidFill>
              </a:defRPr>
            </a:pPr>
            <a:r>
              <a:rPr sz="1725" b="0">
                <a:solidFill>
                  <a:srgbClr val="102A3A"/>
                </a:solidFill>
              </a:rPr>
              <a:t>Flag uncertainty</a:t>
            </a:r>
          </a:p>
          <a:p xmlns:a="http://schemas.openxmlformats.org/drawingml/2006/main">
            <a:pPr algn="l">
              <a:defRPr sz="1725" b="0">
                <a:solidFill>
                  <a:srgbClr val="102A3A"/>
                </a:solidFill>
              </a:defRPr>
            </a:pPr>
            <a:r>
              <a:rPr sz="1725" b="0">
                <a:solidFill>
                  <a:srgbClr val="102A3A"/>
                </a:solidFill>
              </a:rPr>
              <a:t>Route authorized review</a:t>
            </a:r>
          </a:p>
        </p:txBody>
      </p:sp>
      <p:sp>
        <p:nvSpPr>
          <p:cNvPr id="11" name="">
            <a:extLst xmlns:a="http://schemas.openxmlformats.org/drawingml/2006/main">
              <a:ext uri="{FF2B5EF4-FFF2-40B4-BE49-F238E27FC236}">
                <a16:creationId xmlns:a16="http://schemas.microsoft.com/office/drawing/2014/main" id="{EA7A4CBA-4A13-4B69-A7BA-616C9DC01454}"/>
              </a:ext>
            </a:extLst>
          </p:cNvPr>
          <p:cNvSpPr>
            <a:spLocks xmlns:a="http://schemas.openxmlformats.org/drawingml/2006/main" noGrp="1"/>
          </p:cNvSpPr>
          <p:nvPr/>
        </p:nvSpPr>
        <p:spPr>
          <a:xfrm xmlns:a="http://schemas.openxmlformats.org/drawingml/2006/main">
            <a:off x="8143875" y="3714750"/>
            <a:ext cx="2571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8B1E1E"/>
                </a:solidFill>
              </a:defRPr>
            </a:pPr>
            <a:r>
              <a:rPr sz="1350" b="1">
                <a:solidFill>
                  <a:srgbClr val="8B1E1E"/>
                </a:solidFill>
              </a:rPr>
              <a:t>It may not authorize the consequential action.</a:t>
            </a:r>
          </a:p>
        </p:txBody>
      </p:sp>
    </p:spTree>
    <p:extLst>
      <p:ext uri="{BB962C8B-B14F-4D97-AF65-F5344CB8AC3E}">
        <p14:creationId xmlns:p14="http://schemas.microsoft.com/office/powerpoint/2010/main" val="758934438"/>
      </p:ext>
    </p:extLst>
  </p:cSld>
</p:sld>
</file>

<file path=ppt/slides/slide5.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4AB17D4F-8454-4B75-8FE8-094412E89DF4}"/>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V7_A_N06</a:t>
            </a:r>
          </a:p>
        </p:txBody>
      </p:sp>
      <p:sp>
        <p:nvSpPr>
          <p:cNvPr id="2" name="">
            <a:extLst xmlns:a="http://schemas.openxmlformats.org/drawingml/2006/main">
              <a:ext uri="{FF2B5EF4-FFF2-40B4-BE49-F238E27FC236}">
                <a16:creationId xmlns:a16="http://schemas.microsoft.com/office/drawing/2014/main" id="{568BDB53-474A-4EDE-9363-4BFD77B15DF4}"/>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05</a:t>
            </a:r>
          </a:p>
        </p:txBody>
      </p:sp>
      <p:sp>
        <p:nvSpPr>
          <p:cNvPr id="3" name="">
            <a:extLst xmlns:a="http://schemas.openxmlformats.org/drawingml/2006/main">
              <a:ext uri="{FF2B5EF4-FFF2-40B4-BE49-F238E27FC236}">
                <a16:creationId xmlns:a16="http://schemas.microsoft.com/office/drawing/2014/main" id="{EE0F1046-4E67-46AE-A31B-9F5FB02828F1}"/>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29782E9E-C85B-4C3E-ACAF-063A5DC1E03E}"/>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The notebook turns governance into executable checks</a:t>
            </a:r>
          </a:p>
        </p:txBody>
      </p:sp>
      <p:sp>
        <p:nvSpPr>
          <p:cNvPr id="5" name="">
            <a:extLst xmlns:a="http://schemas.openxmlformats.org/drawingml/2006/main">
              <a:ext uri="{FF2B5EF4-FFF2-40B4-BE49-F238E27FC236}">
                <a16:creationId xmlns:a16="http://schemas.microsoft.com/office/drawing/2014/main" id="{B3E7C0B8-9E44-4156-AC3A-642021516B04}"/>
              </a:ext>
            </a:extLst>
          </p:cNvPr>
          <p:cNvSpPr>
            <a:spLocks xmlns:a="http://schemas.openxmlformats.org/drawingml/2006/main" noGrp="1"/>
          </p:cNvSpPr>
          <p:nvPr/>
        </p:nvSpPr>
        <p:spPr>
          <a:xfrm xmlns:a="http://schemas.openxmlformats.org/drawingml/2006/main">
            <a:off x="552450" y="1790700"/>
            <a:ext cx="10001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02A3A"/>
                </a:solidFill>
              </a:defRPr>
            </a:pPr>
            <a:r>
              <a:rPr sz="2025" b="1">
                <a:solidFill>
                  <a:srgbClr val="102A3A"/>
                </a:solidFill>
              </a:rPr>
              <a:t>Compare seasonal forecasts with transparent baselines and test uncertainty gates.</a:t>
            </a:r>
          </a:p>
        </p:txBody>
      </p:sp>
      <p:sp>
        <p:nvSpPr>
          <p:cNvPr id="6" name="">
            <a:extLst xmlns:a="http://schemas.openxmlformats.org/drawingml/2006/main">
              <a:ext uri="{FF2B5EF4-FFF2-40B4-BE49-F238E27FC236}">
                <a16:creationId xmlns:a16="http://schemas.microsoft.com/office/drawing/2014/main" id="{BC2EE3FF-03F4-4087-BEBA-D6A4C192360A}"/>
              </a:ext>
            </a:extLst>
          </p:cNvPr>
          <p:cNvSpPr>
            <a:spLocks xmlns:a="http://schemas.openxmlformats.org/drawingml/2006/main" noGrp="1"/>
          </p:cNvSpPr>
          <p:nvPr/>
        </p:nvSpPr>
        <p:spPr>
          <a:xfrm xmlns:a="http://schemas.openxmlformats.org/drawingml/2006/main">
            <a:off x="552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7" name="">
            <a:extLst xmlns:a="http://schemas.openxmlformats.org/drawingml/2006/main">
              <a:ext uri="{FF2B5EF4-FFF2-40B4-BE49-F238E27FC236}">
                <a16:creationId xmlns:a16="http://schemas.microsoft.com/office/drawing/2014/main" id="{52587AA3-E5BC-4904-AF08-3D867DC96CB2}"/>
              </a:ext>
            </a:extLst>
          </p:cNvPr>
          <p:cNvSpPr>
            <a:spLocks xmlns:a="http://schemas.openxmlformats.org/drawingml/2006/main" noGrp="1"/>
          </p:cNvSpPr>
          <p:nvPr/>
        </p:nvSpPr>
        <p:spPr>
          <a:xfrm xmlns:a="http://schemas.openxmlformats.org/drawingml/2006/main">
            <a:off x="723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1</a:t>
            </a:r>
          </a:p>
        </p:txBody>
      </p:sp>
      <p:sp>
        <p:nvSpPr>
          <p:cNvPr id="8" name="">
            <a:extLst xmlns:a="http://schemas.openxmlformats.org/drawingml/2006/main">
              <a:ext uri="{FF2B5EF4-FFF2-40B4-BE49-F238E27FC236}">
                <a16:creationId xmlns:a16="http://schemas.microsoft.com/office/drawing/2014/main" id="{7A133124-469C-416E-B054-79088E07FA5C}"/>
              </a:ext>
            </a:extLst>
          </p:cNvPr>
          <p:cNvSpPr>
            <a:spLocks xmlns:a="http://schemas.openxmlformats.org/drawingml/2006/main" noGrp="1"/>
          </p:cNvSpPr>
          <p:nvPr/>
        </p:nvSpPr>
        <p:spPr>
          <a:xfrm xmlns:a="http://schemas.openxmlformats.org/drawingml/2006/main">
            <a:off x="723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Inspect synthetic evidence</a:t>
            </a:r>
          </a:p>
        </p:txBody>
      </p:sp>
      <p:sp>
        <p:nvSpPr>
          <p:cNvPr id="9" name="">
            <a:extLst xmlns:a="http://schemas.openxmlformats.org/drawingml/2006/main">
              <a:ext uri="{FF2B5EF4-FFF2-40B4-BE49-F238E27FC236}">
                <a16:creationId xmlns:a16="http://schemas.microsoft.com/office/drawing/2014/main" id="{CE25D418-FF62-458B-8588-72BAEC754F26}"/>
              </a:ext>
            </a:extLst>
          </p:cNvPr>
          <p:cNvSpPr>
            <a:spLocks xmlns:a="http://schemas.openxmlformats.org/drawingml/2006/main" noGrp="1"/>
          </p:cNvSpPr>
          <p:nvPr/>
        </p:nvSpPr>
        <p:spPr>
          <a:xfrm xmlns:a="http://schemas.openxmlformats.org/drawingml/2006/main">
            <a:off x="3219450" y="3048000"/>
            <a:ext cx="2333625" cy="1428750"/>
          </a:xfrm>
          <a:prstGeom xmlns:a="http://schemas.openxmlformats.org/drawingml/2006/main" prst="rect">
            <a:avLst/>
          </a:prstGeom>
          <a:solidFill xmlns:a="http://schemas.openxmlformats.org/drawingml/2006/main">
            <a:srgbClr val="D0EDFA"/>
          </a:solidFill>
          <a:ln xmlns:a="http://schemas.openxmlformats.org/drawingml/2006/main" w="9525">
            <a:solidFill>
              <a:srgbClr val="B8BCC4"/>
            </a:solidFill>
            <a:prstDash val="solid"/>
          </a:ln>
        </p:spPr>
      </p:sp>
      <p:sp>
        <p:nvSpPr>
          <p:cNvPr id="10" name="">
            <a:extLst xmlns:a="http://schemas.openxmlformats.org/drawingml/2006/main">
              <a:ext uri="{FF2B5EF4-FFF2-40B4-BE49-F238E27FC236}">
                <a16:creationId xmlns:a16="http://schemas.microsoft.com/office/drawing/2014/main" id="{452D9D15-24CB-4A2B-942D-7EF9349A589F}"/>
              </a:ext>
            </a:extLst>
          </p:cNvPr>
          <p:cNvSpPr>
            <a:spLocks xmlns:a="http://schemas.openxmlformats.org/drawingml/2006/main" noGrp="1"/>
          </p:cNvSpPr>
          <p:nvPr/>
        </p:nvSpPr>
        <p:spPr>
          <a:xfrm xmlns:a="http://schemas.openxmlformats.org/drawingml/2006/main">
            <a:off x="3390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2</a:t>
            </a:r>
          </a:p>
        </p:txBody>
      </p:sp>
      <p:sp>
        <p:nvSpPr>
          <p:cNvPr id="11" name="">
            <a:extLst xmlns:a="http://schemas.openxmlformats.org/drawingml/2006/main">
              <a:ext uri="{FF2B5EF4-FFF2-40B4-BE49-F238E27FC236}">
                <a16:creationId xmlns:a16="http://schemas.microsoft.com/office/drawing/2014/main" id="{F03FC04E-CD51-4D15-9F6F-80D219F58246}"/>
              </a:ext>
            </a:extLst>
          </p:cNvPr>
          <p:cNvSpPr>
            <a:spLocks xmlns:a="http://schemas.openxmlformats.org/drawingml/2006/main" noGrp="1"/>
          </p:cNvSpPr>
          <p:nvPr/>
        </p:nvSpPr>
        <p:spPr>
          <a:xfrm xmlns:a="http://schemas.openxmlformats.org/drawingml/2006/main">
            <a:off x="3390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Run the contract or gate</a:t>
            </a:r>
          </a:p>
        </p:txBody>
      </p:sp>
      <p:sp>
        <p:nvSpPr>
          <p:cNvPr id="12" name="">
            <a:extLst xmlns:a="http://schemas.openxmlformats.org/drawingml/2006/main">
              <a:ext uri="{FF2B5EF4-FFF2-40B4-BE49-F238E27FC236}">
                <a16:creationId xmlns:a16="http://schemas.microsoft.com/office/drawing/2014/main" id="{BE4353A9-38D4-409D-957E-3EEEDBE2DF35}"/>
              </a:ext>
            </a:extLst>
          </p:cNvPr>
          <p:cNvSpPr>
            <a:spLocks xmlns:a="http://schemas.openxmlformats.org/drawingml/2006/main" noGrp="1"/>
          </p:cNvSpPr>
          <p:nvPr/>
        </p:nvSpPr>
        <p:spPr>
          <a:xfrm xmlns:a="http://schemas.openxmlformats.org/drawingml/2006/main">
            <a:off x="5886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3" name="">
            <a:extLst xmlns:a="http://schemas.openxmlformats.org/drawingml/2006/main">
              <a:ext uri="{FF2B5EF4-FFF2-40B4-BE49-F238E27FC236}">
                <a16:creationId xmlns:a16="http://schemas.microsoft.com/office/drawing/2014/main" id="{DF5C6AB8-0172-4D04-83D8-68E6216D13E3}"/>
              </a:ext>
            </a:extLst>
          </p:cNvPr>
          <p:cNvSpPr>
            <a:spLocks xmlns:a="http://schemas.openxmlformats.org/drawingml/2006/main" noGrp="1"/>
          </p:cNvSpPr>
          <p:nvPr/>
        </p:nvSpPr>
        <p:spPr>
          <a:xfrm xmlns:a="http://schemas.openxmlformats.org/drawingml/2006/main">
            <a:off x="6057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3</a:t>
            </a:r>
          </a:p>
        </p:txBody>
      </p:sp>
      <p:sp>
        <p:nvSpPr>
          <p:cNvPr id="14" name="">
            <a:extLst xmlns:a="http://schemas.openxmlformats.org/drawingml/2006/main">
              <a:ext uri="{FF2B5EF4-FFF2-40B4-BE49-F238E27FC236}">
                <a16:creationId xmlns:a16="http://schemas.microsoft.com/office/drawing/2014/main" id="{B1450A37-8121-4437-948C-FD91257A31BB}"/>
              </a:ext>
            </a:extLst>
          </p:cNvPr>
          <p:cNvSpPr>
            <a:spLocks xmlns:a="http://schemas.openxmlformats.org/drawingml/2006/main" noGrp="1"/>
          </p:cNvSpPr>
          <p:nvPr/>
        </p:nvSpPr>
        <p:spPr>
          <a:xfrm xmlns:a="http://schemas.openxmlformats.org/drawingml/2006/main">
            <a:off x="6057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Interpret uncertainty</a:t>
            </a:r>
          </a:p>
        </p:txBody>
      </p:sp>
      <p:sp>
        <p:nvSpPr>
          <p:cNvPr id="15" name="">
            <a:extLst xmlns:a="http://schemas.openxmlformats.org/drawingml/2006/main">
              <a:ext uri="{FF2B5EF4-FFF2-40B4-BE49-F238E27FC236}">
                <a16:creationId xmlns:a16="http://schemas.microsoft.com/office/drawing/2014/main" id="{B78B4949-5592-4A0A-A24A-33739DB12B3D}"/>
              </a:ext>
            </a:extLst>
          </p:cNvPr>
          <p:cNvSpPr>
            <a:spLocks xmlns:a="http://schemas.openxmlformats.org/drawingml/2006/main" noGrp="1"/>
          </p:cNvSpPr>
          <p:nvPr/>
        </p:nvSpPr>
        <p:spPr>
          <a:xfrm xmlns:a="http://schemas.openxmlformats.org/drawingml/2006/main">
            <a:off x="8553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6" name="">
            <a:extLst xmlns:a="http://schemas.openxmlformats.org/drawingml/2006/main">
              <a:ext uri="{FF2B5EF4-FFF2-40B4-BE49-F238E27FC236}">
                <a16:creationId xmlns:a16="http://schemas.microsoft.com/office/drawing/2014/main" id="{52815235-959F-4C32-B9F3-1CB37A9A1163}"/>
              </a:ext>
            </a:extLst>
          </p:cNvPr>
          <p:cNvSpPr>
            <a:spLocks xmlns:a="http://schemas.openxmlformats.org/drawingml/2006/main" noGrp="1"/>
          </p:cNvSpPr>
          <p:nvPr/>
        </p:nvSpPr>
        <p:spPr>
          <a:xfrm xmlns:a="http://schemas.openxmlformats.org/drawingml/2006/main">
            <a:off x="8724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4</a:t>
            </a:r>
          </a:p>
        </p:txBody>
      </p:sp>
      <p:sp>
        <p:nvSpPr>
          <p:cNvPr id="17" name="">
            <a:extLst xmlns:a="http://schemas.openxmlformats.org/drawingml/2006/main">
              <a:ext uri="{FF2B5EF4-FFF2-40B4-BE49-F238E27FC236}">
                <a16:creationId xmlns:a16="http://schemas.microsoft.com/office/drawing/2014/main" id="{A364CF6E-DC1F-4972-8088-2719A6D7F9C7}"/>
              </a:ext>
            </a:extLst>
          </p:cNvPr>
          <p:cNvSpPr>
            <a:spLocks xmlns:a="http://schemas.openxmlformats.org/drawingml/2006/main" noGrp="1"/>
          </p:cNvSpPr>
          <p:nvPr/>
        </p:nvSpPr>
        <p:spPr>
          <a:xfrm xmlns:a="http://schemas.openxmlformats.org/drawingml/2006/main">
            <a:off x="8724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Write an abstention case</a:t>
            </a:r>
          </a:p>
        </p:txBody>
      </p:sp>
    </p:spTree>
    <p:extLst>
      <p:ext uri="{BB962C8B-B14F-4D97-AF65-F5344CB8AC3E}">
        <p14:creationId xmlns:p14="http://schemas.microsoft.com/office/powerpoint/2010/main" val="7101624"/>
      </p:ext>
    </p:extLst>
  </p:cSld>
</p:sld>
</file>

<file path=ppt/slides/slide6.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DDE4F421-0B19-45FE-88CF-D62E120EB171}"/>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V7_A_N06</a:t>
            </a:r>
          </a:p>
        </p:txBody>
      </p:sp>
      <p:sp>
        <p:nvSpPr>
          <p:cNvPr id="2" name="">
            <a:extLst xmlns:a="http://schemas.openxmlformats.org/drawingml/2006/main">
              <a:ext uri="{FF2B5EF4-FFF2-40B4-BE49-F238E27FC236}">
                <a16:creationId xmlns:a16="http://schemas.microsoft.com/office/drawing/2014/main" id="{4E4F133F-B18F-4BF3-B544-70E436CEE7B3}"/>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06</a:t>
            </a:r>
          </a:p>
        </p:txBody>
      </p:sp>
      <p:sp>
        <p:nvSpPr>
          <p:cNvPr id="3" name="">
            <a:extLst xmlns:a="http://schemas.openxmlformats.org/drawingml/2006/main">
              <a:ext uri="{FF2B5EF4-FFF2-40B4-BE49-F238E27FC236}">
                <a16:creationId xmlns:a16="http://schemas.microsoft.com/office/drawing/2014/main" id="{7747498A-1622-4C30-8B2B-1233D0368541}"/>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9F272E07-E216-477E-BDB3-6064331AF42B}"/>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Transfer the contract to another sector</a:t>
            </a:r>
          </a:p>
        </p:txBody>
      </p:sp>
      <p:sp>
        <p:nvSpPr>
          <p:cNvPr id="5" name="">
            <a:extLst xmlns:a="http://schemas.openxmlformats.org/drawingml/2006/main">
              <a:ext uri="{FF2B5EF4-FFF2-40B4-BE49-F238E27FC236}">
                <a16:creationId xmlns:a16="http://schemas.microsoft.com/office/drawing/2014/main" id="{CD4110E3-EB43-47BF-A143-E96AFDAD3D45}"/>
              </a:ext>
            </a:extLst>
          </p:cNvPr>
          <p:cNvSpPr>
            <a:spLocks xmlns:a="http://schemas.openxmlformats.org/drawingml/2006/main" noGrp="1"/>
          </p:cNvSpPr>
          <p:nvPr/>
        </p:nvSpPr>
        <p:spPr>
          <a:xfrm xmlns:a="http://schemas.openxmlformats.org/drawingml/2006/main">
            <a:off x="552450" y="1809750"/>
            <a:ext cx="1000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102A3A"/>
                </a:solidFill>
              </a:defRPr>
            </a:pPr>
            <a:r>
              <a:rPr sz="1950" b="1">
                <a:solidFill>
                  <a:srgbClr val="102A3A"/>
                </a:solidFill>
              </a:rPr>
              <a:t>Choose health, education, agriculture, or habitat.</a:t>
            </a:r>
          </a:p>
        </p:txBody>
      </p:sp>
      <p:sp>
        <p:nvSpPr>
          <p:cNvPr id="6" name="">
            <a:extLst xmlns:a="http://schemas.openxmlformats.org/drawingml/2006/main">
              <a:ext uri="{FF2B5EF4-FFF2-40B4-BE49-F238E27FC236}">
                <a16:creationId xmlns:a16="http://schemas.microsoft.com/office/drawing/2014/main" id="{426501CD-FE61-4991-AEC3-D2728277730B}"/>
              </a:ext>
            </a:extLst>
          </p:cNvPr>
          <p:cNvSpPr>
            <a:spLocks xmlns:a="http://schemas.openxmlformats.org/drawingml/2006/main" noGrp="1"/>
          </p:cNvSpPr>
          <p:nvPr/>
        </p:nvSpPr>
        <p:spPr>
          <a:xfrm xmlns:a="http://schemas.openxmlformats.org/drawingml/2006/main">
            <a:off x="552450" y="261937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1</a:t>
            </a:r>
          </a:p>
        </p:txBody>
      </p:sp>
      <p:sp>
        <p:nvSpPr>
          <p:cNvPr id="7" name="">
            <a:extLst xmlns:a="http://schemas.openxmlformats.org/drawingml/2006/main">
              <a:ext uri="{FF2B5EF4-FFF2-40B4-BE49-F238E27FC236}">
                <a16:creationId xmlns:a16="http://schemas.microsoft.com/office/drawing/2014/main" id="{18E2B5CF-A53F-46C8-B09A-FA1F16F2C89B}"/>
              </a:ext>
            </a:extLst>
          </p:cNvPr>
          <p:cNvSpPr>
            <a:spLocks xmlns:a="http://schemas.openxmlformats.org/drawingml/2006/main" noGrp="1"/>
          </p:cNvSpPr>
          <p:nvPr/>
        </p:nvSpPr>
        <p:spPr>
          <a:xfrm xmlns:a="http://schemas.openxmlformats.org/drawingml/2006/main">
            <a:off x="1104900" y="259080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Name the decision owner and lawful action.</a:t>
            </a:r>
          </a:p>
        </p:txBody>
      </p:sp>
      <p:sp>
        <p:nvSpPr>
          <p:cNvPr id="8" name="">
            <a:extLst xmlns:a="http://schemas.openxmlformats.org/drawingml/2006/main">
              <a:ext uri="{FF2B5EF4-FFF2-40B4-BE49-F238E27FC236}">
                <a16:creationId xmlns:a16="http://schemas.microsoft.com/office/drawing/2014/main" id="{89D24158-E10A-40D6-B220-619ADA0B224D}"/>
              </a:ext>
            </a:extLst>
          </p:cNvPr>
          <p:cNvSpPr>
            <a:spLocks xmlns:a="http://schemas.openxmlformats.org/drawingml/2006/main" noGrp="1"/>
          </p:cNvSpPr>
          <p:nvPr/>
        </p:nvSpPr>
        <p:spPr>
          <a:xfrm xmlns:a="http://schemas.openxmlformats.org/drawingml/2006/main">
            <a:off x="552450" y="328612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2</a:t>
            </a:r>
          </a:p>
        </p:txBody>
      </p:sp>
      <p:sp>
        <p:nvSpPr>
          <p:cNvPr id="9" name="">
            <a:extLst xmlns:a="http://schemas.openxmlformats.org/drawingml/2006/main">
              <a:ext uri="{FF2B5EF4-FFF2-40B4-BE49-F238E27FC236}">
                <a16:creationId xmlns:a16="http://schemas.microsoft.com/office/drawing/2014/main" id="{1AF6C81E-6531-498F-B0B9-682EEF4894EF}"/>
              </a:ext>
            </a:extLst>
          </p:cNvPr>
          <p:cNvSpPr>
            <a:spLocks xmlns:a="http://schemas.openxmlformats.org/drawingml/2006/main" noGrp="1"/>
          </p:cNvSpPr>
          <p:nvPr/>
        </p:nvSpPr>
        <p:spPr>
          <a:xfrm xmlns:a="http://schemas.openxmlformats.org/drawingml/2006/main">
            <a:off x="1104900" y="325755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Define the evidence, horizon, and failure conditions.</a:t>
            </a:r>
          </a:p>
        </p:txBody>
      </p:sp>
      <p:sp>
        <p:nvSpPr>
          <p:cNvPr id="10" name="">
            <a:extLst xmlns:a="http://schemas.openxmlformats.org/drawingml/2006/main">
              <a:ext uri="{FF2B5EF4-FFF2-40B4-BE49-F238E27FC236}">
                <a16:creationId xmlns:a16="http://schemas.microsoft.com/office/drawing/2014/main" id="{22D2FCD4-9ECA-4848-9542-0D068404A717}"/>
              </a:ext>
            </a:extLst>
          </p:cNvPr>
          <p:cNvSpPr>
            <a:spLocks xmlns:a="http://schemas.openxmlformats.org/drawingml/2006/main" noGrp="1"/>
          </p:cNvSpPr>
          <p:nvPr/>
        </p:nvSpPr>
        <p:spPr>
          <a:xfrm xmlns:a="http://schemas.openxmlformats.org/drawingml/2006/main">
            <a:off x="552450" y="395287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3</a:t>
            </a:r>
          </a:p>
        </p:txBody>
      </p:sp>
      <p:sp>
        <p:nvSpPr>
          <p:cNvPr id="11" name="">
            <a:extLst xmlns:a="http://schemas.openxmlformats.org/drawingml/2006/main">
              <a:ext uri="{FF2B5EF4-FFF2-40B4-BE49-F238E27FC236}">
                <a16:creationId xmlns:a16="http://schemas.microsoft.com/office/drawing/2014/main" id="{8486C1C4-E245-446B-98BE-47525E5FE3D6}"/>
              </a:ext>
            </a:extLst>
          </p:cNvPr>
          <p:cNvSpPr>
            <a:spLocks xmlns:a="http://schemas.openxmlformats.org/drawingml/2006/main" noGrp="1"/>
          </p:cNvSpPr>
          <p:nvPr/>
        </p:nvSpPr>
        <p:spPr>
          <a:xfrm xmlns:a="http://schemas.openxmlformats.org/drawingml/2006/main">
            <a:off x="1104900" y="392430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State when to abstain, escalate, monitor, and retire.</a:t>
            </a:r>
          </a:p>
        </p:txBody>
      </p:sp>
      <p:sp>
        <p:nvSpPr>
          <p:cNvPr id="12" name="">
            <a:extLst xmlns:a="http://schemas.openxmlformats.org/drawingml/2006/main">
              <a:ext uri="{FF2B5EF4-FFF2-40B4-BE49-F238E27FC236}">
                <a16:creationId xmlns:a16="http://schemas.microsoft.com/office/drawing/2014/main" id="{F8D938A4-6A99-436F-A4AF-E82765FDD6E4}"/>
              </a:ext>
            </a:extLst>
          </p:cNvPr>
          <p:cNvSpPr>
            <a:spLocks xmlns:a="http://schemas.openxmlformats.org/drawingml/2006/main" noGrp="1"/>
          </p:cNvSpPr>
          <p:nvPr/>
        </p:nvSpPr>
        <p:spPr>
          <a:xfrm xmlns:a="http://schemas.openxmlformats.org/drawingml/2006/main">
            <a:off x="8858250" y="2400300"/>
            <a:ext cx="2190750" cy="2190750"/>
          </a:xfrm>
          <a:prstGeom xmlns:a="http://schemas.openxmlformats.org/drawingml/2006/main" prst="rect">
            <a:avLst/>
          </a:prstGeom>
          <a:solidFill xmlns:a="http://schemas.openxmlformats.org/drawingml/2006/main">
            <a:srgbClr val="D9E9E5"/>
          </a:solidFill>
          <a:ln xmlns:a="http://schemas.openxmlformats.org/drawingml/2006/main" w="9525">
            <a:solidFill>
              <a:srgbClr val="D4DEE9"/>
            </a:solidFill>
            <a:prstDash val="solid"/>
          </a:ln>
        </p:spPr>
      </p:sp>
      <p:sp>
        <p:nvSpPr>
          <p:cNvPr id="13" name="">
            <a:extLst xmlns:a="http://schemas.openxmlformats.org/drawingml/2006/main">
              <a:ext uri="{FF2B5EF4-FFF2-40B4-BE49-F238E27FC236}">
                <a16:creationId xmlns:a16="http://schemas.microsoft.com/office/drawing/2014/main" id="{4E988D95-739F-4BC9-A9AE-790278BC2A3F}"/>
              </a:ext>
            </a:extLst>
          </p:cNvPr>
          <p:cNvSpPr>
            <a:spLocks xmlns:a="http://schemas.openxmlformats.org/drawingml/2006/main" noGrp="1"/>
          </p:cNvSpPr>
          <p:nvPr/>
        </p:nvSpPr>
        <p:spPr>
          <a:xfrm xmlns:a="http://schemas.openxmlformats.org/drawingml/2006/main">
            <a:off x="9144000" y="26670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a:solidFill>
                  <a:srgbClr val="DCA24A"/>
                </a:solidFill>
              </a:defRPr>
            </a:pPr>
            <a:r>
              <a:rPr sz="1125" b="1">
                <a:solidFill>
                  <a:srgbClr val="DCA24A"/>
                </a:solidFill>
              </a:rPr>
              <a:t>SUCCESS</a:t>
            </a:r>
          </a:p>
        </p:txBody>
      </p:sp>
      <p:sp>
        <p:nvSpPr>
          <p:cNvPr id="14" name="">
            <a:extLst xmlns:a="http://schemas.openxmlformats.org/drawingml/2006/main">
              <a:ext uri="{FF2B5EF4-FFF2-40B4-BE49-F238E27FC236}">
                <a16:creationId xmlns:a16="http://schemas.microsoft.com/office/drawing/2014/main" id="{4429FCC7-FADC-4FA3-AD1A-232493AC5722}"/>
              </a:ext>
            </a:extLst>
          </p:cNvPr>
          <p:cNvSpPr>
            <a:spLocks xmlns:a="http://schemas.openxmlformats.org/drawingml/2006/main" noGrp="1"/>
          </p:cNvSpPr>
          <p:nvPr/>
        </p:nvSpPr>
        <p:spPr>
          <a:xfrm xmlns:a="http://schemas.openxmlformats.org/drawingml/2006/main">
            <a:off x="9124950" y="3143250"/>
            <a:ext cx="1666875"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061A2B"/>
                </a:solidFill>
              </a:defRPr>
            </a:pPr>
            <a:r>
              <a:rPr sz="1500" b="1">
                <a:solidFill>
                  <a:srgbClr val="061A2B"/>
                </a:solidFill>
              </a:rPr>
              <a:t>A reviewer can see</a:t>
            </a:r>
          </a:p>
          <a:p xmlns:a="http://schemas.openxmlformats.org/drawingml/2006/main">
            <a:pPr algn="ctr">
              <a:defRPr sz="1500" b="1">
                <a:solidFill>
                  <a:srgbClr val="061A2B"/>
                </a:solidFill>
              </a:defRPr>
            </a:pPr>
            <a:r>
              <a:rPr sz="1500" b="1">
                <a:solidFill>
                  <a:srgbClr val="061A2B"/>
                </a:solidFill>
              </a:rPr>
              <a:t>what the system knows,</a:t>
            </a:r>
          </a:p>
          <a:p xmlns:a="http://schemas.openxmlformats.org/drawingml/2006/main">
            <a:pPr algn="ctr">
              <a:defRPr sz="1500" b="1">
                <a:solidFill>
                  <a:srgbClr val="061A2B"/>
                </a:solidFill>
              </a:defRPr>
            </a:pPr>
            <a:r>
              <a:rPr sz="1500" b="1">
                <a:solidFill>
                  <a:srgbClr val="061A2B"/>
                </a:solidFill>
              </a:rPr>
              <a:t>what it cannot decide,</a:t>
            </a:r>
          </a:p>
          <a:p xmlns:a="http://schemas.openxmlformats.org/drawingml/2006/main">
            <a:pPr algn="ctr">
              <a:defRPr sz="1500" b="1">
                <a:solidFill>
                  <a:srgbClr val="061A2B"/>
                </a:solidFill>
              </a:defRPr>
            </a:pPr>
            <a:r>
              <a:rPr sz="1500" b="1">
                <a:solidFill>
                  <a:srgbClr val="061A2B"/>
                </a:solidFill>
              </a:rPr>
              <a:t>and who remains accountable.</a:t>
            </a:r>
          </a:p>
        </p:txBody>
      </p:sp>
    </p:spTree>
    <p:extLst>
      <p:ext uri="{BB962C8B-B14F-4D97-AF65-F5344CB8AC3E}">
        <p14:creationId xmlns:p14="http://schemas.microsoft.com/office/powerpoint/2010/main" val="1427622383"/>
      </p:ext>
    </p:extLst>
  </p:cSld>
</p:sld>
</file>

<file path=ppt/slides/slide7.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A3B54A1-50B4-4533-AB27-B9E652D98252}"/>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V7_A_N06</a:t>
            </a:r>
          </a:p>
        </p:txBody>
      </p:sp>
      <p:sp>
        <p:nvSpPr>
          <p:cNvPr id="2" name="">
            <a:extLst xmlns:a="http://schemas.openxmlformats.org/drawingml/2006/main">
              <a:ext uri="{FF2B5EF4-FFF2-40B4-BE49-F238E27FC236}">
                <a16:creationId xmlns:a16="http://schemas.microsoft.com/office/drawing/2014/main" id="{0DC594C6-CD53-4834-8FB9-48F64D0837FC}"/>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07</a:t>
            </a:r>
          </a:p>
        </p:txBody>
      </p:sp>
      <p:sp>
        <p:nvSpPr>
          <p:cNvPr id="3" name="">
            <a:extLst xmlns:a="http://schemas.openxmlformats.org/drawingml/2006/main">
              <a:ext uri="{FF2B5EF4-FFF2-40B4-BE49-F238E27FC236}">
                <a16:creationId xmlns:a16="http://schemas.microsoft.com/office/drawing/2014/main" id="{C514DDAC-639B-417E-8898-363810DC25D4}"/>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D418DFEF-B5BF-4482-BC04-569220E47305}"/>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7F4EC"/>
                </a:solidFill>
              </a:defRPr>
            </a:pPr>
            <a:r>
              <a:rPr sz="2850" b="1">
                <a:solidFill>
                  <a:srgbClr val="F7F4EC"/>
                </a:solidFill>
              </a:rPr>
              <a:t>Guardrails are part of the analytical specification</a:t>
            </a:r>
          </a:p>
        </p:txBody>
      </p:sp>
      <p:sp>
        <p:nvSpPr>
          <p:cNvPr id="5" name="">
            <a:extLst xmlns:a="http://schemas.openxmlformats.org/drawingml/2006/main">
              <a:ext uri="{FF2B5EF4-FFF2-40B4-BE49-F238E27FC236}">
                <a16:creationId xmlns:a16="http://schemas.microsoft.com/office/drawing/2014/main" id="{8F69F023-DD7A-4191-A8D7-49EEDDEA6E85}"/>
              </a:ext>
            </a:extLst>
          </p:cNvPr>
          <p:cNvSpPr>
            <a:spLocks xmlns:a="http://schemas.openxmlformats.org/drawingml/2006/main" noGrp="1"/>
          </p:cNvSpPr>
          <p:nvPr/>
        </p:nvSpPr>
        <p:spPr>
          <a:xfrm xmlns:a="http://schemas.openxmlformats.org/drawingml/2006/main">
            <a:off x="552450" y="1809750"/>
            <a:ext cx="4762500" cy="2857500"/>
          </a:xfrm>
          <a:prstGeom xmlns:a="http://schemas.openxmlformats.org/drawingml/2006/main" prst="rect">
            <a:avLst/>
          </a:prstGeom>
          <a:solidFill xmlns:a="http://schemas.openxmlformats.org/drawingml/2006/main">
            <a:srgbClr val="F6F8FA"/>
          </a:solidFill>
          <a:ln xmlns:a="http://schemas.openxmlformats.org/drawingml/2006/main" w="9525">
            <a:solidFill>
              <a:srgbClr val="D4DEE9"/>
            </a:solidFill>
            <a:prstDash val="solid"/>
          </a:ln>
        </p:spPr>
      </p:sp>
      <p:sp>
        <p:nvSpPr>
          <p:cNvPr id="6" name="">
            <a:extLst xmlns:a="http://schemas.openxmlformats.org/drawingml/2006/main">
              <a:ext uri="{FF2B5EF4-FFF2-40B4-BE49-F238E27FC236}">
                <a16:creationId xmlns:a16="http://schemas.microsoft.com/office/drawing/2014/main" id="{3BB564EE-36A7-42F6-8E8A-7B4854B47545}"/>
              </a:ext>
            </a:extLst>
          </p:cNvPr>
          <p:cNvSpPr>
            <a:spLocks xmlns:a="http://schemas.openxmlformats.org/drawingml/2006/main" noGrp="1"/>
          </p:cNvSpPr>
          <p:nvPr/>
        </p:nvSpPr>
        <p:spPr>
          <a:xfrm xmlns:a="http://schemas.openxmlformats.org/drawingml/2006/main">
            <a:off x="819150" y="209550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0B2E45"/>
                </a:solidFill>
              </a:defRPr>
            </a:pPr>
            <a:r>
              <a:rPr sz="1125" b="1">
                <a:solidFill>
                  <a:srgbClr val="0B2E45"/>
                </a:solidFill>
              </a:rPr>
              <a:t>REQUIRED</a:t>
            </a:r>
          </a:p>
        </p:txBody>
      </p:sp>
      <p:sp>
        <p:nvSpPr>
          <p:cNvPr id="7" name="">
            <a:extLst xmlns:a="http://schemas.openxmlformats.org/drawingml/2006/main">
              <a:ext uri="{FF2B5EF4-FFF2-40B4-BE49-F238E27FC236}">
                <a16:creationId xmlns:a16="http://schemas.microsoft.com/office/drawing/2014/main" id="{F75A5937-FC1C-4C08-B323-74AF910DE0D3}"/>
              </a:ext>
            </a:extLst>
          </p:cNvPr>
          <p:cNvSpPr>
            <a:spLocks xmlns:a="http://schemas.openxmlformats.org/drawingml/2006/main" noGrp="1"/>
          </p:cNvSpPr>
          <p:nvPr/>
        </p:nvSpPr>
        <p:spPr>
          <a:xfrm xmlns:a="http://schemas.openxmlformats.org/drawingml/2006/main">
            <a:off x="819150" y="2609850"/>
            <a:ext cx="40005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061A2B"/>
                </a:solidFill>
              </a:defRPr>
            </a:pPr>
            <a:r>
              <a:rPr sz="1875" b="1">
                <a:solidFill>
                  <a:srgbClr val="061A2B"/>
                </a:solidFill>
              </a:rPr>
              <a:t>Evidence provenance</a:t>
            </a:r>
          </a:p>
          <a:p xmlns:a="http://schemas.openxmlformats.org/drawingml/2006/main">
            <a:pPr algn="l">
              <a:defRPr sz="1875" b="1">
                <a:solidFill>
                  <a:srgbClr val="061A2B"/>
                </a:solidFill>
              </a:defRPr>
            </a:pPr>
            <a:r>
              <a:rPr sz="1875" b="1">
                <a:solidFill>
                  <a:srgbClr val="061A2B"/>
                </a:solidFill>
              </a:rPr>
              <a:t>Visible uncertainty</a:t>
            </a:r>
          </a:p>
          <a:p xmlns:a="http://schemas.openxmlformats.org/drawingml/2006/main">
            <a:pPr algn="l">
              <a:defRPr sz="1875" b="1">
                <a:solidFill>
                  <a:srgbClr val="061A2B"/>
                </a:solidFill>
              </a:defRPr>
            </a:pPr>
            <a:r>
              <a:rPr sz="1875" b="1">
                <a:solidFill>
                  <a:srgbClr val="061A2B"/>
                </a:solidFill>
              </a:rPr>
              <a:t>Human review and override</a:t>
            </a:r>
          </a:p>
          <a:p xmlns:a="http://schemas.openxmlformats.org/drawingml/2006/main">
            <a:pPr algn="l">
              <a:defRPr sz="1875" b="1">
                <a:solidFill>
                  <a:srgbClr val="061A2B"/>
                </a:solidFill>
              </a:defRPr>
            </a:pPr>
            <a:r>
              <a:rPr sz="1875" b="1">
                <a:solidFill>
                  <a:srgbClr val="061A2B"/>
                </a:solidFill>
              </a:rPr>
              <a:t>Incident and retirement path</a:t>
            </a:r>
          </a:p>
        </p:txBody>
      </p:sp>
      <p:sp>
        <p:nvSpPr>
          <p:cNvPr id="8" name="">
            <a:extLst xmlns:a="http://schemas.openxmlformats.org/drawingml/2006/main">
              <a:ext uri="{FF2B5EF4-FFF2-40B4-BE49-F238E27FC236}">
                <a16:creationId xmlns:a16="http://schemas.microsoft.com/office/drawing/2014/main" id="{256A76AC-0D3D-4913-BD62-57577CADE9F7}"/>
              </a:ext>
            </a:extLst>
          </p:cNvPr>
          <p:cNvSpPr>
            <a:spLocks xmlns:a="http://schemas.openxmlformats.org/drawingml/2006/main" noGrp="1"/>
          </p:cNvSpPr>
          <p:nvPr/>
        </p:nvSpPr>
        <p:spPr>
          <a:xfrm xmlns:a="http://schemas.openxmlformats.org/drawingml/2006/main">
            <a:off x="6286500" y="1809750"/>
            <a:ext cx="4762500" cy="2857500"/>
          </a:xfrm>
          <a:prstGeom xmlns:a="http://schemas.openxmlformats.org/drawingml/2006/main" prst="rect">
            <a:avLst/>
          </a:prstGeom>
          <a:solidFill xmlns:a="http://schemas.openxmlformats.org/drawingml/2006/main">
            <a:srgbClr val="FFF4F1"/>
          </a:solidFill>
          <a:ln xmlns:a="http://schemas.openxmlformats.org/drawingml/2006/main" w="9525">
            <a:solidFill>
              <a:srgbClr val="E5B9AF"/>
            </a:solidFill>
            <a:prstDash val="solid"/>
          </a:ln>
        </p:spPr>
      </p:sp>
      <p:sp>
        <p:nvSpPr>
          <p:cNvPr id="9" name="">
            <a:extLst xmlns:a="http://schemas.openxmlformats.org/drawingml/2006/main">
              <a:ext uri="{FF2B5EF4-FFF2-40B4-BE49-F238E27FC236}">
                <a16:creationId xmlns:a16="http://schemas.microsoft.com/office/drawing/2014/main" id="{EE33A84E-0DE1-4FA7-BBE4-620D6A4E43B9}"/>
              </a:ext>
            </a:extLst>
          </p:cNvPr>
          <p:cNvSpPr>
            <a:spLocks xmlns:a="http://schemas.openxmlformats.org/drawingml/2006/main" noGrp="1"/>
          </p:cNvSpPr>
          <p:nvPr/>
        </p:nvSpPr>
        <p:spPr>
          <a:xfrm xmlns:a="http://schemas.openxmlformats.org/drawingml/2006/main">
            <a:off x="6553200" y="209550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8B1E1E"/>
                </a:solidFill>
              </a:defRPr>
            </a:pPr>
            <a:r>
              <a:rPr sz="1125" b="1">
                <a:solidFill>
                  <a:srgbClr val="8B1E1E"/>
                </a:solidFill>
              </a:rPr>
              <a:t>PROHIBITED</a:t>
            </a:r>
          </a:p>
        </p:txBody>
      </p:sp>
      <p:sp>
        <p:nvSpPr>
          <p:cNvPr id="10" name="">
            <a:extLst xmlns:a="http://schemas.openxmlformats.org/drawingml/2006/main">
              <a:ext uri="{FF2B5EF4-FFF2-40B4-BE49-F238E27FC236}">
                <a16:creationId xmlns:a16="http://schemas.microsoft.com/office/drawing/2014/main" id="{A2DA5B61-EFB8-41A3-AB77-447F72BD504F}"/>
              </a:ext>
            </a:extLst>
          </p:cNvPr>
          <p:cNvSpPr>
            <a:spLocks xmlns:a="http://schemas.openxmlformats.org/drawingml/2006/main" noGrp="1"/>
          </p:cNvSpPr>
          <p:nvPr/>
        </p:nvSpPr>
        <p:spPr>
          <a:xfrm xmlns:a="http://schemas.openxmlformats.org/drawingml/2006/main">
            <a:off x="6553200" y="2609850"/>
            <a:ext cx="40005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02A3A"/>
                </a:solidFill>
              </a:defRPr>
            </a:pPr>
            <a:r>
              <a:rPr sz="1875" b="1">
                <a:solidFill>
                  <a:srgbClr val="102A3A"/>
                </a:solidFill>
              </a:rPr>
              <a:t>Silent delegation of authority</a:t>
            </a:r>
          </a:p>
          <a:p xmlns:a="http://schemas.openxmlformats.org/drawingml/2006/main">
            <a:pPr algn="l">
              <a:defRPr sz="1875" b="1">
                <a:solidFill>
                  <a:srgbClr val="102A3A"/>
                </a:solidFill>
              </a:defRPr>
            </a:pPr>
            <a:r>
              <a:rPr sz="1875" b="1">
                <a:solidFill>
                  <a:srgbClr val="102A3A"/>
                </a:solidFill>
              </a:rPr>
              <a:t>Automatic consequential action</a:t>
            </a:r>
          </a:p>
          <a:p xmlns:a="http://schemas.openxmlformats.org/drawingml/2006/main">
            <a:pPr algn="l">
              <a:defRPr sz="1875" b="1">
                <a:solidFill>
                  <a:srgbClr val="102A3A"/>
                </a:solidFill>
              </a:defRPr>
            </a:pPr>
            <a:r>
              <a:rPr sz="1875" b="1">
                <a:solidFill>
                  <a:srgbClr val="102A3A"/>
                </a:solidFill>
              </a:rPr>
              <a:t>Unknown-code coercion</a:t>
            </a:r>
          </a:p>
          <a:p xmlns:a="http://schemas.openxmlformats.org/drawingml/2006/main">
            <a:pPr algn="l">
              <a:defRPr sz="1875" b="1">
                <a:solidFill>
                  <a:srgbClr val="102A3A"/>
                </a:solidFill>
              </a:defRPr>
            </a:pPr>
            <a:r>
              <a:rPr sz="1875" b="1">
                <a:solidFill>
                  <a:srgbClr val="102A3A"/>
                </a:solidFill>
              </a:rPr>
              <a:t>False precision when evidence fails</a:t>
            </a:r>
          </a:p>
        </p:txBody>
      </p:sp>
    </p:spTree>
    <p:extLst>
      <p:ext uri="{BB962C8B-B14F-4D97-AF65-F5344CB8AC3E}">
        <p14:creationId xmlns:p14="http://schemas.microsoft.com/office/powerpoint/2010/main" val="249289655"/>
      </p:ext>
    </p:extLst>
  </p:cSld>
</p:sld>
</file>

<file path=ppt/slides/slide8.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279C9A38-E47D-4F01-80A5-4274513BF9B1}"/>
              </a:ext>
            </a:extLst>
          </p:cNvPr>
          <p:cNvSpPr>
            <a:spLocks xmlns:a="http://schemas.openxmlformats.org/drawingml/2006/main" noGrp="1"/>
          </p:cNvSpPr>
          <p:nvPr/>
        </p:nvSpPr>
        <p:spPr>
          <a:xfrm xmlns:a="http://schemas.openxmlformats.org/drawingml/2006/main">
            <a:off x="552450" y="819150"/>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150" b="1">
                <a:solidFill>
                  <a:srgbClr val="FFFFFF"/>
                </a:solidFill>
              </a:defRPr>
            </a:pPr>
            <a:r>
              <a:rPr sz="3150" b="1">
                <a:solidFill>
                  <a:srgbClr val="FFFFFF"/>
                </a:solidFill>
              </a:rPr>
              <a:t>Before deployment, ask five questions</a:t>
            </a:r>
          </a:p>
        </p:txBody>
      </p:sp>
      <p:sp>
        <p:nvSpPr>
          <p:cNvPr id="2" name="">
            <a:extLst xmlns:a="http://schemas.openxmlformats.org/drawingml/2006/main">
              <a:ext uri="{FF2B5EF4-FFF2-40B4-BE49-F238E27FC236}">
                <a16:creationId xmlns:a16="http://schemas.microsoft.com/office/drawing/2014/main" id="{1E908C54-62E4-4209-840C-E8A1D08CEB7A}"/>
              </a:ext>
            </a:extLst>
          </p:cNvPr>
          <p:cNvSpPr>
            <a:spLocks xmlns:a="http://schemas.openxmlformats.org/drawingml/2006/main" noGrp="1"/>
          </p:cNvSpPr>
          <p:nvPr/>
        </p:nvSpPr>
        <p:spPr>
          <a:xfrm xmlns:a="http://schemas.openxmlformats.org/drawingml/2006/main">
            <a:off x="552450" y="18097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1.</a:t>
            </a:r>
          </a:p>
        </p:txBody>
      </p:sp>
      <p:sp>
        <p:nvSpPr>
          <p:cNvPr id="3" name="">
            <a:extLst xmlns:a="http://schemas.openxmlformats.org/drawingml/2006/main">
              <a:ext uri="{FF2B5EF4-FFF2-40B4-BE49-F238E27FC236}">
                <a16:creationId xmlns:a16="http://schemas.microsoft.com/office/drawing/2014/main" id="{01975106-6B1F-4FAA-8981-333E40B688A8}"/>
              </a:ext>
            </a:extLst>
          </p:cNvPr>
          <p:cNvSpPr>
            <a:spLocks xmlns:a="http://schemas.openxmlformats.org/drawingml/2006/main" noGrp="1"/>
          </p:cNvSpPr>
          <p:nvPr/>
        </p:nvSpPr>
        <p:spPr>
          <a:xfrm xmlns:a="http://schemas.openxmlformats.org/drawingml/2006/main">
            <a:off x="1123950" y="17716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Seasonal baseline</a:t>
            </a:r>
          </a:p>
        </p:txBody>
      </p:sp>
      <p:sp>
        <p:nvSpPr>
          <p:cNvPr id="4" name="">
            <a:extLst xmlns:a="http://schemas.openxmlformats.org/drawingml/2006/main">
              <a:ext uri="{FF2B5EF4-FFF2-40B4-BE49-F238E27FC236}">
                <a16:creationId xmlns:a16="http://schemas.microsoft.com/office/drawing/2014/main" id="{B7B3974A-393D-48C9-BE62-AFFC9970C4C5}"/>
              </a:ext>
            </a:extLst>
          </p:cNvPr>
          <p:cNvSpPr>
            <a:spLocks xmlns:a="http://schemas.openxmlformats.org/drawingml/2006/main" noGrp="1"/>
          </p:cNvSpPr>
          <p:nvPr/>
        </p:nvSpPr>
        <p:spPr>
          <a:xfrm xmlns:a="http://schemas.openxmlformats.org/drawingml/2006/main">
            <a:off x="552450" y="24384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2.</a:t>
            </a:r>
          </a:p>
        </p:txBody>
      </p:sp>
      <p:sp>
        <p:nvSpPr>
          <p:cNvPr id="5" name="">
            <a:extLst xmlns:a="http://schemas.openxmlformats.org/drawingml/2006/main">
              <a:ext uri="{FF2B5EF4-FFF2-40B4-BE49-F238E27FC236}">
                <a16:creationId xmlns:a16="http://schemas.microsoft.com/office/drawing/2014/main" id="{F3EF5DB9-EDD6-4E62-B226-6742B59770D3}"/>
              </a:ext>
            </a:extLst>
          </p:cNvPr>
          <p:cNvSpPr>
            <a:spLocks xmlns:a="http://schemas.openxmlformats.org/drawingml/2006/main" noGrp="1"/>
          </p:cNvSpPr>
          <p:nvPr/>
        </p:nvSpPr>
        <p:spPr>
          <a:xfrm xmlns:a="http://schemas.openxmlformats.org/drawingml/2006/main">
            <a:off x="1123950" y="240030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Time holdout</a:t>
            </a:r>
          </a:p>
        </p:txBody>
      </p:sp>
      <p:sp>
        <p:nvSpPr>
          <p:cNvPr id="6" name="">
            <a:extLst xmlns:a="http://schemas.openxmlformats.org/drawingml/2006/main">
              <a:ext uri="{FF2B5EF4-FFF2-40B4-BE49-F238E27FC236}">
                <a16:creationId xmlns:a16="http://schemas.microsoft.com/office/drawing/2014/main" id="{79385498-38D3-466D-9A8D-11838CF27E3B}"/>
              </a:ext>
            </a:extLst>
          </p:cNvPr>
          <p:cNvSpPr>
            <a:spLocks xmlns:a="http://schemas.openxmlformats.org/drawingml/2006/main" noGrp="1"/>
          </p:cNvSpPr>
          <p:nvPr/>
        </p:nvSpPr>
        <p:spPr>
          <a:xfrm xmlns:a="http://schemas.openxmlformats.org/drawingml/2006/main">
            <a:off x="552450" y="30670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3.</a:t>
            </a:r>
          </a:p>
        </p:txBody>
      </p:sp>
      <p:sp>
        <p:nvSpPr>
          <p:cNvPr id="7" name="">
            <a:extLst xmlns:a="http://schemas.openxmlformats.org/drawingml/2006/main">
              <a:ext uri="{FF2B5EF4-FFF2-40B4-BE49-F238E27FC236}">
                <a16:creationId xmlns:a16="http://schemas.microsoft.com/office/drawing/2014/main" id="{C2505A2E-5704-4B6E-9450-D4500E74B6F3}"/>
              </a:ext>
            </a:extLst>
          </p:cNvPr>
          <p:cNvSpPr>
            <a:spLocks xmlns:a="http://schemas.openxmlformats.org/drawingml/2006/main" noGrp="1"/>
          </p:cNvSpPr>
          <p:nvPr/>
        </p:nvSpPr>
        <p:spPr>
          <a:xfrm xmlns:a="http://schemas.openxmlformats.org/drawingml/2006/main">
            <a:off x="1123950" y="30289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Interval coverage</a:t>
            </a:r>
          </a:p>
        </p:txBody>
      </p:sp>
      <p:sp>
        <p:nvSpPr>
          <p:cNvPr id="8" name="">
            <a:extLst xmlns:a="http://schemas.openxmlformats.org/drawingml/2006/main">
              <a:ext uri="{FF2B5EF4-FFF2-40B4-BE49-F238E27FC236}">
                <a16:creationId xmlns:a16="http://schemas.microsoft.com/office/drawing/2014/main" id="{24AC7412-FD4C-425A-9DE0-67E96E43DA42}"/>
              </a:ext>
            </a:extLst>
          </p:cNvPr>
          <p:cNvSpPr>
            <a:spLocks xmlns:a="http://schemas.openxmlformats.org/drawingml/2006/main" noGrp="1"/>
          </p:cNvSpPr>
          <p:nvPr/>
        </p:nvSpPr>
        <p:spPr>
          <a:xfrm xmlns:a="http://schemas.openxmlformats.org/drawingml/2006/main">
            <a:off x="552450" y="36957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4.</a:t>
            </a:r>
          </a:p>
        </p:txBody>
      </p:sp>
      <p:sp>
        <p:nvSpPr>
          <p:cNvPr id="9" name="">
            <a:extLst xmlns:a="http://schemas.openxmlformats.org/drawingml/2006/main">
              <a:ext uri="{FF2B5EF4-FFF2-40B4-BE49-F238E27FC236}">
                <a16:creationId xmlns:a16="http://schemas.microsoft.com/office/drawing/2014/main" id="{9A5CCDF7-51FA-4BFC-B3E3-8CDBFED19127}"/>
              </a:ext>
            </a:extLst>
          </p:cNvPr>
          <p:cNvSpPr>
            <a:spLocks xmlns:a="http://schemas.openxmlformats.org/drawingml/2006/main" noGrp="1"/>
          </p:cNvSpPr>
          <p:nvPr/>
        </p:nvSpPr>
        <p:spPr>
          <a:xfrm xmlns:a="http://schemas.openxmlformats.org/drawingml/2006/main">
            <a:off x="1123950" y="365760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Revision rule</a:t>
            </a:r>
          </a:p>
        </p:txBody>
      </p:sp>
      <p:sp>
        <p:nvSpPr>
          <p:cNvPr id="10" name="">
            <a:extLst xmlns:a="http://schemas.openxmlformats.org/drawingml/2006/main">
              <a:ext uri="{FF2B5EF4-FFF2-40B4-BE49-F238E27FC236}">
                <a16:creationId xmlns:a16="http://schemas.microsoft.com/office/drawing/2014/main" id="{36AF69C3-64E0-4355-A93B-A203F4491474}"/>
              </a:ext>
            </a:extLst>
          </p:cNvPr>
          <p:cNvSpPr>
            <a:spLocks xmlns:a="http://schemas.openxmlformats.org/drawingml/2006/main" noGrp="1"/>
          </p:cNvSpPr>
          <p:nvPr/>
        </p:nvSpPr>
        <p:spPr>
          <a:xfrm xmlns:a="http://schemas.openxmlformats.org/drawingml/2006/main">
            <a:off x="552450" y="43243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5.</a:t>
            </a:r>
          </a:p>
        </p:txBody>
      </p:sp>
      <p:sp>
        <p:nvSpPr>
          <p:cNvPr id="11" name="">
            <a:extLst xmlns:a="http://schemas.openxmlformats.org/drawingml/2006/main">
              <a:ext uri="{FF2B5EF4-FFF2-40B4-BE49-F238E27FC236}">
                <a16:creationId xmlns:a16="http://schemas.microsoft.com/office/drawing/2014/main" id="{9FEF0401-93F0-4BAD-A52F-C652AE1B913A}"/>
              </a:ext>
            </a:extLst>
          </p:cNvPr>
          <p:cNvSpPr>
            <a:spLocks xmlns:a="http://schemas.openxmlformats.org/drawingml/2006/main" noGrp="1"/>
          </p:cNvSpPr>
          <p:nvPr/>
        </p:nvSpPr>
        <p:spPr>
          <a:xfrm xmlns:a="http://schemas.openxmlformats.org/drawingml/2006/main">
            <a:off x="1123950" y="42862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Abstention gate</a:t>
            </a:r>
          </a:p>
        </p:txBody>
      </p:sp>
      <p:sp>
        <p:nvSpPr>
          <p:cNvPr id="12" name="">
            <a:extLst xmlns:a="http://schemas.openxmlformats.org/drawingml/2006/main">
              <a:ext uri="{FF2B5EF4-FFF2-40B4-BE49-F238E27FC236}">
                <a16:creationId xmlns:a16="http://schemas.microsoft.com/office/drawing/2014/main" id="{76EE1582-4AC2-487E-AC01-E7B563E72833}"/>
              </a:ext>
            </a:extLst>
          </p:cNvPr>
          <p:cNvSpPr>
            <a:spLocks xmlns:a="http://schemas.openxmlformats.org/drawingml/2006/main" noGrp="1"/>
          </p:cNvSpPr>
          <p:nvPr/>
        </p:nvSpPr>
        <p:spPr>
          <a:xfrm xmlns:a="http://schemas.openxmlformats.org/drawingml/2006/main">
            <a:off x="552450" y="5410200"/>
            <a:ext cx="1000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5C66A"/>
                </a:solidFill>
              </a:defRPr>
            </a:pPr>
            <a:r>
              <a:rPr sz="1725" b="1">
                <a:solidFill>
                  <a:srgbClr val="F5C66A"/>
                </a:solidFill>
              </a:rPr>
              <a:t>If one critical answer is missing, pause and refer for review.</a:t>
            </a:r>
          </a:p>
        </p:txBody>
      </p:sp>
    </p:spTree>
    <p:extLst>
      <p:ext uri="{BB962C8B-B14F-4D97-AF65-F5344CB8AC3E}">
        <p14:creationId xmlns:p14="http://schemas.microsoft.com/office/powerpoint/2010/main" val="197951497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2026-09-04T14:39:43.1590000Z</dcterms:created>
  <dcterms:modified xsi:type="dcterms:W3CDTF">2026-09-04T14:39:43.1590000Z</dcterms:modified>
</coreProperties>
</file>