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93505f7efc4ac2" /><Relationship Type="http://schemas.openxmlformats.org/officeDocument/2006/relationships/extended-properties" Target="/docProps/app.xml" Id="Rc3d1a61a29794002" /><Relationship Type="http://schemas.openxmlformats.org/officeDocument/2006/relationships/officeDocument" Target="/ppt/presentation.xml" Id="R51293c31e8f14fb7" /></Relationships>
</file>

<file path=ppt/presentation.xml><?xml version="1.0" encoding="utf-8"?>
<p:presentation xmlns:p="http://schemas.openxmlformats.org/presentationml/2006/main">
  <p:sldMasterIdLst>
    <p:sldMasterId xmlns:r="http://schemas.openxmlformats.org/officeDocument/2006/relationships" id="2147483648" r:id="Reddf2c00ce584be7"/>
  </p:sldMasterIdLst>
  <p:notesMasterIdLst>
    <p:notesMasterId xmlns:r="http://schemas.openxmlformats.org/officeDocument/2006/relationships" r:id="Ra837b429817144bb"/>
  </p:notesMasterIdLst>
  <p:sldIdLst>
    <p:sldId xmlns:r="http://schemas.openxmlformats.org/officeDocument/2006/relationships" id="256" r:id="R497e06e6e95147f2"/>
    <p:sldId xmlns:r="http://schemas.openxmlformats.org/officeDocument/2006/relationships" id="257" r:id="R2ea9123420b84b22"/>
    <p:sldId xmlns:r="http://schemas.openxmlformats.org/officeDocument/2006/relationships" id="258" r:id="R6642434bb17a40be"/>
    <p:sldId xmlns:r="http://schemas.openxmlformats.org/officeDocument/2006/relationships" id="259" r:id="Ra065774de8224a77"/>
    <p:sldId xmlns:r="http://schemas.openxmlformats.org/officeDocument/2006/relationships" id="260" r:id="Rad35ce7dbb38458a"/>
    <p:sldId xmlns:r="http://schemas.openxmlformats.org/officeDocument/2006/relationships" id="261" r:id="R8a3f5ebabca543d9"/>
    <p:sldId xmlns:r="http://schemas.openxmlformats.org/officeDocument/2006/relationships" id="262" r:id="Raade3dcd4af64b8b"/>
    <p:sldId xmlns:r="http://schemas.openxmlformats.org/officeDocument/2006/relationships" id="263" r:id="Rf2452dbce1314b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b3da0e7b244c6c" /><Relationship Type="http://schemas.openxmlformats.org/officeDocument/2006/relationships/slideMaster" Target="/ppt/slideMasters/slideMaster1.xml" Id="Reddf2c00ce584be7" /><Relationship Type="http://schemas.openxmlformats.org/officeDocument/2006/relationships/notesMaster" Target="/ppt/notesMasters/notesMaster1.xml" Id="Ra837b429817144bb" /><Relationship Type="http://schemas.openxmlformats.org/officeDocument/2006/relationships/presProps" Target="/ppt/presProps.xml" Id="R283b9b17629147d4" /><Relationship Type="http://schemas.openxmlformats.org/officeDocument/2006/relationships/tableStyles" Target="/ppt/tableStyles.xml" Id="R08e86831ae6a4352" /><Relationship Type="http://schemas.openxmlformats.org/officeDocument/2006/relationships/slide" Target="/ppt/slides/slide1.xml" Id="R497e06e6e95147f2" /><Relationship Type="http://schemas.openxmlformats.org/officeDocument/2006/relationships/slide" Target="/ppt/slides/slide2.xml" Id="R2ea9123420b84b22" /><Relationship Type="http://schemas.openxmlformats.org/officeDocument/2006/relationships/slide" Target="/ppt/slides/slide3.xml" Id="R6642434bb17a40be" /><Relationship Type="http://schemas.openxmlformats.org/officeDocument/2006/relationships/slide" Target="/ppt/slides/slide4.xml" Id="Ra065774de8224a77" /><Relationship Type="http://schemas.openxmlformats.org/officeDocument/2006/relationships/slide" Target="/ppt/slides/slide5.xml" Id="Rad35ce7dbb38458a" /><Relationship Type="http://schemas.openxmlformats.org/officeDocument/2006/relationships/slide" Target="/ppt/slides/slide6.xml" Id="R8a3f5ebabca543d9" /><Relationship Type="http://schemas.openxmlformats.org/officeDocument/2006/relationships/slide" Target="/ppt/slides/slide7.xml" Id="Raade3dcd4af64b8b" /><Relationship Type="http://schemas.openxmlformats.org/officeDocument/2006/relationships/slide" Target="/ppt/slides/slide8.xml" Id="Rf2452dbce1314b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320d59c0434a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d876956f274299" /><Relationship Type="http://schemas.openxmlformats.org/officeDocument/2006/relationships/notesMaster" Target="/ppt/notesMasters/notesMaster1.xml" Id="R54d6c276ce0347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3b7a524d4b4684" /><Relationship Type="http://schemas.openxmlformats.org/officeDocument/2006/relationships/notesMaster" Target="/ppt/notesMasters/notesMaster1.xml" Id="R458f3f91809740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7cd521975e48f8" /><Relationship Type="http://schemas.openxmlformats.org/officeDocument/2006/relationships/notesMaster" Target="/ppt/notesMasters/notesMaster1.xml" Id="R1da7022ec5f34d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dcd49e384a4050" /><Relationship Type="http://schemas.openxmlformats.org/officeDocument/2006/relationships/notesMaster" Target="/ppt/notesMasters/notesMaster1.xml" Id="R818082ed98244b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3ff42f2d984fe8" /><Relationship Type="http://schemas.openxmlformats.org/officeDocument/2006/relationships/notesMaster" Target="/ppt/notesMasters/notesMaster1.xml" Id="R87943b30830d4b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b24091b42c4c68" /><Relationship Type="http://schemas.openxmlformats.org/officeDocument/2006/relationships/notesMaster" Target="/ppt/notesMasters/notesMaster1.xml" Id="Rb9cf9431b7784d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4c7829ed9b4623" /><Relationship Type="http://schemas.openxmlformats.org/officeDocument/2006/relationships/notesMaster" Target="/ppt/notesMasters/notesMaster1.xml" Id="R42d60519b45f44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1ca6008dfa4019" /><Relationship Type="http://schemas.openxmlformats.org/officeDocument/2006/relationships/notesMaster" Target="/ppt/notesMasters/notesMaster1.xml" Id="R4bffd0f65e9f48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Maternal and Child Health: Support, Not Scoring. This lesson begins with one principle: analytics should support care—not score human worth.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Analytics should support care—not score human worth. The five controls shown here are Care gap, Timely review, Referral pathway, Clinical authority, Patient dignity.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care gap, move through timely review and referral pathway, and finish with clinical authority and patient dignity.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 care-gap signal routes outreach review while clinicians retain treatment authority.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 support workflow with consent, referral, uncertainty, and clinical boundaries.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care gap clear? Is timely review documented? Is referral pathway testable? Is clinical authority governed? And is patient dignity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3eb974a97b44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fb6a99359941c9" /><Relationship Type="http://schemas.openxmlformats.org/officeDocument/2006/relationships/slideLayout" Target="/ppt/slideLayouts/slideLayout1.xml" Id="Ra60d5eba69c043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0d5eba69c043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8cc86e35b64da2" /><Relationship Type="http://schemas.openxmlformats.org/officeDocument/2006/relationships/notesSlide" Target="/ppt/notesSlides/notesSlide1.xml" Id="R091bc72b842c41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f9b1173b80428a" /><Relationship Type="http://schemas.openxmlformats.org/officeDocument/2006/relationships/notesSlide" Target="/ppt/notesSlides/notesSlide2.xml" Id="R26c7f17ed00c4d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ab3b42995d4a56" /><Relationship Type="http://schemas.openxmlformats.org/officeDocument/2006/relationships/notesSlide" Target="/ppt/notesSlides/notesSlide3.xml" Id="Rdd7156fc900a41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957aaa4ced4caa" /><Relationship Type="http://schemas.openxmlformats.org/officeDocument/2006/relationships/notesSlide" Target="/ppt/notesSlides/notesSlide4.xml" Id="R6adee148326e4a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df1565451b4e04" /><Relationship Type="http://schemas.openxmlformats.org/officeDocument/2006/relationships/notesSlide" Target="/ppt/notesSlides/notesSlide5.xml" Id="R3ff45ba3691645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16f772b9904a2f" /><Relationship Type="http://schemas.openxmlformats.org/officeDocument/2006/relationships/notesSlide" Target="/ppt/notesSlides/notesSlide6.xml" Id="R3214b3461f154a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2752255adc4e71" /><Relationship Type="http://schemas.openxmlformats.org/officeDocument/2006/relationships/notesSlide" Target="/ppt/notesSlides/notesSlide7.xml" Id="R4e64c181a3c445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ee089301394708" /><Relationship Type="http://schemas.openxmlformats.org/officeDocument/2006/relationships/notesSlide" Target="/ppt/notesSlides/notesSlide8.xml" Id="Re9420ce9627f44a6"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93D29D-4DD5-407C-AE8B-9231374DB4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224A49C1-6BDD-46F3-859A-C9C8D2CEB54E}"/>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5DF4BA6C-31BE-4532-9E50-2F008B6654AE}"/>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B7F4D8BF-CE00-42FC-9C22-D1DB3F1E0486}"/>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20F5A299-474C-4DDD-848A-845A6B0BA74A}"/>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MATERNAL AND CHILD HEALTH: SUPPORT, NOT SCORING</a:t>
            </a:r>
          </a:p>
        </p:txBody>
      </p:sp>
      <p:sp>
        <p:nvSpPr>
          <p:cNvPr id="6" name="">
            <a:extLst xmlns:a="http://schemas.openxmlformats.org/drawingml/2006/main">
              <a:ext uri="{FF2B5EF4-FFF2-40B4-BE49-F238E27FC236}">
                <a16:creationId xmlns:a16="http://schemas.microsoft.com/office/drawing/2014/main" id="{BD33E877-840A-4E10-BE76-4F8415C2D22D}"/>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Analytics should support care—not score human worth.</a:t>
            </a:r>
          </a:p>
        </p:txBody>
      </p:sp>
      <p:sp>
        <p:nvSpPr>
          <p:cNvPr id="7" name="">
            <a:extLst xmlns:a="http://schemas.openxmlformats.org/drawingml/2006/main">
              <a:ext uri="{FF2B5EF4-FFF2-40B4-BE49-F238E27FC236}">
                <a16:creationId xmlns:a16="http://schemas.microsoft.com/office/drawing/2014/main" id="{D83F2958-2570-42DA-A8D2-5EF3292AEADA}"/>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V7_B_N03</a:t>
            </a:r>
          </a:p>
        </p:txBody>
      </p:sp>
      <p:sp>
        <p:nvSpPr>
          <p:cNvPr id="8" name="">
            <a:extLst xmlns:a="http://schemas.openxmlformats.org/drawingml/2006/main">
              <a:ext uri="{FF2B5EF4-FFF2-40B4-BE49-F238E27FC236}">
                <a16:creationId xmlns:a16="http://schemas.microsoft.com/office/drawing/2014/main" id="{BF3D2A4A-C88C-408E-A2B0-E86BDF507ED2}"/>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PU-B07-C23</a:t>
            </a:r>
          </a:p>
        </p:txBody>
      </p:sp>
      <p:sp>
        <p:nvSpPr>
          <p:cNvPr id="9" name="">
            <a:extLst xmlns:a="http://schemas.openxmlformats.org/drawingml/2006/main">
              <a:ext uri="{FF2B5EF4-FFF2-40B4-BE49-F238E27FC236}">
                <a16:creationId xmlns:a16="http://schemas.microsoft.com/office/drawing/2014/main" id="{E0277782-36FD-4796-9EAE-B202F0CE424F}"/>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C2594998-30ED-42C0-AA86-8D5A4A7961B1}"/>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222136842"/>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EE9D6E-9B54-4348-9092-57172FA3980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V7_B_N03</a:t>
            </a:r>
          </a:p>
        </p:txBody>
      </p:sp>
      <p:sp>
        <p:nvSpPr>
          <p:cNvPr id="2" name="">
            <a:extLst xmlns:a="http://schemas.openxmlformats.org/drawingml/2006/main">
              <a:ext uri="{FF2B5EF4-FFF2-40B4-BE49-F238E27FC236}">
                <a16:creationId xmlns:a16="http://schemas.microsoft.com/office/drawing/2014/main" id="{CED83B6F-EE82-420F-B44D-C7BA9054ED3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237BCB87-A19F-4159-B761-10D7882CDE9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2FA07E4-F11B-4E38-A585-7688DBA7F379}"/>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0E4AE853-BCC7-4CD5-B913-79A1C3086C4C}"/>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Analytics should support care—not score human worth.</a:t>
            </a:r>
          </a:p>
        </p:txBody>
      </p:sp>
      <p:sp>
        <p:nvSpPr>
          <p:cNvPr id="6" name="">
            <a:extLst xmlns:a="http://schemas.openxmlformats.org/drawingml/2006/main">
              <a:ext uri="{FF2B5EF4-FFF2-40B4-BE49-F238E27FC236}">
                <a16:creationId xmlns:a16="http://schemas.microsoft.com/office/drawing/2014/main" id="{71B60135-41D8-4910-9583-A68B270D976F}"/>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76C988D0-899D-427F-8DAF-1B08393A8E3D}"/>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6F634D78-8FE2-4249-8357-7DBE9E994A49}"/>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Care gap</a:t>
            </a:r>
          </a:p>
        </p:txBody>
      </p:sp>
      <p:sp>
        <p:nvSpPr>
          <p:cNvPr id="9" name="">
            <a:extLst xmlns:a="http://schemas.openxmlformats.org/drawingml/2006/main">
              <a:ext uri="{FF2B5EF4-FFF2-40B4-BE49-F238E27FC236}">
                <a16:creationId xmlns:a16="http://schemas.microsoft.com/office/drawing/2014/main" id="{671403A0-5534-4EE8-AFE4-D156B501921D}"/>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6BAC574F-C600-4870-A650-0E015CA14561}"/>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Timely review</a:t>
            </a:r>
          </a:p>
        </p:txBody>
      </p:sp>
      <p:sp>
        <p:nvSpPr>
          <p:cNvPr id="11" name="">
            <a:extLst xmlns:a="http://schemas.openxmlformats.org/drawingml/2006/main">
              <a:ext uri="{FF2B5EF4-FFF2-40B4-BE49-F238E27FC236}">
                <a16:creationId xmlns:a16="http://schemas.microsoft.com/office/drawing/2014/main" id="{F7BD6444-2B6F-4D8A-A30F-5FC4C621B1CD}"/>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50910452-CA3F-4873-8E5E-13C71CEA31A8}"/>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Referral pathway</a:t>
            </a:r>
          </a:p>
        </p:txBody>
      </p:sp>
      <p:sp>
        <p:nvSpPr>
          <p:cNvPr id="13" name="">
            <a:extLst xmlns:a="http://schemas.openxmlformats.org/drawingml/2006/main">
              <a:ext uri="{FF2B5EF4-FFF2-40B4-BE49-F238E27FC236}">
                <a16:creationId xmlns:a16="http://schemas.microsoft.com/office/drawing/2014/main" id="{B5747F58-EC57-49A9-AF1A-A78C3DDC77C3}"/>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4D984612-5398-4DDC-B758-5BE4F0662225}"/>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Clinical authority</a:t>
            </a:r>
          </a:p>
        </p:txBody>
      </p:sp>
      <p:sp>
        <p:nvSpPr>
          <p:cNvPr id="15" name="">
            <a:extLst xmlns:a="http://schemas.openxmlformats.org/drawingml/2006/main">
              <a:ext uri="{FF2B5EF4-FFF2-40B4-BE49-F238E27FC236}">
                <a16:creationId xmlns:a16="http://schemas.microsoft.com/office/drawing/2014/main" id="{B5F9C55E-8F0E-4B5B-BE38-D6614864AAF1}"/>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3215047B-8758-4B57-922E-96494366E4BD}"/>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Patient dignity</a:t>
            </a:r>
          </a:p>
        </p:txBody>
      </p:sp>
      <p:sp>
        <p:nvSpPr>
          <p:cNvPr id="17" name="">
            <a:extLst xmlns:a="http://schemas.openxmlformats.org/drawingml/2006/main">
              <a:ext uri="{FF2B5EF4-FFF2-40B4-BE49-F238E27FC236}">
                <a16:creationId xmlns:a16="http://schemas.microsoft.com/office/drawing/2014/main" id="{3CF8B924-5356-4479-9EFE-4BC6837C9CAA}"/>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458615419"/>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BD1064C-CFA4-4379-B162-785029AFFD2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V7_B_N03</a:t>
            </a:r>
          </a:p>
        </p:txBody>
      </p:sp>
      <p:sp>
        <p:nvSpPr>
          <p:cNvPr id="2" name="">
            <a:extLst xmlns:a="http://schemas.openxmlformats.org/drawingml/2006/main">
              <a:ext uri="{FF2B5EF4-FFF2-40B4-BE49-F238E27FC236}">
                <a16:creationId xmlns:a16="http://schemas.microsoft.com/office/drawing/2014/main" id="{CFB32632-8553-4D55-B8AB-00B56254656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34402D49-8650-4BEE-8742-BFE5CE06428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F501BFF-03A9-4AFD-9F79-FECC2550B72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E7BAEAD0-6E6D-4FC8-8180-3F1976F281B4}"/>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93543985-A727-4C4E-B496-0EF1D43D7D74}"/>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2E1411C7-83E4-4CB0-9642-C83E45E2008B}"/>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Care gap</a:t>
            </a:r>
          </a:p>
        </p:txBody>
      </p:sp>
      <p:sp>
        <p:nvSpPr>
          <p:cNvPr id="8" name="">
            <a:extLst xmlns:a="http://schemas.openxmlformats.org/drawingml/2006/main">
              <a:ext uri="{FF2B5EF4-FFF2-40B4-BE49-F238E27FC236}">
                <a16:creationId xmlns:a16="http://schemas.microsoft.com/office/drawing/2014/main" id="{408209D4-B68F-4A07-8DFC-B80AFEC83B4D}"/>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2347F59B-7EBF-4957-87D7-77715ECEF3CA}"/>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C034382E-0AAF-4144-9A03-DC917024C071}"/>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Timely review</a:t>
            </a:r>
          </a:p>
        </p:txBody>
      </p:sp>
      <p:sp>
        <p:nvSpPr>
          <p:cNvPr id="11" name="">
            <a:extLst xmlns:a="http://schemas.openxmlformats.org/drawingml/2006/main">
              <a:ext uri="{FF2B5EF4-FFF2-40B4-BE49-F238E27FC236}">
                <a16:creationId xmlns:a16="http://schemas.microsoft.com/office/drawing/2014/main" id="{86064114-8346-4AD5-8533-2A159898DC83}"/>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DD0566A6-4DD3-46D4-AA47-055DB304E2F6}"/>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6B183A33-FDF2-4EA4-88A4-166468880CEB}"/>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Referral pathway</a:t>
            </a:r>
          </a:p>
        </p:txBody>
      </p:sp>
      <p:sp>
        <p:nvSpPr>
          <p:cNvPr id="14" name="">
            <a:extLst xmlns:a="http://schemas.openxmlformats.org/drawingml/2006/main">
              <a:ext uri="{FF2B5EF4-FFF2-40B4-BE49-F238E27FC236}">
                <a16:creationId xmlns:a16="http://schemas.microsoft.com/office/drawing/2014/main" id="{4DC1D0A3-2E23-461B-9ED6-4FE7A2336330}"/>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791DE68F-EB05-4B50-B6D3-35F8D52DE284}"/>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652F9664-F29E-4CFA-A587-F363B096A274}"/>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Clinical authority</a:t>
            </a:r>
          </a:p>
        </p:txBody>
      </p:sp>
      <p:sp>
        <p:nvSpPr>
          <p:cNvPr id="17" name="">
            <a:extLst xmlns:a="http://schemas.openxmlformats.org/drawingml/2006/main">
              <a:ext uri="{FF2B5EF4-FFF2-40B4-BE49-F238E27FC236}">
                <a16:creationId xmlns:a16="http://schemas.microsoft.com/office/drawing/2014/main" id="{07B7C2D5-12A6-419F-B37E-636193975DF0}"/>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06DCC74E-6950-4ADF-B407-53F99C52893E}"/>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DF85E4E7-F78C-4C78-9188-DAFA891516ED}"/>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Patient dignity</a:t>
            </a:r>
          </a:p>
        </p:txBody>
      </p:sp>
      <p:sp>
        <p:nvSpPr>
          <p:cNvPr id="20" name="">
            <a:extLst xmlns:a="http://schemas.openxmlformats.org/drawingml/2006/main">
              <a:ext uri="{FF2B5EF4-FFF2-40B4-BE49-F238E27FC236}">
                <a16:creationId xmlns:a16="http://schemas.microsoft.com/office/drawing/2014/main" id="{52A7E713-F7A9-45A1-97EA-9C477E01D0DE}"/>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268585519"/>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551213A-33C9-452A-ABCC-1239AAD34E7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V7_B_N03</a:t>
            </a:r>
          </a:p>
        </p:txBody>
      </p:sp>
      <p:sp>
        <p:nvSpPr>
          <p:cNvPr id="2" name="">
            <a:extLst xmlns:a="http://schemas.openxmlformats.org/drawingml/2006/main">
              <a:ext uri="{FF2B5EF4-FFF2-40B4-BE49-F238E27FC236}">
                <a16:creationId xmlns:a16="http://schemas.microsoft.com/office/drawing/2014/main" id="{01C5A75B-E92A-452B-B178-194BE05CDCE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F8D278CE-A200-49FF-A2B8-9C51BB87F4D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8139A1F-2FB1-4261-936D-A2AEE9E41E6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082E73C2-D76A-4866-B1FB-9DD9F23C55A6}"/>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EFC25EF8-4384-4483-964B-3BB6C9DB5799}"/>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C09EA81C-F2FE-428C-AD34-A8A3930E2A06}"/>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care-gap signal routes outreach review while clinicians retain treatment authority.</a:t>
            </a:r>
          </a:p>
        </p:txBody>
      </p:sp>
      <p:sp>
        <p:nvSpPr>
          <p:cNvPr id="8" name="">
            <a:extLst xmlns:a="http://schemas.openxmlformats.org/drawingml/2006/main">
              <a:ext uri="{FF2B5EF4-FFF2-40B4-BE49-F238E27FC236}">
                <a16:creationId xmlns:a16="http://schemas.microsoft.com/office/drawing/2014/main" id="{8732051F-F87F-4B57-B959-A985BCB6FB28}"/>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95A9397F-BD2D-4EE0-A341-334FBD61499B}"/>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1837D095-FAAC-4A7A-BBD4-1B4B67A25371}"/>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5B7D1D5F-861E-458F-87CA-691EE12D7E37}"/>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292788099"/>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78795C4-BA23-4A3D-BC9C-A0A7237E455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V7_B_N03</a:t>
            </a:r>
          </a:p>
        </p:txBody>
      </p:sp>
      <p:sp>
        <p:nvSpPr>
          <p:cNvPr id="2" name="">
            <a:extLst xmlns:a="http://schemas.openxmlformats.org/drawingml/2006/main">
              <a:ext uri="{FF2B5EF4-FFF2-40B4-BE49-F238E27FC236}">
                <a16:creationId xmlns:a16="http://schemas.microsoft.com/office/drawing/2014/main" id="{72750321-6085-4B63-BC54-64951FE3F0B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406AA9C6-D09F-45E9-A72B-70CA480EBA9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FA5BD1B-0A64-4A62-B4AA-37E9FCF818A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55D5F2C3-9D61-4619-B30B-181684D25A56}"/>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 support workflow with consent, referral, uncertainty, and clinical boundaries.</a:t>
            </a:r>
          </a:p>
        </p:txBody>
      </p:sp>
      <p:sp>
        <p:nvSpPr>
          <p:cNvPr id="6" name="">
            <a:extLst xmlns:a="http://schemas.openxmlformats.org/drawingml/2006/main">
              <a:ext uri="{FF2B5EF4-FFF2-40B4-BE49-F238E27FC236}">
                <a16:creationId xmlns:a16="http://schemas.microsoft.com/office/drawing/2014/main" id="{D79869B6-0FE9-446D-9904-4F4E11EFB415}"/>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998A4C81-9D85-4ABE-A1CD-0E955DD89FAF}"/>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9A0B88E5-BC7B-4C37-BEF5-E8BA7E710266}"/>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3CD6D5EF-2F05-4D8A-B50B-6227CA59E27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62C48BD7-6760-490E-A6D8-17AD1C8D182E}"/>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4349FC0D-C2F0-446E-B735-F9F39EF2995A}"/>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61119DF9-4F98-4FAD-A776-D0C2F2237B9E}"/>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90F588BB-E7CC-4DB8-A859-813B2056EE2F}"/>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51A6D49E-6CD9-4D15-90A1-2B2186BDD870}"/>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3A4E78DF-F2F3-46B6-A4B8-43E8BAA549C6}"/>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80FE91AB-07B9-4B23-A3E0-BA1A4EC47FD2}"/>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C07C9846-BD3A-448B-B939-870AD78A5FF2}"/>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446268441"/>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A191301-5D44-4549-ADA1-C609114A2BA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V7_B_N03</a:t>
            </a:r>
          </a:p>
        </p:txBody>
      </p:sp>
      <p:sp>
        <p:nvSpPr>
          <p:cNvPr id="2" name="">
            <a:extLst xmlns:a="http://schemas.openxmlformats.org/drawingml/2006/main">
              <a:ext uri="{FF2B5EF4-FFF2-40B4-BE49-F238E27FC236}">
                <a16:creationId xmlns:a16="http://schemas.microsoft.com/office/drawing/2014/main" id="{54E0F937-113C-424C-A069-9904E887A0E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5D94798E-C240-46E7-AE50-0398CE23D85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98CEACB-61B9-40CF-9ABA-FD72C4B3902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3AFA5933-9EE7-4E59-9D20-444F1F2385BA}"/>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90A3367D-8706-4C5E-9EE4-37BC1F43272B}"/>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C63D4826-448C-4A2B-B4EF-4E2B2B1ABED6}"/>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ED8D0D04-CD3E-4650-9747-48A10881B03B}"/>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38033231-EA60-4F07-9AB6-CD4F3B323330}"/>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948075AA-346C-4512-A5EE-378E538C6198}"/>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D286E873-11DC-4066-B9B1-840915DB3877}"/>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43482ABE-81C1-4C82-966F-7E8CE070307C}"/>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2522F18E-FB44-453B-BE17-21313044E230}"/>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8D3F488F-C8B8-42CF-A671-4E040DF9C463}"/>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355858852"/>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3F71E5-3CF8-4FDE-9A47-18D2C900F9C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V7_B_N03</a:t>
            </a:r>
          </a:p>
        </p:txBody>
      </p:sp>
      <p:sp>
        <p:nvSpPr>
          <p:cNvPr id="2" name="">
            <a:extLst xmlns:a="http://schemas.openxmlformats.org/drawingml/2006/main">
              <a:ext uri="{FF2B5EF4-FFF2-40B4-BE49-F238E27FC236}">
                <a16:creationId xmlns:a16="http://schemas.microsoft.com/office/drawing/2014/main" id="{FEF1AB85-BCD7-487E-832E-111B4D42F75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B651AFA6-81C3-4CA6-A59C-AD2357BFEF0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9560F7E-79E2-49EB-8873-045E72A0757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4648DB27-5444-4C81-B2B1-100C7E7BB873}"/>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2023B9A6-BB51-43A3-B325-427B367850B8}"/>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5EDE1C01-4813-424F-9694-694AF55152B5}"/>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42CC9578-4197-46D8-8F21-6BB630D98575}"/>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25AE2769-0A71-44D5-AB67-ED7663B588A4}"/>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F5B862A8-4E4B-48B5-BB26-210DEEAA2706}"/>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997522023"/>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695AB1-051D-47AB-9712-C6E96EC5915A}"/>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B95192D3-3155-4409-A07C-3E37C85BE826}"/>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F05DC546-0F6F-40BF-9CCD-FA170AACF971}"/>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Care gap</a:t>
            </a:r>
          </a:p>
        </p:txBody>
      </p:sp>
      <p:sp>
        <p:nvSpPr>
          <p:cNvPr id="4" name="">
            <a:extLst xmlns:a="http://schemas.openxmlformats.org/drawingml/2006/main">
              <a:ext uri="{FF2B5EF4-FFF2-40B4-BE49-F238E27FC236}">
                <a16:creationId xmlns:a16="http://schemas.microsoft.com/office/drawing/2014/main" id="{8ECBB8D5-B35F-48BD-9158-112264F95B34}"/>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A95C41EF-6773-40CA-87DF-858A77056D33}"/>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Timely review</a:t>
            </a:r>
          </a:p>
        </p:txBody>
      </p:sp>
      <p:sp>
        <p:nvSpPr>
          <p:cNvPr id="6" name="">
            <a:extLst xmlns:a="http://schemas.openxmlformats.org/drawingml/2006/main">
              <a:ext uri="{FF2B5EF4-FFF2-40B4-BE49-F238E27FC236}">
                <a16:creationId xmlns:a16="http://schemas.microsoft.com/office/drawing/2014/main" id="{ABE6E130-CB2B-4659-B1F3-8BEE8DD60C62}"/>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4F00F94A-CC79-422C-82B1-1C17EDD5E381}"/>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Referral pathway</a:t>
            </a:r>
          </a:p>
        </p:txBody>
      </p:sp>
      <p:sp>
        <p:nvSpPr>
          <p:cNvPr id="8" name="">
            <a:extLst xmlns:a="http://schemas.openxmlformats.org/drawingml/2006/main">
              <a:ext uri="{FF2B5EF4-FFF2-40B4-BE49-F238E27FC236}">
                <a16:creationId xmlns:a16="http://schemas.microsoft.com/office/drawing/2014/main" id="{3EE67038-73C1-4C32-9745-23AA84A2FF27}"/>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8F03107A-6807-44E0-81A4-23A2FDE1A2B3}"/>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Clinical authority</a:t>
            </a:r>
          </a:p>
        </p:txBody>
      </p:sp>
      <p:sp>
        <p:nvSpPr>
          <p:cNvPr id="10" name="">
            <a:extLst xmlns:a="http://schemas.openxmlformats.org/drawingml/2006/main">
              <a:ext uri="{FF2B5EF4-FFF2-40B4-BE49-F238E27FC236}">
                <a16:creationId xmlns:a16="http://schemas.microsoft.com/office/drawing/2014/main" id="{618CB801-E8AB-4150-B98F-87C2EC16A394}"/>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9B9DD724-BEF7-4DF8-83AB-BD8A1DA9C96F}"/>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Patient dignity</a:t>
            </a:r>
          </a:p>
        </p:txBody>
      </p:sp>
      <p:sp>
        <p:nvSpPr>
          <p:cNvPr id="12" name="">
            <a:extLst xmlns:a="http://schemas.openxmlformats.org/drawingml/2006/main">
              <a:ext uri="{FF2B5EF4-FFF2-40B4-BE49-F238E27FC236}">
                <a16:creationId xmlns:a16="http://schemas.microsoft.com/office/drawing/2014/main" id="{F0EC80C3-5F33-4904-B9A8-AF7FE627F591}"/>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692975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2026-09-04T14:49:28.2120000Z</dcterms:created>
  <dcterms:modified xsi:type="dcterms:W3CDTF">2026-09-04T14:49:28.2120000Z</dcterms:modified>
</coreProperties>
</file>