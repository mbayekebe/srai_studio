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73b723dc4047c3" /><Relationship Type="http://schemas.openxmlformats.org/officeDocument/2006/relationships/extended-properties" Target="/docProps/app.xml" Id="R4bfbd6e373fe4943" /><Relationship Type="http://schemas.openxmlformats.org/officeDocument/2006/relationships/officeDocument" Target="/ppt/presentation.xml" Id="R2e28419db0e945f4" /></Relationships>
</file>

<file path=ppt/presentation.xml><?xml version="1.0" encoding="utf-8"?>
<p:presentation xmlns:p="http://schemas.openxmlformats.org/presentationml/2006/main">
  <p:sldMasterIdLst>
    <p:sldMasterId xmlns:r="http://schemas.openxmlformats.org/officeDocument/2006/relationships" id="2147483648" r:id="R4145a0bd441f4a8e"/>
  </p:sldMasterIdLst>
  <p:notesMasterIdLst>
    <p:notesMasterId xmlns:r="http://schemas.openxmlformats.org/officeDocument/2006/relationships" r:id="Rd87a491013a645cf"/>
  </p:notesMasterIdLst>
  <p:sldIdLst>
    <p:sldId xmlns:r="http://schemas.openxmlformats.org/officeDocument/2006/relationships" id="256" r:id="R25d8f4265d0b4e4d"/>
    <p:sldId xmlns:r="http://schemas.openxmlformats.org/officeDocument/2006/relationships" id="257" r:id="R238893fc7fd14e01"/>
    <p:sldId xmlns:r="http://schemas.openxmlformats.org/officeDocument/2006/relationships" id="258" r:id="R7281be06018c4476"/>
    <p:sldId xmlns:r="http://schemas.openxmlformats.org/officeDocument/2006/relationships" id="259" r:id="R000c34f29e4c4db8"/>
    <p:sldId xmlns:r="http://schemas.openxmlformats.org/officeDocument/2006/relationships" id="260" r:id="R687cd56ddb154110"/>
    <p:sldId xmlns:r="http://schemas.openxmlformats.org/officeDocument/2006/relationships" id="261" r:id="Ra3486c1db00b41db"/>
    <p:sldId xmlns:r="http://schemas.openxmlformats.org/officeDocument/2006/relationships" id="262" r:id="Rb400c5d5967b470f"/>
    <p:sldId xmlns:r="http://schemas.openxmlformats.org/officeDocument/2006/relationships" id="263" r:id="R927a611710b2455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08884030014223" /><Relationship Type="http://schemas.openxmlformats.org/officeDocument/2006/relationships/slideMaster" Target="/ppt/slideMasters/slideMaster1.xml" Id="R4145a0bd441f4a8e" /><Relationship Type="http://schemas.openxmlformats.org/officeDocument/2006/relationships/notesMaster" Target="/ppt/notesMasters/notesMaster1.xml" Id="Rd87a491013a645cf" /><Relationship Type="http://schemas.openxmlformats.org/officeDocument/2006/relationships/presProps" Target="/ppt/presProps.xml" Id="Raca4335e96f84845" /><Relationship Type="http://schemas.openxmlformats.org/officeDocument/2006/relationships/tableStyles" Target="/ppt/tableStyles.xml" Id="R7dff98b2b369445a" /><Relationship Type="http://schemas.openxmlformats.org/officeDocument/2006/relationships/slide" Target="/ppt/slides/slide1.xml" Id="R25d8f4265d0b4e4d" /><Relationship Type="http://schemas.openxmlformats.org/officeDocument/2006/relationships/slide" Target="/ppt/slides/slide2.xml" Id="R238893fc7fd14e01" /><Relationship Type="http://schemas.openxmlformats.org/officeDocument/2006/relationships/slide" Target="/ppt/slides/slide3.xml" Id="R7281be06018c4476" /><Relationship Type="http://schemas.openxmlformats.org/officeDocument/2006/relationships/slide" Target="/ppt/slides/slide4.xml" Id="R000c34f29e4c4db8" /><Relationship Type="http://schemas.openxmlformats.org/officeDocument/2006/relationships/slide" Target="/ppt/slides/slide5.xml" Id="R687cd56ddb154110" /><Relationship Type="http://schemas.openxmlformats.org/officeDocument/2006/relationships/slide" Target="/ppt/slides/slide6.xml" Id="Ra3486c1db00b41db" /><Relationship Type="http://schemas.openxmlformats.org/officeDocument/2006/relationships/slide" Target="/ppt/slides/slide7.xml" Id="Rb400c5d5967b470f" /><Relationship Type="http://schemas.openxmlformats.org/officeDocument/2006/relationships/slide" Target="/ppt/slides/slide8.xml" Id="R927a611710b2455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181726c65348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7f94e8d90a4578" /><Relationship Type="http://schemas.openxmlformats.org/officeDocument/2006/relationships/notesMaster" Target="/ppt/notesMasters/notesMaster1.xml" Id="R8284ea4677a649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e9084bfced94bb8" /><Relationship Type="http://schemas.openxmlformats.org/officeDocument/2006/relationships/notesMaster" Target="/ppt/notesMasters/notesMaster1.xml" Id="R8dc916a031b14a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f3ba8bfdd54182" /><Relationship Type="http://schemas.openxmlformats.org/officeDocument/2006/relationships/notesMaster" Target="/ppt/notesMasters/notesMaster1.xml" Id="Rdebabea3bae146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8409ddae924b68" /><Relationship Type="http://schemas.openxmlformats.org/officeDocument/2006/relationships/notesMaster" Target="/ppt/notesMasters/notesMaster1.xml" Id="Rf0afb6bd430642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4126f6a37440aa" /><Relationship Type="http://schemas.openxmlformats.org/officeDocument/2006/relationships/notesMaster" Target="/ppt/notesMasters/notesMaster1.xml" Id="R175f74490b9740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0b49a998244169" /><Relationship Type="http://schemas.openxmlformats.org/officeDocument/2006/relationships/notesMaster" Target="/ppt/notesMasters/notesMaster1.xml" Id="Rcc7f78d50b8b4d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e17ce5ee0040b5" /><Relationship Type="http://schemas.openxmlformats.org/officeDocument/2006/relationships/notesMaster" Target="/ppt/notesMasters/notesMaster1.xml" Id="R5b42706a8aa24a4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3f79889a8f4dad" /><Relationship Type="http://schemas.openxmlformats.org/officeDocument/2006/relationships/notesMaster" Target="/ppt/notesMasters/notesMaster1.xml" Id="Rb5bfb667fffb41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Rainfall and Drought Impact Monitoring. This lesson begins with one principle: rainfall anomalies require exposure and impact evidence. We will connect that principle to an accountable agricultural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V7_A_N08,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Rainfall anomalies require exposure and impact evidence. The five controls shown here are Rainfall anomaly, Crop calendar, Exposure, Observed impact, Referral rule. Together, they prevent an agricultural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V7_A_N08,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rainfall anomaly, move through crop calendar and exposure, and finish with observed impact and referral rule.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V7_A_N08,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agricultural example. A rainfall deficit is corroborated with crop calendars and field observations before referral.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V7_A_N08,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Join climate and agricultural evidence, then test drought escalation conditions.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V7_A_N08,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agricultural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V7_A_N08,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V7_A_N08,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rainfall anomaly clear? Is crop calendar documented? Is exposure testable? Is observed impact governed? And is referral rule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V7_A_N08,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98524c9b2241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6b372c964940b0" /><Relationship Type="http://schemas.openxmlformats.org/officeDocument/2006/relationships/slideLayout" Target="/ppt/slideLayouts/slideLayout1.xml" Id="R80d23604d5ac48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d23604d5ac48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f0520df14e49e7" /><Relationship Type="http://schemas.openxmlformats.org/officeDocument/2006/relationships/notesSlide" Target="/ppt/notesSlides/notesSlide1.xml" Id="Re6d602d23a604a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917aaf311c469c" /><Relationship Type="http://schemas.openxmlformats.org/officeDocument/2006/relationships/notesSlide" Target="/ppt/notesSlides/notesSlide2.xml" Id="R3285a1253d8644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32260d7d004e25" /><Relationship Type="http://schemas.openxmlformats.org/officeDocument/2006/relationships/notesSlide" Target="/ppt/notesSlides/notesSlide3.xml" Id="R68b66a3e682d41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901301cdd64147" /><Relationship Type="http://schemas.openxmlformats.org/officeDocument/2006/relationships/notesSlide" Target="/ppt/notesSlides/notesSlide4.xml" Id="R6c01b1e2bfb343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1374598c4ed4ac0" /><Relationship Type="http://schemas.openxmlformats.org/officeDocument/2006/relationships/notesSlide" Target="/ppt/notesSlides/notesSlide5.xml" Id="R680aeef3d0b542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ab984f8c4041ff" /><Relationship Type="http://schemas.openxmlformats.org/officeDocument/2006/relationships/notesSlide" Target="/ppt/notesSlides/notesSlide6.xml" Id="R9baff76ee06f40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99e7d9c1db4a6a" /><Relationship Type="http://schemas.openxmlformats.org/officeDocument/2006/relationships/notesSlide" Target="/ppt/notesSlides/notesSlide7.xml" Id="R07f22725b5fc4c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846a64e41f489d" /><Relationship Type="http://schemas.openxmlformats.org/officeDocument/2006/relationships/notesSlide" Target="/ppt/notesSlides/notesSlide8.xml" Id="R40f4c8a39ec647ec"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654B91-1E50-4153-A768-F24171D18AE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2CB80E72-E756-45D2-8AA9-91D1E18A0A0B}"/>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E36E1AC1-71B4-4CB1-9400-9D1000FAD816}"/>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3EE4F314-9B83-45C6-9AD7-86941452B075}"/>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AGRICULTURE TRACK</a:t>
            </a:r>
          </a:p>
        </p:txBody>
      </p:sp>
      <p:sp>
        <p:nvSpPr>
          <p:cNvPr id="5" name="">
            <a:extLst xmlns:a="http://schemas.openxmlformats.org/drawingml/2006/main">
              <a:ext uri="{FF2B5EF4-FFF2-40B4-BE49-F238E27FC236}">
                <a16:creationId xmlns:a16="http://schemas.microsoft.com/office/drawing/2014/main" id="{D6E9F136-44E8-4609-890C-59B9248C94D1}"/>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RAINFALL AND DROUGHT IMPACT MONITORING</a:t>
            </a:r>
          </a:p>
        </p:txBody>
      </p:sp>
      <p:sp>
        <p:nvSpPr>
          <p:cNvPr id="6" name="">
            <a:extLst xmlns:a="http://schemas.openxmlformats.org/drawingml/2006/main">
              <a:ext uri="{FF2B5EF4-FFF2-40B4-BE49-F238E27FC236}">
                <a16:creationId xmlns:a16="http://schemas.microsoft.com/office/drawing/2014/main" id="{84D782AE-E425-4012-90EB-C8898196B766}"/>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Rainfall anomalies require exposure and impact evidence.</a:t>
            </a:r>
          </a:p>
        </p:txBody>
      </p:sp>
      <p:sp>
        <p:nvSpPr>
          <p:cNvPr id="7" name="">
            <a:extLst xmlns:a="http://schemas.openxmlformats.org/drawingml/2006/main">
              <a:ext uri="{FF2B5EF4-FFF2-40B4-BE49-F238E27FC236}">
                <a16:creationId xmlns:a16="http://schemas.microsoft.com/office/drawing/2014/main" id="{4BE2D7B6-16DE-44FC-9205-EC964B9DD480}"/>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V7_A_N08</a:t>
            </a:r>
          </a:p>
        </p:txBody>
      </p:sp>
      <p:sp>
        <p:nvSpPr>
          <p:cNvPr id="8" name="">
            <a:extLst xmlns:a="http://schemas.openxmlformats.org/drawingml/2006/main">
              <a:ext uri="{FF2B5EF4-FFF2-40B4-BE49-F238E27FC236}">
                <a16:creationId xmlns:a16="http://schemas.microsoft.com/office/drawing/2014/main" id="{88EE3DF2-3ED8-4174-8802-A2313D6183E3}"/>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PU-B07-C13</a:t>
            </a:r>
          </a:p>
        </p:txBody>
      </p:sp>
      <p:sp>
        <p:nvSpPr>
          <p:cNvPr id="9" name="">
            <a:extLst xmlns:a="http://schemas.openxmlformats.org/drawingml/2006/main">
              <a:ext uri="{FF2B5EF4-FFF2-40B4-BE49-F238E27FC236}">
                <a16:creationId xmlns:a16="http://schemas.microsoft.com/office/drawing/2014/main" id="{62A94332-8986-4F4E-BE5B-80056C02F555}"/>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BCE9727E-6CB7-47E9-8094-0A6E92976501}"/>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473691992"/>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B3131F7-1EED-44E2-85B2-C2C5E59E31D8}"/>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V7_A_N08</a:t>
            </a:r>
          </a:p>
        </p:txBody>
      </p:sp>
      <p:sp>
        <p:nvSpPr>
          <p:cNvPr id="2" name="">
            <a:extLst xmlns:a="http://schemas.openxmlformats.org/drawingml/2006/main">
              <a:ext uri="{FF2B5EF4-FFF2-40B4-BE49-F238E27FC236}">
                <a16:creationId xmlns:a16="http://schemas.microsoft.com/office/drawing/2014/main" id="{C9CB557F-E86D-4A55-BCAD-1080EE6D1B4F}"/>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3693FBA6-A3B0-435E-BA10-0466A8C5D6F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463356B-2233-4B98-BC82-097D90035A23}"/>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DE649EBD-6663-4608-AB6C-ABE0C56BFF59}"/>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Rainfall anomalies require exposure and impact evidence.</a:t>
            </a:r>
          </a:p>
        </p:txBody>
      </p:sp>
      <p:sp>
        <p:nvSpPr>
          <p:cNvPr id="6" name="">
            <a:extLst xmlns:a="http://schemas.openxmlformats.org/drawingml/2006/main">
              <a:ext uri="{FF2B5EF4-FFF2-40B4-BE49-F238E27FC236}">
                <a16:creationId xmlns:a16="http://schemas.microsoft.com/office/drawing/2014/main" id="{FD988D7E-50F6-4B98-A5A6-CA2D51D5B930}"/>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99AD77D1-F5A0-4E5B-9BF8-14CC972D7C0C}"/>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E2EBF7E6-FB42-460D-9FB8-0DE49AB5EF60}"/>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Rainfall anomaly</a:t>
            </a:r>
          </a:p>
        </p:txBody>
      </p:sp>
      <p:sp>
        <p:nvSpPr>
          <p:cNvPr id="9" name="">
            <a:extLst xmlns:a="http://schemas.openxmlformats.org/drawingml/2006/main">
              <a:ext uri="{FF2B5EF4-FFF2-40B4-BE49-F238E27FC236}">
                <a16:creationId xmlns:a16="http://schemas.microsoft.com/office/drawing/2014/main" id="{3920933E-164C-4133-9A2A-C11196B2924F}"/>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99C9D082-6EF6-4F1D-A537-C956F8DA3B95}"/>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Crop calendar</a:t>
            </a:r>
          </a:p>
        </p:txBody>
      </p:sp>
      <p:sp>
        <p:nvSpPr>
          <p:cNvPr id="11" name="">
            <a:extLst xmlns:a="http://schemas.openxmlformats.org/drawingml/2006/main">
              <a:ext uri="{FF2B5EF4-FFF2-40B4-BE49-F238E27FC236}">
                <a16:creationId xmlns:a16="http://schemas.microsoft.com/office/drawing/2014/main" id="{90F0BCCF-801C-410F-98B7-3EC81EA82A7E}"/>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39D84217-4D80-4E3A-A140-FA84743FC4DE}"/>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Exposure</a:t>
            </a:r>
          </a:p>
        </p:txBody>
      </p:sp>
      <p:sp>
        <p:nvSpPr>
          <p:cNvPr id="13" name="">
            <a:extLst xmlns:a="http://schemas.openxmlformats.org/drawingml/2006/main">
              <a:ext uri="{FF2B5EF4-FFF2-40B4-BE49-F238E27FC236}">
                <a16:creationId xmlns:a16="http://schemas.microsoft.com/office/drawing/2014/main" id="{687E550E-DDD7-4F41-8027-C50FDAAF5E07}"/>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0435D76E-3C1E-475D-9CE0-AF4D7524C6A8}"/>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Observed impact</a:t>
            </a:r>
          </a:p>
        </p:txBody>
      </p:sp>
      <p:sp>
        <p:nvSpPr>
          <p:cNvPr id="15" name="">
            <a:extLst xmlns:a="http://schemas.openxmlformats.org/drawingml/2006/main">
              <a:ext uri="{FF2B5EF4-FFF2-40B4-BE49-F238E27FC236}">
                <a16:creationId xmlns:a16="http://schemas.microsoft.com/office/drawing/2014/main" id="{601E2AC9-9721-43BD-A9A1-F3C52B5ADBB5}"/>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6DEEB973-141D-4981-AF1D-3B3DDC4699F1}"/>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Referral rule</a:t>
            </a:r>
          </a:p>
        </p:txBody>
      </p:sp>
      <p:sp>
        <p:nvSpPr>
          <p:cNvPr id="17" name="">
            <a:extLst xmlns:a="http://schemas.openxmlformats.org/drawingml/2006/main">
              <a:ext uri="{FF2B5EF4-FFF2-40B4-BE49-F238E27FC236}">
                <a16:creationId xmlns:a16="http://schemas.microsoft.com/office/drawing/2014/main" id="{4139C935-609B-4DEB-9940-DAA9EE19A517}"/>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882757848"/>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D472CC0-626E-490B-920B-F7C0B528DE85}"/>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V7_A_N08</a:t>
            </a:r>
          </a:p>
        </p:txBody>
      </p:sp>
      <p:sp>
        <p:nvSpPr>
          <p:cNvPr id="2" name="">
            <a:extLst xmlns:a="http://schemas.openxmlformats.org/drawingml/2006/main">
              <a:ext uri="{FF2B5EF4-FFF2-40B4-BE49-F238E27FC236}">
                <a16:creationId xmlns:a16="http://schemas.microsoft.com/office/drawing/2014/main" id="{D7E217A6-5FF5-4927-9A7E-7B12BF8CCC2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F8DDA234-BE0A-4885-BAA7-1E8E2AC15C0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08F8A90-63F4-4D96-8872-32C938AAB58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34923507-3E89-40C4-8DB3-F23C719DD79E}"/>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841C369D-A47C-4182-B929-2223D0C9E2B7}"/>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02029017-3968-4A9C-91C3-4F80A6F358A0}"/>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Rainfall anomaly</a:t>
            </a:r>
          </a:p>
        </p:txBody>
      </p:sp>
      <p:sp>
        <p:nvSpPr>
          <p:cNvPr id="8" name="">
            <a:extLst xmlns:a="http://schemas.openxmlformats.org/drawingml/2006/main">
              <a:ext uri="{FF2B5EF4-FFF2-40B4-BE49-F238E27FC236}">
                <a16:creationId xmlns:a16="http://schemas.microsoft.com/office/drawing/2014/main" id="{828B5D1C-76A7-4A9B-9BF6-64481A86F2E6}"/>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CB155981-611D-49C2-8084-2FA00C35CFD9}"/>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B4BB037E-6351-464C-AF1D-84AEEB166ACA}"/>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Crop calendar</a:t>
            </a:r>
          </a:p>
        </p:txBody>
      </p:sp>
      <p:sp>
        <p:nvSpPr>
          <p:cNvPr id="11" name="">
            <a:extLst xmlns:a="http://schemas.openxmlformats.org/drawingml/2006/main">
              <a:ext uri="{FF2B5EF4-FFF2-40B4-BE49-F238E27FC236}">
                <a16:creationId xmlns:a16="http://schemas.microsoft.com/office/drawing/2014/main" id="{C76CA8E8-E5A2-4DF1-BC76-4F2B6A097F3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5E6BC4A7-E1CA-411A-8943-7E6108A5B715}"/>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48F1AB8E-D90E-4B1C-A77E-EFC34D527F12}"/>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Exposure</a:t>
            </a:r>
          </a:p>
        </p:txBody>
      </p:sp>
      <p:sp>
        <p:nvSpPr>
          <p:cNvPr id="14" name="">
            <a:extLst xmlns:a="http://schemas.openxmlformats.org/drawingml/2006/main">
              <a:ext uri="{FF2B5EF4-FFF2-40B4-BE49-F238E27FC236}">
                <a16:creationId xmlns:a16="http://schemas.microsoft.com/office/drawing/2014/main" id="{C808014E-F024-402D-B265-5D82A556549C}"/>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76874EC7-EA50-42A5-903C-97442416AE93}"/>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8CFDAC2E-5BE2-46A8-B127-4D8942C9F892}"/>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Observed impact</a:t>
            </a:r>
          </a:p>
        </p:txBody>
      </p:sp>
      <p:sp>
        <p:nvSpPr>
          <p:cNvPr id="17" name="">
            <a:extLst xmlns:a="http://schemas.openxmlformats.org/drawingml/2006/main">
              <a:ext uri="{FF2B5EF4-FFF2-40B4-BE49-F238E27FC236}">
                <a16:creationId xmlns:a16="http://schemas.microsoft.com/office/drawing/2014/main" id="{8A1F4434-E9F2-4E59-B063-04ABF26BDFCA}"/>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F03EE6F7-3486-4A9C-96CE-C1F21B4D8FBB}"/>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87ECA819-82E1-48A2-8DE5-1B243CE73D1A}"/>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Referral rule</a:t>
            </a:r>
          </a:p>
        </p:txBody>
      </p:sp>
      <p:sp>
        <p:nvSpPr>
          <p:cNvPr id="20" name="">
            <a:extLst xmlns:a="http://schemas.openxmlformats.org/drawingml/2006/main">
              <a:ext uri="{FF2B5EF4-FFF2-40B4-BE49-F238E27FC236}">
                <a16:creationId xmlns:a16="http://schemas.microsoft.com/office/drawing/2014/main" id="{165C29E9-7496-43CA-B06D-130EBAAA7D4B}"/>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378076283"/>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1DBD44-036A-4719-92DB-5AF8E7C5B9F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V7_A_N08</a:t>
            </a:r>
          </a:p>
        </p:txBody>
      </p:sp>
      <p:sp>
        <p:nvSpPr>
          <p:cNvPr id="2" name="">
            <a:extLst xmlns:a="http://schemas.openxmlformats.org/drawingml/2006/main">
              <a:ext uri="{FF2B5EF4-FFF2-40B4-BE49-F238E27FC236}">
                <a16:creationId xmlns:a16="http://schemas.microsoft.com/office/drawing/2014/main" id="{79164104-D77F-4353-AD04-A66891474E28}"/>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AA28D911-16E6-47FC-BE8D-A747AC65C01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928C7C0-8EFC-43E7-8001-4BB2063AADC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180E2D3A-8A47-42FD-AFE2-842860CFE7A2}"/>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9C7C0F92-4A56-42B1-AE29-B61255CE664C}"/>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19159CF3-968E-45F5-99A3-C9B4BCD24E75}"/>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rainfall deficit is corroborated with crop calendars and field observations before referral.</a:t>
            </a:r>
          </a:p>
        </p:txBody>
      </p:sp>
      <p:sp>
        <p:nvSpPr>
          <p:cNvPr id="8" name="">
            <a:extLst xmlns:a="http://schemas.openxmlformats.org/drawingml/2006/main">
              <a:ext uri="{FF2B5EF4-FFF2-40B4-BE49-F238E27FC236}">
                <a16:creationId xmlns:a16="http://schemas.microsoft.com/office/drawing/2014/main" id="{6FB7110B-F4A8-4FDA-8690-451CA885271B}"/>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461A5804-E74D-44FE-8D13-DDFE5D09A383}"/>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5945ABAF-7D9D-4A0D-B24E-7637D9F9802E}"/>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7EBBC651-8F37-4BFE-BAB6-92E24AFE40C3}"/>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355876462"/>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02FDD39-6F92-44C2-B5F0-F445AC509A6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V7_A_N08</a:t>
            </a:r>
          </a:p>
        </p:txBody>
      </p:sp>
      <p:sp>
        <p:nvSpPr>
          <p:cNvPr id="2" name="">
            <a:extLst xmlns:a="http://schemas.openxmlformats.org/drawingml/2006/main">
              <a:ext uri="{FF2B5EF4-FFF2-40B4-BE49-F238E27FC236}">
                <a16:creationId xmlns:a16="http://schemas.microsoft.com/office/drawing/2014/main" id="{CD0EAD3D-4A32-4654-A66B-FE2009FD561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8666B623-979F-4A70-915A-E6DEDE24E9E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DA29D8A-514A-41E5-96B6-EAC55FF2E22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FABEF42A-3717-4DFA-86FD-EB44BF97D055}"/>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Join climate and agricultural evidence, then test drought escalation conditions.</a:t>
            </a:r>
          </a:p>
        </p:txBody>
      </p:sp>
      <p:sp>
        <p:nvSpPr>
          <p:cNvPr id="6" name="">
            <a:extLst xmlns:a="http://schemas.openxmlformats.org/drawingml/2006/main">
              <a:ext uri="{FF2B5EF4-FFF2-40B4-BE49-F238E27FC236}">
                <a16:creationId xmlns:a16="http://schemas.microsoft.com/office/drawing/2014/main" id="{5234DB6A-C90A-44D2-B340-CBA93B35ED20}"/>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C59B7646-9F66-4AC8-8950-731A0B9EA338}"/>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B84273B9-F06D-4233-B297-155D4EA34B9E}"/>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CC2FFD8B-7DD2-44E9-B6BD-D3FFC3F33D58}"/>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EC60A764-C39E-46CB-B2E4-802721BBCD52}"/>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4E899E6A-D0E4-40DD-A17A-5AF7E1164711}"/>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02ECBC03-515B-4FBD-9B6B-23B3156CD26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7A19AF4F-51C6-4FAA-986F-E599852E4E21}"/>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C166F2CB-3DB5-44BE-8895-542748EB3B13}"/>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2E5E33D2-C7DD-42C5-9AE6-4DA77FB43A7A}"/>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C098C15C-94A4-4648-8C82-45CEB3B9C77B}"/>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C1504714-9A25-411D-94ED-4FAFE05EE416}"/>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09132724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B5641A1-42E0-4F38-A4C6-DD89C327564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V7_A_N08</a:t>
            </a:r>
          </a:p>
        </p:txBody>
      </p:sp>
      <p:sp>
        <p:nvSpPr>
          <p:cNvPr id="2" name="">
            <a:extLst xmlns:a="http://schemas.openxmlformats.org/drawingml/2006/main">
              <a:ext uri="{FF2B5EF4-FFF2-40B4-BE49-F238E27FC236}">
                <a16:creationId xmlns:a16="http://schemas.microsoft.com/office/drawing/2014/main" id="{8E490C1E-A5FA-478A-ADAC-36ED6CBAA29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1487F129-0690-4B28-95AF-BE86106CD8F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0C2C5D3-F917-4118-AF90-02ED350671F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173E5F74-F075-4323-AF22-AC5CC0258945}"/>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10F1E831-58EF-4AEC-A5D6-A4F8C17DF208}"/>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D8C04A94-4EB5-467E-A0DA-0A5AC8AFDE90}"/>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7E3A63DB-C6FA-4E04-A187-5D4C0491D171}"/>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61EE4000-2896-47D0-A4E1-C4FE4A6567AC}"/>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072E6DB5-E9B6-449C-82D7-84C8F1D028AD}"/>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BD00FE88-FD72-4646-93E9-4847E85808F8}"/>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542BB857-5CAC-40D1-A278-DC290BE0F0D9}"/>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38FBB651-9191-4B9A-A084-0ED5965D4B58}"/>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272F7A4D-8740-41F0-88C8-97C0737644A1}"/>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931218253"/>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9C3676A-AA53-4F98-BEBB-AFE668716AA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V7_A_N08</a:t>
            </a:r>
          </a:p>
        </p:txBody>
      </p:sp>
      <p:sp>
        <p:nvSpPr>
          <p:cNvPr id="2" name="">
            <a:extLst xmlns:a="http://schemas.openxmlformats.org/drawingml/2006/main">
              <a:ext uri="{FF2B5EF4-FFF2-40B4-BE49-F238E27FC236}">
                <a16:creationId xmlns:a16="http://schemas.microsoft.com/office/drawing/2014/main" id="{A8DAA90F-C425-4266-AC1B-9020E0B55EA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2F68C6AC-DDE9-42D6-A237-01CD997E1E8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6E6B3117-B7D4-49E7-A204-6DB16446A617}"/>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076E5DCD-84C3-4BA5-A96E-84449E6C7D9C}"/>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CF476446-5AD3-45E2-8547-D5C9B2C11F9A}"/>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C725A49E-CBD8-48CE-8ADC-432585E112B0}"/>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2E19F482-E69C-4033-B353-A6867BDBBF41}"/>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F67143C6-974A-43E3-A3E2-CE559FCF4A7B}"/>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2F4B5F47-53F3-4CEE-9044-0AE8666477F2}"/>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188698089"/>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BAC97BC-0A50-4706-B99B-8558F15BF9FF}"/>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B57C9269-8283-4FE5-9D9F-C791945EAE80}"/>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EEBA620D-DB06-410B-A71B-C79DADD53986}"/>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Rainfall anomaly</a:t>
            </a:r>
          </a:p>
        </p:txBody>
      </p:sp>
      <p:sp>
        <p:nvSpPr>
          <p:cNvPr id="4" name="">
            <a:extLst xmlns:a="http://schemas.openxmlformats.org/drawingml/2006/main">
              <a:ext uri="{FF2B5EF4-FFF2-40B4-BE49-F238E27FC236}">
                <a16:creationId xmlns:a16="http://schemas.microsoft.com/office/drawing/2014/main" id="{A66F7895-05F2-40F4-B239-92CF0E8A298B}"/>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F4267690-B704-4648-BC56-84E1AB977FFE}"/>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Crop calendar</a:t>
            </a:r>
          </a:p>
        </p:txBody>
      </p:sp>
      <p:sp>
        <p:nvSpPr>
          <p:cNvPr id="6" name="">
            <a:extLst xmlns:a="http://schemas.openxmlformats.org/drawingml/2006/main">
              <a:ext uri="{FF2B5EF4-FFF2-40B4-BE49-F238E27FC236}">
                <a16:creationId xmlns:a16="http://schemas.microsoft.com/office/drawing/2014/main" id="{0CCDCA0D-A8F3-4181-A72C-FECAB7501470}"/>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91DFF939-AA7E-4723-B619-FEB9D75D7E17}"/>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Exposure</a:t>
            </a:r>
          </a:p>
        </p:txBody>
      </p:sp>
      <p:sp>
        <p:nvSpPr>
          <p:cNvPr id="8" name="">
            <a:extLst xmlns:a="http://schemas.openxmlformats.org/drawingml/2006/main">
              <a:ext uri="{FF2B5EF4-FFF2-40B4-BE49-F238E27FC236}">
                <a16:creationId xmlns:a16="http://schemas.microsoft.com/office/drawing/2014/main" id="{D65F67B4-0B98-4638-B881-6D304336C7D5}"/>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EC801574-0408-4C20-9766-274B8E1B2AD4}"/>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Observed impact</a:t>
            </a:r>
          </a:p>
        </p:txBody>
      </p:sp>
      <p:sp>
        <p:nvSpPr>
          <p:cNvPr id="10" name="">
            <a:extLst xmlns:a="http://schemas.openxmlformats.org/drawingml/2006/main">
              <a:ext uri="{FF2B5EF4-FFF2-40B4-BE49-F238E27FC236}">
                <a16:creationId xmlns:a16="http://schemas.microsoft.com/office/drawing/2014/main" id="{E9B82772-2F98-4872-8DC1-BDF1BB3B963F}"/>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D740B0A3-55F5-44E6-81DF-3304F1D9FB08}"/>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Referral rule</a:t>
            </a:r>
          </a:p>
        </p:txBody>
      </p:sp>
      <p:sp>
        <p:nvSpPr>
          <p:cNvPr id="12" name="">
            <a:extLst xmlns:a="http://schemas.openxmlformats.org/drawingml/2006/main">
              <a:ext uri="{FF2B5EF4-FFF2-40B4-BE49-F238E27FC236}">
                <a16:creationId xmlns:a16="http://schemas.microsoft.com/office/drawing/2014/main" id="{02FFBDD3-B1A2-45F5-8388-69F45AC84291}"/>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523257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2026-09-04T14:39:45.0570000Z</dcterms:created>
  <dcterms:modified xsi:type="dcterms:W3CDTF">2026-09-04T14:39:45.0570000Z</dcterms:modified>
</coreProperties>
</file>