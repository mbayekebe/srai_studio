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4efc4fe6434b49a3" /><Relationship Type="http://schemas.openxmlformats.org/officeDocument/2006/relationships/extended-properties" Target="/docProps/app.xml" Id="Re2cf77c893524b14" /><Relationship Type="http://schemas.openxmlformats.org/officeDocument/2006/relationships/officeDocument" Target="/ppt/presentation.xml" Id="R6db6a112bd8b46e5" /></Relationships>
</file>

<file path=ppt/presentation.xml><?xml version="1.0" encoding="utf-8"?>
<p:presentation xmlns:p="http://schemas.openxmlformats.org/presentationml/2006/main">
  <p:sldMasterIdLst>
    <p:sldMasterId xmlns:r="http://schemas.openxmlformats.org/officeDocument/2006/relationships" id="2147483648" r:id="R0c9cf553ac0c44b1"/>
  </p:sldMasterIdLst>
  <p:notesMasterIdLst>
    <p:notesMasterId xmlns:r="http://schemas.openxmlformats.org/officeDocument/2006/relationships" r:id="Rfd6e2ef9d93c4a66"/>
  </p:notesMasterIdLst>
  <p:sldIdLst>
    <p:sldId xmlns:r="http://schemas.openxmlformats.org/officeDocument/2006/relationships" id="256" r:id="Rc677877bc2a547c1"/>
    <p:sldId xmlns:r="http://schemas.openxmlformats.org/officeDocument/2006/relationships" id="257" r:id="R6897970465a24d4a"/>
    <p:sldId xmlns:r="http://schemas.openxmlformats.org/officeDocument/2006/relationships" id="258" r:id="R8b506fc84c0a4d9e"/>
    <p:sldId xmlns:r="http://schemas.openxmlformats.org/officeDocument/2006/relationships" id="259" r:id="R5e318cdea0784a2f"/>
    <p:sldId xmlns:r="http://schemas.openxmlformats.org/officeDocument/2006/relationships" id="260" r:id="R791f8c70075e4902"/>
    <p:sldId xmlns:r="http://schemas.openxmlformats.org/officeDocument/2006/relationships" id="261" r:id="R4f9a8901a55d4818"/>
    <p:sldId xmlns:r="http://schemas.openxmlformats.org/officeDocument/2006/relationships" id="262" r:id="R305f541605c74cba"/>
    <p:sldId xmlns:r="http://schemas.openxmlformats.org/officeDocument/2006/relationships" id="263" r:id="Rf7dca8b670774db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374eba27d5e4bcc" /><Relationship Type="http://schemas.openxmlformats.org/officeDocument/2006/relationships/slideMaster" Target="/ppt/slideMasters/slideMaster1.xml" Id="R0c9cf553ac0c44b1" /><Relationship Type="http://schemas.openxmlformats.org/officeDocument/2006/relationships/notesMaster" Target="/ppt/notesMasters/notesMaster1.xml" Id="Rfd6e2ef9d93c4a66" /><Relationship Type="http://schemas.openxmlformats.org/officeDocument/2006/relationships/presProps" Target="/ppt/presProps.xml" Id="Rad91222029684888" /><Relationship Type="http://schemas.openxmlformats.org/officeDocument/2006/relationships/tableStyles" Target="/ppt/tableStyles.xml" Id="R5e3e352b6dbb45ce" /><Relationship Type="http://schemas.openxmlformats.org/officeDocument/2006/relationships/slide" Target="/ppt/slides/slide1.xml" Id="Rc677877bc2a547c1" /><Relationship Type="http://schemas.openxmlformats.org/officeDocument/2006/relationships/slide" Target="/ppt/slides/slide2.xml" Id="R6897970465a24d4a" /><Relationship Type="http://schemas.openxmlformats.org/officeDocument/2006/relationships/slide" Target="/ppt/slides/slide3.xml" Id="R8b506fc84c0a4d9e" /><Relationship Type="http://schemas.openxmlformats.org/officeDocument/2006/relationships/slide" Target="/ppt/slides/slide4.xml" Id="R5e318cdea0784a2f" /><Relationship Type="http://schemas.openxmlformats.org/officeDocument/2006/relationships/slide" Target="/ppt/slides/slide5.xml" Id="R791f8c70075e4902" /><Relationship Type="http://schemas.openxmlformats.org/officeDocument/2006/relationships/slide" Target="/ppt/slides/slide6.xml" Id="R4f9a8901a55d4818" /><Relationship Type="http://schemas.openxmlformats.org/officeDocument/2006/relationships/slide" Target="/ppt/slides/slide7.xml" Id="R305f541605c74cba" /><Relationship Type="http://schemas.openxmlformats.org/officeDocument/2006/relationships/slide" Target="/ppt/slides/slide8.xml" Id="Rf7dca8b670774db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4834092f8f7942f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10bc3112aea40ee" /><Relationship Type="http://schemas.openxmlformats.org/officeDocument/2006/relationships/notesMaster" Target="/ppt/notesMasters/notesMaster1.xml" Id="Rc06bdfef1e904683" /></Relationships>
</file>

<file path=ppt/notesSlides/_rels/notesSlide2.xml.rels>&#65279;<?xml version="1.0" encoding="utf-8"?><Relationships xmlns="http://schemas.openxmlformats.org/package/2006/relationships"><Relationship Type="http://schemas.openxmlformats.org/officeDocument/2006/relationships/slide" Target="/ppt/slides/slide2.xml" Id="R6689f08933bd45f1" /><Relationship Type="http://schemas.openxmlformats.org/officeDocument/2006/relationships/notesMaster" Target="/ppt/notesMasters/notesMaster1.xml" Id="R3e4df5e9a1914b46" /></Relationships>
</file>

<file path=ppt/notesSlides/_rels/notesSlide3.xml.rels>&#65279;<?xml version="1.0" encoding="utf-8"?><Relationships xmlns="http://schemas.openxmlformats.org/package/2006/relationships"><Relationship Type="http://schemas.openxmlformats.org/officeDocument/2006/relationships/slide" Target="/ppt/slides/slide3.xml" Id="R8daa54a08b9441f7" /><Relationship Type="http://schemas.openxmlformats.org/officeDocument/2006/relationships/notesMaster" Target="/ppt/notesMasters/notesMaster1.xml" Id="R3c8863e38ecb4d41" /></Relationships>
</file>

<file path=ppt/notesSlides/_rels/notesSlide4.xml.rels>&#65279;<?xml version="1.0" encoding="utf-8"?><Relationships xmlns="http://schemas.openxmlformats.org/package/2006/relationships"><Relationship Type="http://schemas.openxmlformats.org/officeDocument/2006/relationships/slide" Target="/ppt/slides/slide4.xml" Id="Rdaf0a55fa7cc4687" /><Relationship Type="http://schemas.openxmlformats.org/officeDocument/2006/relationships/notesMaster" Target="/ppt/notesMasters/notesMaster1.xml" Id="Re8903b55d3d346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55ba97c74f6a491b" /><Relationship Type="http://schemas.openxmlformats.org/officeDocument/2006/relationships/notesMaster" Target="/ppt/notesMasters/notesMaster1.xml" Id="R46745b9fbef64743" /></Relationships>
</file>

<file path=ppt/notesSlides/_rels/notesSlide6.xml.rels>&#65279;<?xml version="1.0" encoding="utf-8"?><Relationships xmlns="http://schemas.openxmlformats.org/package/2006/relationships"><Relationship Type="http://schemas.openxmlformats.org/officeDocument/2006/relationships/slide" Target="/ppt/slides/slide6.xml" Id="R4acd1d38aef14651" /><Relationship Type="http://schemas.openxmlformats.org/officeDocument/2006/relationships/notesMaster" Target="/ppt/notesMasters/notesMaster1.xml" Id="Ra203c3f30ab5489f" /></Relationships>
</file>

<file path=ppt/notesSlides/_rels/notesSlide7.xml.rels>&#65279;<?xml version="1.0" encoding="utf-8"?><Relationships xmlns="http://schemas.openxmlformats.org/package/2006/relationships"><Relationship Type="http://schemas.openxmlformats.org/officeDocument/2006/relationships/slide" Target="/ppt/slides/slide7.xml" Id="R49164de203134986" /><Relationship Type="http://schemas.openxmlformats.org/officeDocument/2006/relationships/notesMaster" Target="/ppt/notesMasters/notesMaster1.xml" Id="R032db8f4e51a4862"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3fffb79cd14448" /><Relationship Type="http://schemas.openxmlformats.org/officeDocument/2006/relationships/notesMaster" Target="/ppt/notesMasters/notesMaster1.xml" Id="R3f2fcb79d88547f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Welcome to Earn the Model’s Complexity. This lesson begins with one principle: complexity is justified only by future, decision-relevant evidence. We will connect that principle to an accountable institutional decision and make it testable in the companion notebook.</a:t>
            </a:r>
          </a:p>
          <a:p xmlns:a="http://schemas.openxmlformats.org/drawingml/2006/main">
            <a:r>
              <a:t/>
            </a:r>
          </a:p>
          <a:p xmlns:a="http://schemas.openxmlformats.org/drawingml/2006/main">
            <a:r>
              <a:t>[Sources]</a:t>
            </a:r>
          </a:p>
          <a:p xmlns:a="http://schemas.openxmlformats.org/drawingml/2006/main">
            <a:r>
              <a:t>- Canonical notebook V7_0_N04,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Complexity is justified only by future, decision-relevant evidence. The five controls shown here are Time-aware validation, Transparent baselines, Calibration, Interval coverage, Stress and retirement tests. Together, they prevent an analytical result from being mistaken for an authorized decision.</a:t>
            </a:r>
          </a:p>
          <a:p xmlns:a="http://schemas.openxmlformats.org/drawingml/2006/main">
            <a:r>
              <a:t/>
            </a:r>
          </a:p>
          <a:p xmlns:a="http://schemas.openxmlformats.org/drawingml/2006/main">
            <a:r>
              <a:t>[Sources]</a:t>
            </a:r>
          </a:p>
          <a:p xmlns:a="http://schemas.openxmlformats.org/drawingml/2006/main">
            <a:r>
              <a:t>- Canonical notebook V7_0_N04,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five controls form one operating chain. We begin with time-aware validation, move through transparent baselines and calibration, and finish with interval coverage and stress and retirement tests. Every control must be explicit, reviewable, and owned.</a:t>
            </a:r>
          </a:p>
          <a:p xmlns:a="http://schemas.openxmlformats.org/drawingml/2006/main">
            <a:r>
              <a:t/>
            </a:r>
          </a:p>
          <a:p xmlns:a="http://schemas.openxmlformats.org/drawingml/2006/main">
            <a:r>
              <a:t>[Sources]</a:t>
            </a:r>
          </a:p>
          <a:p xmlns:a="http://schemas.openxmlformats.org/drawingml/2006/main">
            <a:r>
              <a:t>- Canonical notebook V7_0_N04,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Consider this example. Compare a seasonal regression with last-value, seasonal-history, and trend baselines on future periods. The analytical system may organize evidence, flag uncertainty, and route a case for authorized review. It may not take the consequential action on its own.</a:t>
            </a:r>
          </a:p>
          <a:p xmlns:a="http://schemas.openxmlformats.org/drawingml/2006/main">
            <a:r>
              <a:t/>
            </a:r>
          </a:p>
          <a:p xmlns:a="http://schemas.openxmlformats.org/drawingml/2006/main">
            <a:r>
              <a:t>[Sources]</a:t>
            </a:r>
          </a:p>
          <a:p xmlns:a="http://schemas.openxmlformats.org/drawingml/2006/main">
            <a:r>
              <a:t>- Canonical notebook V7_0_N04,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notebook converts the lesson into executable evidence. Evaluate holdout error, interval width and coverage, stress cases, and retirement triggers. As you review the saved outputs, focus on what the system can establish, what remains uncertain, and the condition that requires abstention or escalation.</a:t>
            </a:r>
          </a:p>
          <a:p xmlns:a="http://schemas.openxmlformats.org/drawingml/2006/main">
            <a:r>
              <a:t/>
            </a:r>
          </a:p>
          <a:p xmlns:a="http://schemas.openxmlformats.org/drawingml/2006/main">
            <a:r>
              <a:t>[Sources]</a:t>
            </a:r>
          </a:p>
          <a:p xmlns:a="http://schemas.openxmlformats.org/drawingml/2006/main">
            <a:r>
              <a:t>- Canonical notebook V7_0_N04,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Now transfer the contract to another sector. Name the decision owner and lawful action. Define the evidence, horizon, and failure conditions. Then state when the system must abstain, escalate, be monitored, or be retired. A strong answer keeps human authority visible.</a:t>
            </a:r>
          </a:p>
          <a:p xmlns:a="http://schemas.openxmlformats.org/drawingml/2006/main">
            <a:r>
              <a:t/>
            </a:r>
          </a:p>
          <a:p xmlns:a="http://schemas.openxmlformats.org/drawingml/2006/main">
            <a:r>
              <a:t>[Sources]</a:t>
            </a:r>
          </a:p>
          <a:p xmlns:a="http://schemas.openxmlformats.org/drawingml/2006/main">
            <a:r>
              <a:t>- Canonical notebook V7_0_N04,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These guardrails are functional requirements. Evidence provenance must be preserved. Uncertainty must be visible. Human review, override, incident response, and retirement must be defined. Silent delegation, automatic consequential action, and false precision are not acceptable.</a:t>
            </a:r>
          </a:p>
          <a:p xmlns:a="http://schemas.openxmlformats.org/drawingml/2006/main">
            <a:r>
              <a:t/>
            </a:r>
          </a:p>
          <a:p xmlns:a="http://schemas.openxmlformats.org/drawingml/2006/main">
            <a:r>
              <a:t>[Sources]</a:t>
            </a:r>
          </a:p>
          <a:p xmlns:a="http://schemas.openxmlformats.org/drawingml/2006/main">
            <a:r>
              <a:t>- Canonical notebook V7_0_N04,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Before deployment, ask five questions. Is time-aware validation clear? Is transparent baselines documented? Is calibration testable? Is interval coverage governed? And is stress and retirement tests explicit? If one critical answer is missing, pause and refer the system for review.</a:t>
            </a:r>
          </a:p>
          <a:p xmlns:a="http://schemas.openxmlformats.org/drawingml/2006/main">
            <a:r>
              <a:t/>
            </a:r>
          </a:p>
          <a:p xmlns:a="http://schemas.openxmlformats.org/drawingml/2006/main">
            <a:r>
              <a:t>[Sources]</a:t>
            </a:r>
          </a:p>
          <a:p xmlns:a="http://schemas.openxmlformats.org/drawingml/2006/main">
            <a:r>
              <a:t>- Canonical notebook V7_0_N04, SRAI Book 7 v1.0.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9887f25a8e47c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ca5b534c9434f98" /><Relationship Type="http://schemas.openxmlformats.org/officeDocument/2006/relationships/slideLayout" Target="/ppt/slideLayouts/slideLayout1.xml" Id="Rea613732eb604b7f"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a613732eb604b7f"/>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8d9bf696af14bfc" /><Relationship Type="http://schemas.openxmlformats.org/officeDocument/2006/relationships/notesSlide" Target="/ppt/notesSlides/notesSlide1.xml" Id="Ra11672663e24459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4d5242062d04636" /><Relationship Type="http://schemas.openxmlformats.org/officeDocument/2006/relationships/notesSlide" Target="/ppt/notesSlides/notesSlide2.xml" Id="R5957204d64804dd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3a6f3c1d44634fc9" /><Relationship Type="http://schemas.openxmlformats.org/officeDocument/2006/relationships/notesSlide" Target="/ppt/notesSlides/notesSlide3.xml" Id="Rffca19ae35034c2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dded44b6d3e4fd5" /><Relationship Type="http://schemas.openxmlformats.org/officeDocument/2006/relationships/notesSlide" Target="/ppt/notesSlides/notesSlide4.xml" Id="R3fb887e4bbd74aa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9f33d45f083411c" /><Relationship Type="http://schemas.openxmlformats.org/officeDocument/2006/relationships/notesSlide" Target="/ppt/notesSlides/notesSlide5.xml" Id="Rcf797bd5bffa4458"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1e20e1ae37d64caa" /><Relationship Type="http://schemas.openxmlformats.org/officeDocument/2006/relationships/notesSlide" Target="/ppt/notesSlides/notesSlide6.xml" Id="R5d41157452df4e4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6170d8e979f4e0f" /><Relationship Type="http://schemas.openxmlformats.org/officeDocument/2006/relationships/notesSlide" Target="/ppt/notesSlides/notesSlide7.xml" Id="R91925e1326a14f8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505c60c4ed247d4" /><Relationship Type="http://schemas.openxmlformats.org/officeDocument/2006/relationships/notesSlide" Target="/ppt/notesSlides/notesSlide8.xml" Id="R52b5ceb9b9dc4724" /></Relationships>
</file>

<file path=ppt/slides/slide1.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3D50381-DEB6-4E52-9657-45C92081CFCB}"/>
              </a:ext>
            </a:extLst>
          </p:cNvPr>
          <p:cNvSpPr>
            <a:spLocks xmlns:a="http://schemas.openxmlformats.org/drawingml/2006/main" noGrp="1"/>
          </p:cNvSpPr>
          <p:nvPr/>
        </p:nvSpPr>
        <p:spPr>
          <a:xfrm xmlns:a="http://schemas.openxmlformats.org/drawingml/2006/main">
            <a:off x="0" y="0"/>
            <a:ext cx="171450" cy="6858000"/>
          </a:xfrm>
          <a:prstGeom xmlns:a="http://schemas.openxmlformats.org/drawingml/2006/main" prst="rect">
            <a:avLst/>
          </a:prstGeom>
          <a:solidFill xmlns:a="http://schemas.openxmlformats.org/drawingml/2006/main">
            <a:srgbClr val="DCA24A"/>
          </a:solidFill>
          <a:ln xmlns:a="http://schemas.openxmlformats.org/drawingml/2006/main" w="9525">
            <a:solidFill>
              <a:srgbClr val="DCA24A"/>
            </a:solidFill>
            <a:prstDash val="solid"/>
          </a:ln>
        </p:spPr>
      </p:sp>
      <p:sp>
        <p:nvSpPr>
          <p:cNvPr id="2" name="">
            <a:extLst xmlns:a="http://schemas.openxmlformats.org/drawingml/2006/main">
              <a:ext uri="{FF2B5EF4-FFF2-40B4-BE49-F238E27FC236}">
                <a16:creationId xmlns:a16="http://schemas.microsoft.com/office/drawing/2014/main" id="{6CCCACE6-3277-4AA8-BF2F-AE0935E4BAB0}"/>
              </a:ext>
            </a:extLst>
          </p:cNvPr>
          <p:cNvSpPr>
            <a:spLocks xmlns:a="http://schemas.openxmlformats.org/drawingml/2006/main" noGrp="1"/>
          </p:cNvSpPr>
          <p:nvPr/>
        </p:nvSpPr>
        <p:spPr>
          <a:xfrm xmlns:a="http://schemas.openxmlformats.org/drawingml/2006/main">
            <a:off x="8286750" y="0"/>
            <a:ext cx="3905250" cy="6858000"/>
          </a:xfrm>
          <a:prstGeom xmlns:a="http://schemas.openxmlformats.org/drawingml/2006/main" prst="rect">
            <a:avLst/>
          </a:prstGeom>
          <a:solidFill xmlns:a="http://schemas.openxmlformats.org/drawingml/2006/main">
            <a:srgbClr val="0B2E45"/>
          </a:solidFill>
          <a:ln xmlns:a="http://schemas.openxmlformats.org/drawingml/2006/main" w="9525">
            <a:solidFill>
              <a:srgbClr val="0B2E45"/>
            </a:solidFill>
            <a:prstDash val="solid"/>
          </a:ln>
        </p:spPr>
      </p:sp>
      <p:sp>
        <p:nvSpPr>
          <p:cNvPr id="3" name="">
            <a:extLst xmlns:a="http://schemas.openxmlformats.org/drawingml/2006/main">
              <a:ext uri="{FF2B5EF4-FFF2-40B4-BE49-F238E27FC236}">
                <a16:creationId xmlns:a16="http://schemas.microsoft.com/office/drawing/2014/main" id="{9AF31B1D-F9A7-4150-A2F8-84EAA8719D5F}"/>
              </a:ext>
            </a:extLst>
          </p:cNvPr>
          <p:cNvSpPr>
            <a:spLocks xmlns:a="http://schemas.openxmlformats.org/drawingml/2006/main" noGrp="1"/>
          </p:cNvSpPr>
          <p:nvPr/>
        </p:nvSpPr>
        <p:spPr>
          <a:xfrm xmlns:a="http://schemas.openxmlformats.org/drawingml/2006/main">
            <a:off x="552450" y="381000"/>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75" b="1">
                <a:solidFill>
                  <a:srgbClr val="2AA79B"/>
                </a:solidFill>
              </a:defRPr>
            </a:pPr>
            <a:r>
              <a:rPr sz="1275" b="1">
                <a:solidFill>
                  <a:srgbClr val="2AA79B"/>
                </a:solidFill>
              </a:rPr>
              <a:t>SRAI</a:t>
            </a:r>
          </a:p>
        </p:txBody>
      </p:sp>
      <p:sp>
        <p:nvSpPr>
          <p:cNvPr id="4" name="">
            <a:extLst xmlns:a="http://schemas.openxmlformats.org/drawingml/2006/main">
              <a:ext uri="{FF2B5EF4-FFF2-40B4-BE49-F238E27FC236}">
                <a16:creationId xmlns:a16="http://schemas.microsoft.com/office/drawing/2014/main" id="{B249BE7F-B128-4CDB-BC89-1C29FFE092CE}"/>
              </a:ext>
            </a:extLst>
          </p:cNvPr>
          <p:cNvSpPr>
            <a:spLocks xmlns:a="http://schemas.openxmlformats.org/drawingml/2006/main" noGrp="1"/>
          </p:cNvSpPr>
          <p:nvPr/>
        </p:nvSpPr>
        <p:spPr>
          <a:xfrm xmlns:a="http://schemas.openxmlformats.org/drawingml/2006/main">
            <a:off x="552450" y="990600"/>
            <a:ext cx="3810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DCA24A"/>
                </a:solidFill>
              </a:defRPr>
            </a:pPr>
            <a:r>
              <a:rPr sz="1200" b="1">
                <a:solidFill>
                  <a:srgbClr val="DCA24A"/>
                </a:solidFill>
              </a:rPr>
              <a:t>COMMON CORE</a:t>
            </a:r>
          </a:p>
        </p:txBody>
      </p:sp>
      <p:sp>
        <p:nvSpPr>
          <p:cNvPr id="5" name="">
            <a:extLst xmlns:a="http://schemas.openxmlformats.org/drawingml/2006/main">
              <a:ext uri="{FF2B5EF4-FFF2-40B4-BE49-F238E27FC236}">
                <a16:creationId xmlns:a16="http://schemas.microsoft.com/office/drawing/2014/main" id="{B044F487-E0B5-4A2A-89D5-BE4F29152415}"/>
              </a:ext>
            </a:extLst>
          </p:cNvPr>
          <p:cNvSpPr>
            <a:spLocks xmlns:a="http://schemas.openxmlformats.org/drawingml/2006/main" noGrp="1"/>
          </p:cNvSpPr>
          <p:nvPr/>
        </p:nvSpPr>
        <p:spPr>
          <a:xfrm xmlns:a="http://schemas.openxmlformats.org/drawingml/2006/main">
            <a:off x="552450" y="1581150"/>
            <a:ext cx="695325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750" b="0">
                <a:solidFill>
                  <a:srgbClr val="F7F4EC"/>
                </a:solidFill>
              </a:defRPr>
            </a:pPr>
            <a:r>
              <a:rPr sz="3750" b="0">
                <a:solidFill>
                  <a:srgbClr val="F7F4EC"/>
                </a:solidFill>
              </a:rPr>
              <a:t>EARN THE MODEL’S COMPLEXITY</a:t>
            </a:r>
          </a:p>
        </p:txBody>
      </p:sp>
      <p:sp>
        <p:nvSpPr>
          <p:cNvPr id="6" name="">
            <a:extLst xmlns:a="http://schemas.openxmlformats.org/drawingml/2006/main">
              <a:ext uri="{FF2B5EF4-FFF2-40B4-BE49-F238E27FC236}">
                <a16:creationId xmlns:a16="http://schemas.microsoft.com/office/drawing/2014/main" id="{48D55F14-BC3D-4EC5-9CF8-426B07624175}"/>
              </a:ext>
            </a:extLst>
          </p:cNvPr>
          <p:cNvSpPr>
            <a:spLocks xmlns:a="http://schemas.openxmlformats.org/drawingml/2006/main" noGrp="1"/>
          </p:cNvSpPr>
          <p:nvPr/>
        </p:nvSpPr>
        <p:spPr>
          <a:xfrm xmlns:a="http://schemas.openxmlformats.org/drawingml/2006/main">
            <a:off x="552450" y="3714750"/>
            <a:ext cx="68580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B8CBC8"/>
                </a:solidFill>
              </a:defRPr>
            </a:pPr>
            <a:r>
              <a:rPr sz="1650" b="0">
                <a:solidFill>
                  <a:srgbClr val="B8CBC8"/>
                </a:solidFill>
              </a:rPr>
              <a:t>Complexity is justified only by future, decision-relevant evidence.</a:t>
            </a:r>
          </a:p>
        </p:txBody>
      </p:sp>
      <p:sp>
        <p:nvSpPr>
          <p:cNvPr id="7" name="">
            <a:extLst xmlns:a="http://schemas.openxmlformats.org/drawingml/2006/main">
              <a:ext uri="{FF2B5EF4-FFF2-40B4-BE49-F238E27FC236}">
                <a16:creationId xmlns:a16="http://schemas.microsoft.com/office/drawing/2014/main" id="{837B3F04-4AD7-46C2-8424-ABDAABD301FE}"/>
              </a:ext>
            </a:extLst>
          </p:cNvPr>
          <p:cNvSpPr>
            <a:spLocks xmlns:a="http://schemas.openxmlformats.org/drawingml/2006/main" noGrp="1"/>
          </p:cNvSpPr>
          <p:nvPr/>
        </p:nvSpPr>
        <p:spPr>
          <a:xfrm xmlns:a="http://schemas.openxmlformats.org/drawingml/2006/main">
            <a:off x="8858250" y="1809750"/>
            <a:ext cx="1714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650" b="1">
                <a:solidFill>
                  <a:srgbClr val="DCA24A"/>
                </a:solidFill>
              </a:defRPr>
            </a:pPr>
            <a:r>
              <a:rPr sz="1650" b="1">
                <a:solidFill>
                  <a:srgbClr val="DCA24A"/>
                </a:solidFill>
              </a:rPr>
              <a:t>V7_0_N04</a:t>
            </a:r>
          </a:p>
        </p:txBody>
      </p:sp>
      <p:sp>
        <p:nvSpPr>
          <p:cNvPr id="8" name="">
            <a:extLst xmlns:a="http://schemas.openxmlformats.org/drawingml/2006/main">
              <a:ext uri="{FF2B5EF4-FFF2-40B4-BE49-F238E27FC236}">
                <a16:creationId xmlns:a16="http://schemas.microsoft.com/office/drawing/2014/main" id="{DC3EFF65-605C-4446-B5A8-7081E9A24A35}"/>
              </a:ext>
            </a:extLst>
          </p:cNvPr>
          <p:cNvSpPr>
            <a:spLocks xmlns:a="http://schemas.openxmlformats.org/drawingml/2006/main" noGrp="1"/>
          </p:cNvSpPr>
          <p:nvPr/>
        </p:nvSpPr>
        <p:spPr>
          <a:xfrm xmlns:a="http://schemas.openxmlformats.org/drawingml/2006/main">
            <a:off x="8858250" y="2381250"/>
            <a:ext cx="1714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00" b="1">
                <a:solidFill>
                  <a:srgbClr val="F7F4EC"/>
                </a:solidFill>
              </a:defRPr>
            </a:pPr>
            <a:r>
              <a:rPr sz="1200" b="1">
                <a:solidFill>
                  <a:srgbClr val="F7F4EC"/>
                </a:solidFill>
              </a:rPr>
              <a:t>PU-B07-C04</a:t>
            </a:r>
          </a:p>
        </p:txBody>
      </p:sp>
      <p:sp>
        <p:nvSpPr>
          <p:cNvPr id="9" name="">
            <a:extLst xmlns:a="http://schemas.openxmlformats.org/drawingml/2006/main">
              <a:ext uri="{FF2B5EF4-FFF2-40B4-BE49-F238E27FC236}">
                <a16:creationId xmlns:a16="http://schemas.microsoft.com/office/drawing/2014/main" id="{D6817025-6245-467D-8927-0C2E52B62E48}"/>
              </a:ext>
            </a:extLst>
          </p:cNvPr>
          <p:cNvSpPr>
            <a:spLocks xmlns:a="http://schemas.openxmlformats.org/drawingml/2006/main" noGrp="1"/>
          </p:cNvSpPr>
          <p:nvPr/>
        </p:nvSpPr>
        <p:spPr>
          <a:xfrm xmlns:a="http://schemas.openxmlformats.org/drawingml/2006/main">
            <a:off x="8858250" y="3219450"/>
            <a:ext cx="1714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B8CBC8"/>
                </a:solidFill>
              </a:defRPr>
            </a:pPr>
            <a:r>
              <a:rPr sz="1500" b="1">
                <a:solidFill>
                  <a:srgbClr val="B8CBC8"/>
                </a:solidFill>
              </a:rPr>
              <a:t>Decision-centred</a:t>
            </a:r>
          </a:p>
          <a:p xmlns:a="http://schemas.openxmlformats.org/drawingml/2006/main">
            <a:pPr algn="ctr">
              <a:defRPr sz="1500" b="1">
                <a:solidFill>
                  <a:srgbClr val="B8CBC8"/>
                </a:solidFill>
              </a:defRPr>
            </a:pPr>
            <a:r>
              <a:rPr sz="1500" b="1">
                <a:solidFill>
                  <a:srgbClr val="B8CBC8"/>
                </a:solidFill>
              </a:rPr>
              <a:t>learning asset</a:t>
            </a:r>
          </a:p>
        </p:txBody>
      </p:sp>
      <p:sp>
        <p:nvSpPr>
          <p:cNvPr id="10" name="">
            <a:extLst xmlns:a="http://schemas.openxmlformats.org/drawingml/2006/main">
              <a:ext uri="{FF2B5EF4-FFF2-40B4-BE49-F238E27FC236}">
                <a16:creationId xmlns:a16="http://schemas.microsoft.com/office/drawing/2014/main" id="{A7075E24-FABD-422E-974D-5E84376EACBB}"/>
              </a:ext>
            </a:extLst>
          </p:cNvPr>
          <p:cNvSpPr>
            <a:spLocks xmlns:a="http://schemas.openxmlformats.org/drawingml/2006/main" noGrp="1"/>
          </p:cNvSpPr>
          <p:nvPr/>
        </p:nvSpPr>
        <p:spPr>
          <a:xfrm xmlns:a="http://schemas.openxmlformats.org/drawingml/2006/main">
            <a:off x="552450" y="6000750"/>
            <a:ext cx="5715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0">
                <a:solidFill>
                  <a:srgbClr val="B8CBC8"/>
                </a:solidFill>
              </a:defRPr>
            </a:pPr>
            <a:r>
              <a:rPr sz="1050" b="0">
                <a:solidFill>
                  <a:srgbClr val="B8CBC8"/>
                </a:solidFill>
              </a:rPr>
              <a:t>Canonical Controlled Edition v1.0</a:t>
            </a:r>
          </a:p>
        </p:txBody>
      </p:sp>
    </p:spTree>
    <p:extLst>
      <p:ext uri="{BB962C8B-B14F-4D97-AF65-F5344CB8AC3E}">
        <p14:creationId xmlns:p14="http://schemas.microsoft.com/office/powerpoint/2010/main" val="225061885"/>
      </p:ext>
    </p:extLst>
  </p:cSld>
</p:sld>
</file>

<file path=ppt/slides/slide2.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410C0E6-5803-4A64-A76E-E3B861A0943D}"/>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V7_0_N04</a:t>
            </a:r>
          </a:p>
        </p:txBody>
      </p:sp>
      <p:sp>
        <p:nvSpPr>
          <p:cNvPr id="2" name="">
            <a:extLst xmlns:a="http://schemas.openxmlformats.org/drawingml/2006/main">
              <a:ext uri="{FF2B5EF4-FFF2-40B4-BE49-F238E27FC236}">
                <a16:creationId xmlns:a16="http://schemas.microsoft.com/office/drawing/2014/main" id="{410961A3-D2C6-4C7D-B3DA-772196F9E457}"/>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02</a:t>
            </a:r>
          </a:p>
        </p:txBody>
      </p:sp>
      <p:sp>
        <p:nvSpPr>
          <p:cNvPr id="3" name="">
            <a:extLst xmlns:a="http://schemas.openxmlformats.org/drawingml/2006/main">
              <a:ext uri="{FF2B5EF4-FFF2-40B4-BE49-F238E27FC236}">
                <a16:creationId xmlns:a16="http://schemas.microsoft.com/office/drawing/2014/main" id="{8525B0A1-6FBC-4308-8F4C-452FFF455A1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22CF8872-04C2-40F0-9E3C-73521ADD0C2B}"/>
              </a:ext>
            </a:extLst>
          </p:cNvPr>
          <p:cNvSpPr>
            <a:spLocks xmlns:a="http://schemas.openxmlformats.org/drawingml/2006/main" noGrp="1"/>
          </p:cNvSpPr>
          <p:nvPr/>
        </p:nvSpPr>
        <p:spPr>
          <a:xfrm xmlns:a="http://schemas.openxmlformats.org/drawingml/2006/main">
            <a:off x="552450" y="8953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analytical workflow starts with a contract</a:t>
            </a:r>
          </a:p>
        </p:txBody>
      </p:sp>
      <p:sp>
        <p:nvSpPr>
          <p:cNvPr id="5" name="">
            <a:extLst xmlns:a="http://schemas.openxmlformats.org/drawingml/2006/main">
              <a:ext uri="{FF2B5EF4-FFF2-40B4-BE49-F238E27FC236}">
                <a16:creationId xmlns:a16="http://schemas.microsoft.com/office/drawing/2014/main" id="{64F582BD-66BB-40DA-8935-51612C043C1F}"/>
              </a:ext>
            </a:extLst>
          </p:cNvPr>
          <p:cNvSpPr>
            <a:spLocks xmlns:a="http://schemas.openxmlformats.org/drawingml/2006/main" noGrp="1"/>
          </p:cNvSpPr>
          <p:nvPr/>
        </p:nvSpPr>
        <p:spPr>
          <a:xfrm xmlns:a="http://schemas.openxmlformats.org/drawingml/2006/main">
            <a:off x="552450" y="1790700"/>
            <a:ext cx="5334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250" b="1">
                <a:solidFill>
                  <a:srgbClr val="102A3A"/>
                </a:solidFill>
              </a:defRPr>
            </a:pPr>
            <a:r>
              <a:rPr sz="2250" b="1">
                <a:solidFill>
                  <a:srgbClr val="102A3A"/>
                </a:solidFill>
              </a:rPr>
              <a:t>Complexity is justified only by future, decision-relevant evidence.</a:t>
            </a:r>
          </a:p>
        </p:txBody>
      </p:sp>
      <p:sp>
        <p:nvSpPr>
          <p:cNvPr id="6" name="">
            <a:extLst xmlns:a="http://schemas.openxmlformats.org/drawingml/2006/main">
              <a:ext uri="{FF2B5EF4-FFF2-40B4-BE49-F238E27FC236}">
                <a16:creationId xmlns:a16="http://schemas.microsoft.com/office/drawing/2014/main" id="{826EC948-862B-4926-B5A7-3F86B3D4D9C2}"/>
              </a:ext>
            </a:extLst>
          </p:cNvPr>
          <p:cNvSpPr>
            <a:spLocks xmlns:a="http://schemas.openxmlformats.org/drawingml/2006/main" noGrp="1"/>
          </p:cNvSpPr>
          <p:nvPr/>
        </p:nvSpPr>
        <p:spPr>
          <a:xfrm xmlns:a="http://schemas.openxmlformats.org/drawingml/2006/main">
            <a:off x="6858000" y="1638300"/>
            <a:ext cx="4191000" cy="31432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7" name="">
            <a:extLst xmlns:a="http://schemas.openxmlformats.org/drawingml/2006/main">
              <a:ext uri="{FF2B5EF4-FFF2-40B4-BE49-F238E27FC236}">
                <a16:creationId xmlns:a16="http://schemas.microsoft.com/office/drawing/2014/main" id="{A812A532-14C1-4ECD-9E43-9F0D5E5A445A}"/>
              </a:ext>
            </a:extLst>
          </p:cNvPr>
          <p:cNvSpPr>
            <a:spLocks xmlns:a="http://schemas.openxmlformats.org/drawingml/2006/main" noGrp="1"/>
          </p:cNvSpPr>
          <p:nvPr/>
        </p:nvSpPr>
        <p:spPr>
          <a:xfrm xmlns:a="http://schemas.openxmlformats.org/drawingml/2006/main">
            <a:off x="7162800" y="19240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01</a:t>
            </a:r>
          </a:p>
        </p:txBody>
      </p:sp>
      <p:sp>
        <p:nvSpPr>
          <p:cNvPr id="8" name="">
            <a:extLst xmlns:a="http://schemas.openxmlformats.org/drawingml/2006/main">
              <a:ext uri="{FF2B5EF4-FFF2-40B4-BE49-F238E27FC236}">
                <a16:creationId xmlns:a16="http://schemas.microsoft.com/office/drawing/2014/main" id="{408AF611-DCC4-4A0E-9C6F-B0C16EA27D50}"/>
              </a:ext>
            </a:extLst>
          </p:cNvPr>
          <p:cNvSpPr>
            <a:spLocks xmlns:a="http://schemas.openxmlformats.org/drawingml/2006/main" noGrp="1"/>
          </p:cNvSpPr>
          <p:nvPr/>
        </p:nvSpPr>
        <p:spPr>
          <a:xfrm xmlns:a="http://schemas.openxmlformats.org/drawingml/2006/main">
            <a:off x="7734300" y="18954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102A3A"/>
                </a:solidFill>
              </a:defRPr>
            </a:pPr>
            <a:r>
              <a:rPr sz="1650" b="1">
                <a:solidFill>
                  <a:srgbClr val="102A3A"/>
                </a:solidFill>
              </a:rPr>
              <a:t>Time-aware validation</a:t>
            </a:r>
          </a:p>
        </p:txBody>
      </p:sp>
      <p:sp>
        <p:nvSpPr>
          <p:cNvPr id="9" name="">
            <a:extLst xmlns:a="http://schemas.openxmlformats.org/drawingml/2006/main">
              <a:ext uri="{FF2B5EF4-FFF2-40B4-BE49-F238E27FC236}">
                <a16:creationId xmlns:a16="http://schemas.microsoft.com/office/drawing/2014/main" id="{4FE35DE5-14A3-4C33-A80A-6C4C9A21F2AC}"/>
              </a:ext>
            </a:extLst>
          </p:cNvPr>
          <p:cNvSpPr>
            <a:spLocks xmlns:a="http://schemas.openxmlformats.org/drawingml/2006/main" noGrp="1"/>
          </p:cNvSpPr>
          <p:nvPr/>
        </p:nvSpPr>
        <p:spPr>
          <a:xfrm xmlns:a="http://schemas.openxmlformats.org/drawingml/2006/main">
            <a:off x="7162800" y="244792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02</a:t>
            </a:r>
          </a:p>
        </p:txBody>
      </p:sp>
      <p:sp>
        <p:nvSpPr>
          <p:cNvPr id="10" name="">
            <a:extLst xmlns:a="http://schemas.openxmlformats.org/drawingml/2006/main">
              <a:ext uri="{FF2B5EF4-FFF2-40B4-BE49-F238E27FC236}">
                <a16:creationId xmlns:a16="http://schemas.microsoft.com/office/drawing/2014/main" id="{2B37C93B-E441-4AFF-8E98-41271443B40B}"/>
              </a:ext>
            </a:extLst>
          </p:cNvPr>
          <p:cNvSpPr>
            <a:spLocks xmlns:a="http://schemas.openxmlformats.org/drawingml/2006/main" noGrp="1"/>
          </p:cNvSpPr>
          <p:nvPr/>
        </p:nvSpPr>
        <p:spPr>
          <a:xfrm xmlns:a="http://schemas.openxmlformats.org/drawingml/2006/main">
            <a:off x="7734300" y="241935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Transparent baselines</a:t>
            </a:r>
          </a:p>
        </p:txBody>
      </p:sp>
      <p:sp>
        <p:nvSpPr>
          <p:cNvPr id="11" name="">
            <a:extLst xmlns:a="http://schemas.openxmlformats.org/drawingml/2006/main">
              <a:ext uri="{FF2B5EF4-FFF2-40B4-BE49-F238E27FC236}">
                <a16:creationId xmlns:a16="http://schemas.microsoft.com/office/drawing/2014/main" id="{9862478B-E393-4692-B04C-2A1061E32620}"/>
              </a:ext>
            </a:extLst>
          </p:cNvPr>
          <p:cNvSpPr>
            <a:spLocks xmlns:a="http://schemas.openxmlformats.org/drawingml/2006/main" noGrp="1"/>
          </p:cNvSpPr>
          <p:nvPr/>
        </p:nvSpPr>
        <p:spPr>
          <a:xfrm xmlns:a="http://schemas.openxmlformats.org/drawingml/2006/main">
            <a:off x="7162800" y="297180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03</a:t>
            </a:r>
          </a:p>
        </p:txBody>
      </p:sp>
      <p:sp>
        <p:nvSpPr>
          <p:cNvPr id="12" name="">
            <a:extLst xmlns:a="http://schemas.openxmlformats.org/drawingml/2006/main">
              <a:ext uri="{FF2B5EF4-FFF2-40B4-BE49-F238E27FC236}">
                <a16:creationId xmlns:a16="http://schemas.microsoft.com/office/drawing/2014/main" id="{52283033-2747-4DDB-8C69-557BC12C5854}"/>
              </a:ext>
            </a:extLst>
          </p:cNvPr>
          <p:cNvSpPr>
            <a:spLocks xmlns:a="http://schemas.openxmlformats.org/drawingml/2006/main" noGrp="1"/>
          </p:cNvSpPr>
          <p:nvPr/>
        </p:nvSpPr>
        <p:spPr>
          <a:xfrm xmlns:a="http://schemas.openxmlformats.org/drawingml/2006/main">
            <a:off x="7734300" y="294322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Calibration</a:t>
            </a:r>
          </a:p>
        </p:txBody>
      </p:sp>
      <p:sp>
        <p:nvSpPr>
          <p:cNvPr id="13" name="">
            <a:extLst xmlns:a="http://schemas.openxmlformats.org/drawingml/2006/main">
              <a:ext uri="{FF2B5EF4-FFF2-40B4-BE49-F238E27FC236}">
                <a16:creationId xmlns:a16="http://schemas.microsoft.com/office/drawing/2014/main" id="{3E453F0C-927E-466E-9568-A7429446F84D}"/>
              </a:ext>
            </a:extLst>
          </p:cNvPr>
          <p:cNvSpPr>
            <a:spLocks xmlns:a="http://schemas.openxmlformats.org/drawingml/2006/main" noGrp="1"/>
          </p:cNvSpPr>
          <p:nvPr/>
        </p:nvSpPr>
        <p:spPr>
          <a:xfrm xmlns:a="http://schemas.openxmlformats.org/drawingml/2006/main">
            <a:off x="7162800" y="3495675"/>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04</a:t>
            </a:r>
          </a:p>
        </p:txBody>
      </p:sp>
      <p:sp>
        <p:nvSpPr>
          <p:cNvPr id="14" name="">
            <a:extLst xmlns:a="http://schemas.openxmlformats.org/drawingml/2006/main">
              <a:ext uri="{FF2B5EF4-FFF2-40B4-BE49-F238E27FC236}">
                <a16:creationId xmlns:a16="http://schemas.microsoft.com/office/drawing/2014/main" id="{ADAD543B-0A08-40C2-AF0D-A0B39CD0BCDE}"/>
              </a:ext>
            </a:extLst>
          </p:cNvPr>
          <p:cNvSpPr>
            <a:spLocks xmlns:a="http://schemas.openxmlformats.org/drawingml/2006/main" noGrp="1"/>
          </p:cNvSpPr>
          <p:nvPr/>
        </p:nvSpPr>
        <p:spPr>
          <a:xfrm xmlns:a="http://schemas.openxmlformats.org/drawingml/2006/main">
            <a:off x="7734300" y="3467100"/>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Interval coverage</a:t>
            </a:r>
          </a:p>
        </p:txBody>
      </p:sp>
      <p:sp>
        <p:nvSpPr>
          <p:cNvPr id="15" name="">
            <a:extLst xmlns:a="http://schemas.openxmlformats.org/drawingml/2006/main">
              <a:ext uri="{FF2B5EF4-FFF2-40B4-BE49-F238E27FC236}">
                <a16:creationId xmlns:a16="http://schemas.microsoft.com/office/drawing/2014/main" id="{9171E8A8-3926-49B2-8209-ADA94D099D42}"/>
              </a:ext>
            </a:extLst>
          </p:cNvPr>
          <p:cNvSpPr>
            <a:spLocks xmlns:a="http://schemas.openxmlformats.org/drawingml/2006/main" noGrp="1"/>
          </p:cNvSpPr>
          <p:nvPr/>
        </p:nvSpPr>
        <p:spPr>
          <a:xfrm xmlns:a="http://schemas.openxmlformats.org/drawingml/2006/main">
            <a:off x="7162800" y="4019550"/>
            <a:ext cx="4191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0B2E45"/>
                </a:solidFill>
              </a:defRPr>
            </a:pPr>
            <a:r>
              <a:rPr sz="1200" b="1">
                <a:solidFill>
                  <a:srgbClr val="0B2E45"/>
                </a:solidFill>
              </a:rPr>
              <a:t>05</a:t>
            </a:r>
          </a:p>
        </p:txBody>
      </p:sp>
      <p:sp>
        <p:nvSpPr>
          <p:cNvPr id="16" name="">
            <a:extLst xmlns:a="http://schemas.openxmlformats.org/drawingml/2006/main">
              <a:ext uri="{FF2B5EF4-FFF2-40B4-BE49-F238E27FC236}">
                <a16:creationId xmlns:a16="http://schemas.microsoft.com/office/drawing/2014/main" id="{04E166D1-3070-436D-A86D-F65C2CDCD065}"/>
              </a:ext>
            </a:extLst>
          </p:cNvPr>
          <p:cNvSpPr>
            <a:spLocks xmlns:a="http://schemas.openxmlformats.org/drawingml/2006/main" noGrp="1"/>
          </p:cNvSpPr>
          <p:nvPr/>
        </p:nvSpPr>
        <p:spPr>
          <a:xfrm xmlns:a="http://schemas.openxmlformats.org/drawingml/2006/main">
            <a:off x="7734300" y="3990975"/>
            <a:ext cx="2952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0">
                <a:solidFill>
                  <a:srgbClr val="102A3A"/>
                </a:solidFill>
              </a:defRPr>
            </a:pPr>
            <a:r>
              <a:rPr sz="1650" b="0">
                <a:solidFill>
                  <a:srgbClr val="102A3A"/>
                </a:solidFill>
              </a:rPr>
              <a:t>Stress and retirement tests</a:t>
            </a:r>
          </a:p>
        </p:txBody>
      </p:sp>
      <p:sp>
        <p:nvSpPr>
          <p:cNvPr id="17" name="">
            <a:extLst xmlns:a="http://schemas.openxmlformats.org/drawingml/2006/main">
              <a:ext uri="{FF2B5EF4-FFF2-40B4-BE49-F238E27FC236}">
                <a16:creationId xmlns:a16="http://schemas.microsoft.com/office/drawing/2014/main" id="{9D530B0A-CD13-41FD-ACB2-9A1B5E12FC97}"/>
              </a:ext>
            </a:extLst>
          </p:cNvPr>
          <p:cNvSpPr>
            <a:spLocks xmlns:a="http://schemas.openxmlformats.org/drawingml/2006/main" noGrp="1"/>
          </p:cNvSpPr>
          <p:nvPr/>
        </p:nvSpPr>
        <p:spPr>
          <a:xfrm xmlns:a="http://schemas.openxmlformats.org/drawingml/2006/main">
            <a:off x="552450" y="5048250"/>
            <a:ext cx="5334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DCA24A"/>
                </a:solidFill>
              </a:defRPr>
            </a:pPr>
            <a:r>
              <a:rPr sz="1650" b="1">
                <a:solidFill>
                  <a:srgbClr val="DCA24A"/>
                </a:solidFill>
              </a:rPr>
              <a:t>A model is one component—not the decision-maker.</a:t>
            </a:r>
          </a:p>
        </p:txBody>
      </p:sp>
    </p:spTree>
    <p:extLst>
      <p:ext uri="{BB962C8B-B14F-4D97-AF65-F5344CB8AC3E}">
        <p14:creationId xmlns:p14="http://schemas.microsoft.com/office/powerpoint/2010/main" val="1349132734"/>
      </p:ext>
    </p:extLst>
  </p:cSld>
</p:sld>
</file>

<file path=ppt/slides/slide3.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CDF7A204-2746-4A10-B145-8484CD424D9B}"/>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V7_0_N04</a:t>
            </a:r>
          </a:p>
        </p:txBody>
      </p:sp>
      <p:sp>
        <p:nvSpPr>
          <p:cNvPr id="2" name="">
            <a:extLst xmlns:a="http://schemas.openxmlformats.org/drawingml/2006/main">
              <a:ext uri="{FF2B5EF4-FFF2-40B4-BE49-F238E27FC236}">
                <a16:creationId xmlns:a16="http://schemas.microsoft.com/office/drawing/2014/main" id="{8BE3A226-8297-4287-BAC0-40FD3D16797D}"/>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03</a:t>
            </a:r>
          </a:p>
        </p:txBody>
      </p:sp>
      <p:sp>
        <p:nvSpPr>
          <p:cNvPr id="3" name="">
            <a:extLst xmlns:a="http://schemas.openxmlformats.org/drawingml/2006/main">
              <a:ext uri="{FF2B5EF4-FFF2-40B4-BE49-F238E27FC236}">
                <a16:creationId xmlns:a16="http://schemas.microsoft.com/office/drawing/2014/main" id="{012E6DEF-5BC0-4ED7-AAE2-C8E6CC7933B8}"/>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40F9FB7D-CCBE-48FE-9F71-7E0D4D8D24E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Five controls make the lesson operational</a:t>
            </a:r>
          </a:p>
        </p:txBody>
      </p:sp>
      <p:sp>
        <p:nvSpPr>
          <p:cNvPr id="5" name="">
            <a:extLst xmlns:a="http://schemas.openxmlformats.org/drawingml/2006/main">
              <a:ext uri="{FF2B5EF4-FFF2-40B4-BE49-F238E27FC236}">
                <a16:creationId xmlns:a16="http://schemas.microsoft.com/office/drawing/2014/main" id="{61975DE0-3FB4-43A4-9E30-B95A7C647A6F}"/>
              </a:ext>
            </a:extLst>
          </p:cNvPr>
          <p:cNvSpPr>
            <a:spLocks xmlns:a="http://schemas.openxmlformats.org/drawingml/2006/main" noGrp="1"/>
          </p:cNvSpPr>
          <p:nvPr/>
        </p:nvSpPr>
        <p:spPr>
          <a:xfrm xmlns:a="http://schemas.openxmlformats.org/drawingml/2006/main">
            <a:off x="5524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6" name="">
            <a:extLst xmlns:a="http://schemas.openxmlformats.org/drawingml/2006/main">
              <a:ext uri="{FF2B5EF4-FFF2-40B4-BE49-F238E27FC236}">
                <a16:creationId xmlns:a16="http://schemas.microsoft.com/office/drawing/2014/main" id="{8F878240-EFA9-4F50-A3FE-1B95A41194DB}"/>
              </a:ext>
            </a:extLst>
          </p:cNvPr>
          <p:cNvSpPr>
            <a:spLocks xmlns:a="http://schemas.openxmlformats.org/drawingml/2006/main" noGrp="1"/>
          </p:cNvSpPr>
          <p:nvPr/>
        </p:nvSpPr>
        <p:spPr>
          <a:xfrm xmlns:a="http://schemas.openxmlformats.org/drawingml/2006/main">
            <a:off x="7239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7" name="">
            <a:extLst xmlns:a="http://schemas.openxmlformats.org/drawingml/2006/main">
              <a:ext uri="{FF2B5EF4-FFF2-40B4-BE49-F238E27FC236}">
                <a16:creationId xmlns:a16="http://schemas.microsoft.com/office/drawing/2014/main" id="{9495BC4A-7311-4D58-AC3B-6D96FA37D0B9}"/>
              </a:ext>
            </a:extLst>
          </p:cNvPr>
          <p:cNvSpPr>
            <a:spLocks xmlns:a="http://schemas.openxmlformats.org/drawingml/2006/main" noGrp="1"/>
          </p:cNvSpPr>
          <p:nvPr/>
        </p:nvSpPr>
        <p:spPr>
          <a:xfrm xmlns:a="http://schemas.openxmlformats.org/drawingml/2006/main">
            <a:off x="7239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Time-aware validation</a:t>
            </a:r>
          </a:p>
        </p:txBody>
      </p:sp>
      <p:sp>
        <p:nvSpPr>
          <p:cNvPr id="8" name="">
            <a:extLst xmlns:a="http://schemas.openxmlformats.org/drawingml/2006/main">
              <a:ext uri="{FF2B5EF4-FFF2-40B4-BE49-F238E27FC236}">
                <a16:creationId xmlns:a16="http://schemas.microsoft.com/office/drawing/2014/main" id="{8B127ECA-7D67-4F72-B854-BCC01BC5C6F9}"/>
              </a:ext>
            </a:extLst>
          </p:cNvPr>
          <p:cNvSpPr>
            <a:spLocks xmlns:a="http://schemas.openxmlformats.org/drawingml/2006/main" noGrp="1"/>
          </p:cNvSpPr>
          <p:nvPr/>
        </p:nvSpPr>
        <p:spPr>
          <a:xfrm xmlns:a="http://schemas.openxmlformats.org/drawingml/2006/main">
            <a:off x="26670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9" name="">
            <a:extLst xmlns:a="http://schemas.openxmlformats.org/drawingml/2006/main">
              <a:ext uri="{FF2B5EF4-FFF2-40B4-BE49-F238E27FC236}">
                <a16:creationId xmlns:a16="http://schemas.microsoft.com/office/drawing/2014/main" id="{6804E35C-9773-4F0F-B9E5-93201A5E0B36}"/>
              </a:ext>
            </a:extLst>
          </p:cNvPr>
          <p:cNvSpPr>
            <a:spLocks xmlns:a="http://schemas.openxmlformats.org/drawingml/2006/main" noGrp="1"/>
          </p:cNvSpPr>
          <p:nvPr/>
        </p:nvSpPr>
        <p:spPr>
          <a:xfrm xmlns:a="http://schemas.openxmlformats.org/drawingml/2006/main">
            <a:off x="28384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0" name="">
            <a:extLst xmlns:a="http://schemas.openxmlformats.org/drawingml/2006/main">
              <a:ext uri="{FF2B5EF4-FFF2-40B4-BE49-F238E27FC236}">
                <a16:creationId xmlns:a16="http://schemas.microsoft.com/office/drawing/2014/main" id="{0E9001A5-3D9A-4D3F-AEC7-3B1AAAEDC1F8}"/>
              </a:ext>
            </a:extLst>
          </p:cNvPr>
          <p:cNvSpPr>
            <a:spLocks xmlns:a="http://schemas.openxmlformats.org/drawingml/2006/main" noGrp="1"/>
          </p:cNvSpPr>
          <p:nvPr/>
        </p:nvSpPr>
        <p:spPr>
          <a:xfrm xmlns:a="http://schemas.openxmlformats.org/drawingml/2006/main">
            <a:off x="28384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Transparent baselines</a:t>
            </a:r>
          </a:p>
        </p:txBody>
      </p:sp>
      <p:sp>
        <p:nvSpPr>
          <p:cNvPr id="11" name="">
            <a:extLst xmlns:a="http://schemas.openxmlformats.org/drawingml/2006/main">
              <a:ext uri="{FF2B5EF4-FFF2-40B4-BE49-F238E27FC236}">
                <a16:creationId xmlns:a16="http://schemas.microsoft.com/office/drawing/2014/main" id="{58C8FC9B-D7C8-42D5-BCAF-7A7F9B78278B}"/>
              </a:ext>
            </a:extLst>
          </p:cNvPr>
          <p:cNvSpPr>
            <a:spLocks xmlns:a="http://schemas.openxmlformats.org/drawingml/2006/main" noGrp="1"/>
          </p:cNvSpPr>
          <p:nvPr/>
        </p:nvSpPr>
        <p:spPr>
          <a:xfrm xmlns:a="http://schemas.openxmlformats.org/drawingml/2006/main">
            <a:off x="4781550" y="2171700"/>
            <a:ext cx="1809750" cy="16192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2" name="">
            <a:extLst xmlns:a="http://schemas.openxmlformats.org/drawingml/2006/main">
              <a:ext uri="{FF2B5EF4-FFF2-40B4-BE49-F238E27FC236}">
                <a16:creationId xmlns:a16="http://schemas.microsoft.com/office/drawing/2014/main" id="{F27AF984-A49A-4032-ADF4-B35744D539E6}"/>
              </a:ext>
            </a:extLst>
          </p:cNvPr>
          <p:cNvSpPr>
            <a:spLocks xmlns:a="http://schemas.openxmlformats.org/drawingml/2006/main" noGrp="1"/>
          </p:cNvSpPr>
          <p:nvPr/>
        </p:nvSpPr>
        <p:spPr>
          <a:xfrm xmlns:a="http://schemas.openxmlformats.org/drawingml/2006/main">
            <a:off x="49530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3" name="">
            <a:extLst xmlns:a="http://schemas.openxmlformats.org/drawingml/2006/main">
              <a:ext uri="{FF2B5EF4-FFF2-40B4-BE49-F238E27FC236}">
                <a16:creationId xmlns:a16="http://schemas.microsoft.com/office/drawing/2014/main" id="{9658BBA6-794F-411A-A3D5-B9EC5F1F38F7}"/>
              </a:ext>
            </a:extLst>
          </p:cNvPr>
          <p:cNvSpPr>
            <a:spLocks xmlns:a="http://schemas.openxmlformats.org/drawingml/2006/main" noGrp="1"/>
          </p:cNvSpPr>
          <p:nvPr/>
        </p:nvSpPr>
        <p:spPr>
          <a:xfrm xmlns:a="http://schemas.openxmlformats.org/drawingml/2006/main">
            <a:off x="49530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Calibration</a:t>
            </a:r>
          </a:p>
        </p:txBody>
      </p:sp>
      <p:sp>
        <p:nvSpPr>
          <p:cNvPr id="14" name="">
            <a:extLst xmlns:a="http://schemas.openxmlformats.org/drawingml/2006/main">
              <a:ext uri="{FF2B5EF4-FFF2-40B4-BE49-F238E27FC236}">
                <a16:creationId xmlns:a16="http://schemas.microsoft.com/office/drawing/2014/main" id="{0B4CEDCA-DC02-45CC-9BDD-908139524530}"/>
              </a:ext>
            </a:extLst>
          </p:cNvPr>
          <p:cNvSpPr>
            <a:spLocks xmlns:a="http://schemas.openxmlformats.org/drawingml/2006/main" noGrp="1"/>
          </p:cNvSpPr>
          <p:nvPr/>
        </p:nvSpPr>
        <p:spPr>
          <a:xfrm xmlns:a="http://schemas.openxmlformats.org/drawingml/2006/main">
            <a:off x="689610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5" name="">
            <a:extLst xmlns:a="http://schemas.openxmlformats.org/drawingml/2006/main">
              <a:ext uri="{FF2B5EF4-FFF2-40B4-BE49-F238E27FC236}">
                <a16:creationId xmlns:a16="http://schemas.microsoft.com/office/drawing/2014/main" id="{452972F5-C11A-4015-879E-EEAA2C01A308}"/>
              </a:ext>
            </a:extLst>
          </p:cNvPr>
          <p:cNvSpPr>
            <a:spLocks xmlns:a="http://schemas.openxmlformats.org/drawingml/2006/main" noGrp="1"/>
          </p:cNvSpPr>
          <p:nvPr/>
        </p:nvSpPr>
        <p:spPr>
          <a:xfrm xmlns:a="http://schemas.openxmlformats.org/drawingml/2006/main">
            <a:off x="706755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6" name="">
            <a:extLst xmlns:a="http://schemas.openxmlformats.org/drawingml/2006/main">
              <a:ext uri="{FF2B5EF4-FFF2-40B4-BE49-F238E27FC236}">
                <a16:creationId xmlns:a16="http://schemas.microsoft.com/office/drawing/2014/main" id="{F819AF23-2042-401C-AF50-7072DAA3DE49}"/>
              </a:ext>
            </a:extLst>
          </p:cNvPr>
          <p:cNvSpPr>
            <a:spLocks xmlns:a="http://schemas.openxmlformats.org/drawingml/2006/main" noGrp="1"/>
          </p:cNvSpPr>
          <p:nvPr/>
        </p:nvSpPr>
        <p:spPr>
          <a:xfrm xmlns:a="http://schemas.openxmlformats.org/drawingml/2006/main">
            <a:off x="706755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Interval coverage</a:t>
            </a:r>
          </a:p>
        </p:txBody>
      </p:sp>
      <p:sp>
        <p:nvSpPr>
          <p:cNvPr id="17" name="">
            <a:extLst xmlns:a="http://schemas.openxmlformats.org/drawingml/2006/main">
              <a:ext uri="{FF2B5EF4-FFF2-40B4-BE49-F238E27FC236}">
                <a16:creationId xmlns:a16="http://schemas.microsoft.com/office/drawing/2014/main" id="{A8C68A8B-7BAE-4A70-B9E7-6AFA37B6B652}"/>
              </a:ext>
            </a:extLst>
          </p:cNvPr>
          <p:cNvSpPr>
            <a:spLocks xmlns:a="http://schemas.openxmlformats.org/drawingml/2006/main" noGrp="1"/>
          </p:cNvSpPr>
          <p:nvPr/>
        </p:nvSpPr>
        <p:spPr>
          <a:xfrm xmlns:a="http://schemas.openxmlformats.org/drawingml/2006/main">
            <a:off x="9010650" y="2171700"/>
            <a:ext cx="1809750" cy="16192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8" name="">
            <a:extLst xmlns:a="http://schemas.openxmlformats.org/drawingml/2006/main">
              <a:ext uri="{FF2B5EF4-FFF2-40B4-BE49-F238E27FC236}">
                <a16:creationId xmlns:a16="http://schemas.microsoft.com/office/drawing/2014/main" id="{B55B38E4-5BBC-4217-A01B-79AD863F42F0}"/>
              </a:ext>
            </a:extLst>
          </p:cNvPr>
          <p:cNvSpPr>
            <a:spLocks xmlns:a="http://schemas.openxmlformats.org/drawingml/2006/main" noGrp="1"/>
          </p:cNvSpPr>
          <p:nvPr/>
        </p:nvSpPr>
        <p:spPr>
          <a:xfrm xmlns:a="http://schemas.openxmlformats.org/drawingml/2006/main">
            <a:off x="9182100" y="234315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5</a:t>
            </a:r>
          </a:p>
        </p:txBody>
      </p:sp>
      <p:sp>
        <p:nvSpPr>
          <p:cNvPr id="19" name="">
            <a:extLst xmlns:a="http://schemas.openxmlformats.org/drawingml/2006/main">
              <a:ext uri="{FF2B5EF4-FFF2-40B4-BE49-F238E27FC236}">
                <a16:creationId xmlns:a16="http://schemas.microsoft.com/office/drawing/2014/main" id="{FEC4A0FB-3494-4634-BBC9-1C5DD5BDAF09}"/>
              </a:ext>
            </a:extLst>
          </p:cNvPr>
          <p:cNvSpPr>
            <a:spLocks xmlns:a="http://schemas.openxmlformats.org/drawingml/2006/main" noGrp="1"/>
          </p:cNvSpPr>
          <p:nvPr/>
        </p:nvSpPr>
        <p:spPr>
          <a:xfrm xmlns:a="http://schemas.openxmlformats.org/drawingml/2006/main">
            <a:off x="9182100" y="28003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75" b="1">
                <a:solidFill>
                  <a:srgbClr val="061A2B"/>
                </a:solidFill>
              </a:defRPr>
            </a:pPr>
            <a:r>
              <a:rPr sz="1575" b="1">
                <a:solidFill>
                  <a:srgbClr val="061A2B"/>
                </a:solidFill>
              </a:rPr>
              <a:t>Stress and retirement tests</a:t>
            </a:r>
          </a:p>
        </p:txBody>
      </p:sp>
      <p:sp>
        <p:nvSpPr>
          <p:cNvPr id="20" name="">
            <a:extLst xmlns:a="http://schemas.openxmlformats.org/drawingml/2006/main">
              <a:ext uri="{FF2B5EF4-FFF2-40B4-BE49-F238E27FC236}">
                <a16:creationId xmlns:a16="http://schemas.microsoft.com/office/drawing/2014/main" id="{49AABD30-6B88-4791-9C39-6BB31CE3C239}"/>
              </a:ext>
            </a:extLst>
          </p:cNvPr>
          <p:cNvSpPr>
            <a:spLocks xmlns:a="http://schemas.openxmlformats.org/drawingml/2006/main" noGrp="1"/>
          </p:cNvSpPr>
          <p:nvPr/>
        </p:nvSpPr>
        <p:spPr>
          <a:xfrm xmlns:a="http://schemas.openxmlformats.org/drawingml/2006/main">
            <a:off x="552450" y="44767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75" b="1">
                <a:solidFill>
                  <a:srgbClr val="102A3A"/>
                </a:solidFill>
              </a:defRPr>
            </a:pPr>
            <a:r>
              <a:rPr sz="1875" b="1">
                <a:solidFill>
                  <a:srgbClr val="102A3A"/>
                </a:solidFill>
              </a:rPr>
              <a:t>Each control must be explicit, reviewable, and owned.</a:t>
            </a:r>
          </a:p>
        </p:txBody>
      </p:sp>
    </p:spTree>
    <p:extLst>
      <p:ext uri="{BB962C8B-B14F-4D97-AF65-F5344CB8AC3E}">
        <p14:creationId xmlns:p14="http://schemas.microsoft.com/office/powerpoint/2010/main" val="635280369"/>
      </p:ext>
    </p:extLst>
  </p:cSld>
</p:sld>
</file>

<file path=ppt/slides/slide4.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31343490-B6B5-4491-B9A3-1C7D52D6F744}"/>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V7_0_N04</a:t>
            </a:r>
          </a:p>
        </p:txBody>
      </p:sp>
      <p:sp>
        <p:nvSpPr>
          <p:cNvPr id="2" name="">
            <a:extLst xmlns:a="http://schemas.openxmlformats.org/drawingml/2006/main">
              <a:ext uri="{FF2B5EF4-FFF2-40B4-BE49-F238E27FC236}">
                <a16:creationId xmlns:a16="http://schemas.microsoft.com/office/drawing/2014/main" id="{6AF36CF1-81BC-48D4-977A-8F0875F6B689}"/>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04</a:t>
            </a:r>
          </a:p>
        </p:txBody>
      </p:sp>
      <p:sp>
        <p:nvSpPr>
          <p:cNvPr id="3" name="">
            <a:extLst xmlns:a="http://schemas.openxmlformats.org/drawingml/2006/main">
              <a:ext uri="{FF2B5EF4-FFF2-40B4-BE49-F238E27FC236}">
                <a16:creationId xmlns:a16="http://schemas.microsoft.com/office/drawing/2014/main" id="{D85EF402-C90D-41F4-9D19-22B8D8F95D5A}"/>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CFE6520F-14D0-4B83-ACE1-8412B4A00370}"/>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A worked example separates support from authority</a:t>
            </a:r>
          </a:p>
        </p:txBody>
      </p:sp>
      <p:sp>
        <p:nvSpPr>
          <p:cNvPr id="5" name="">
            <a:extLst xmlns:a="http://schemas.openxmlformats.org/drawingml/2006/main">
              <a:ext uri="{FF2B5EF4-FFF2-40B4-BE49-F238E27FC236}">
                <a16:creationId xmlns:a16="http://schemas.microsoft.com/office/drawing/2014/main" id="{8B31E214-0AB9-474A-B64A-884BFFF0D78E}"/>
              </a:ext>
            </a:extLst>
          </p:cNvPr>
          <p:cNvSpPr>
            <a:spLocks xmlns:a="http://schemas.openxmlformats.org/drawingml/2006/main" noGrp="1"/>
          </p:cNvSpPr>
          <p:nvPr/>
        </p:nvSpPr>
        <p:spPr>
          <a:xfrm xmlns:a="http://schemas.openxmlformats.org/drawingml/2006/main">
            <a:off x="552450" y="1809750"/>
            <a:ext cx="6667500" cy="2476500"/>
          </a:xfrm>
          <a:prstGeom xmlns:a="http://schemas.openxmlformats.org/drawingml/2006/main" prst="rect">
            <a:avLst/>
          </a:prstGeom>
          <a:solidFill xmlns:a="http://schemas.openxmlformats.org/drawingml/2006/main">
            <a:srgbClr val="0B2E45"/>
          </a:solidFill>
          <a:ln xmlns:a="http://schemas.openxmlformats.org/drawingml/2006/main" w="9525">
            <a:solidFill>
              <a:srgbClr val="2AA79B"/>
            </a:solidFill>
            <a:prstDash val="solid"/>
          </a:ln>
        </p:spPr>
      </p:sp>
      <p:sp>
        <p:nvSpPr>
          <p:cNvPr id="6" name="">
            <a:extLst xmlns:a="http://schemas.openxmlformats.org/drawingml/2006/main">
              <a:ext uri="{FF2B5EF4-FFF2-40B4-BE49-F238E27FC236}">
                <a16:creationId xmlns:a16="http://schemas.microsoft.com/office/drawing/2014/main" id="{A7ECED40-374A-4B9C-9449-FC7433A7F0F7}"/>
              </a:ext>
            </a:extLst>
          </p:cNvPr>
          <p:cNvSpPr>
            <a:spLocks xmlns:a="http://schemas.openxmlformats.org/drawingml/2006/main" noGrp="1"/>
          </p:cNvSpPr>
          <p:nvPr/>
        </p:nvSpPr>
        <p:spPr>
          <a:xfrm xmlns:a="http://schemas.openxmlformats.org/drawingml/2006/main">
            <a:off x="838200" y="2095500"/>
            <a:ext cx="5905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2AA79B"/>
                </a:solidFill>
              </a:defRPr>
            </a:pPr>
            <a:r>
              <a:rPr sz="1050" b="1">
                <a:solidFill>
                  <a:srgbClr val="2AA79B"/>
                </a:solidFill>
              </a:rPr>
              <a:t>ILLUSTRATIVE APPLICATION</a:t>
            </a:r>
          </a:p>
        </p:txBody>
      </p:sp>
      <p:sp>
        <p:nvSpPr>
          <p:cNvPr id="7" name="">
            <a:extLst xmlns:a="http://schemas.openxmlformats.org/drawingml/2006/main">
              <a:ext uri="{FF2B5EF4-FFF2-40B4-BE49-F238E27FC236}">
                <a16:creationId xmlns:a16="http://schemas.microsoft.com/office/drawing/2014/main" id="{C24667D1-C52A-4200-86EA-D251A12DBCBB}"/>
              </a:ext>
            </a:extLst>
          </p:cNvPr>
          <p:cNvSpPr>
            <a:spLocks xmlns:a="http://schemas.openxmlformats.org/drawingml/2006/main" noGrp="1"/>
          </p:cNvSpPr>
          <p:nvPr/>
        </p:nvSpPr>
        <p:spPr>
          <a:xfrm xmlns:a="http://schemas.openxmlformats.org/drawingml/2006/main">
            <a:off x="838200" y="2667000"/>
            <a:ext cx="600075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F7F4EC"/>
                </a:solidFill>
              </a:defRPr>
            </a:pPr>
            <a:r>
              <a:rPr sz="2025" b="1">
                <a:solidFill>
                  <a:srgbClr val="F7F4EC"/>
                </a:solidFill>
              </a:rPr>
              <a:t>Compare a seasonal regression with last-value, seasonal-history, and trend baselines on future periods.</a:t>
            </a:r>
          </a:p>
        </p:txBody>
      </p:sp>
      <p:sp>
        <p:nvSpPr>
          <p:cNvPr id="8" name="">
            <a:extLst xmlns:a="http://schemas.openxmlformats.org/drawingml/2006/main">
              <a:ext uri="{FF2B5EF4-FFF2-40B4-BE49-F238E27FC236}">
                <a16:creationId xmlns:a16="http://schemas.microsoft.com/office/drawing/2014/main" id="{EA881C44-37BB-408D-ACE0-9F51F856DA36}"/>
              </a:ext>
            </a:extLst>
          </p:cNvPr>
          <p:cNvSpPr>
            <a:spLocks xmlns:a="http://schemas.openxmlformats.org/drawingml/2006/main" noGrp="1"/>
          </p:cNvSpPr>
          <p:nvPr/>
        </p:nvSpPr>
        <p:spPr>
          <a:xfrm xmlns:a="http://schemas.openxmlformats.org/drawingml/2006/main">
            <a:off x="7858125" y="1809750"/>
            <a:ext cx="3190875" cy="2476500"/>
          </a:xfrm>
          <a:prstGeom xmlns:a="http://schemas.openxmlformats.org/drawingml/2006/main" prst="rect">
            <a:avLst/>
          </a:prstGeom>
          <a:solidFill xmlns:a="http://schemas.openxmlformats.org/drawingml/2006/main">
            <a:srgbClr val="FFFFFF"/>
          </a:solidFill>
          <a:ln xmlns:a="http://schemas.openxmlformats.org/drawingml/2006/main" w="9525">
            <a:solidFill>
              <a:srgbClr val="D4DEE9"/>
            </a:solidFill>
            <a:prstDash val="solid"/>
          </a:ln>
        </p:spPr>
      </p:sp>
      <p:sp>
        <p:nvSpPr>
          <p:cNvPr id="9" name="">
            <a:extLst xmlns:a="http://schemas.openxmlformats.org/drawingml/2006/main">
              <a:ext uri="{FF2B5EF4-FFF2-40B4-BE49-F238E27FC236}">
                <a16:creationId xmlns:a16="http://schemas.microsoft.com/office/drawing/2014/main" id="{930EB2DA-7B27-4600-B8EF-9323E9825E58}"/>
              </a:ext>
            </a:extLst>
          </p:cNvPr>
          <p:cNvSpPr>
            <a:spLocks xmlns:a="http://schemas.openxmlformats.org/drawingml/2006/main" noGrp="1"/>
          </p:cNvSpPr>
          <p:nvPr/>
        </p:nvSpPr>
        <p:spPr>
          <a:xfrm xmlns:a="http://schemas.openxmlformats.org/drawingml/2006/main">
            <a:off x="8143875" y="2095500"/>
            <a:ext cx="2619375"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050" b="1">
                <a:solidFill>
                  <a:srgbClr val="DCA24A"/>
                </a:solidFill>
              </a:defRPr>
            </a:pPr>
            <a:r>
              <a:rPr sz="1050" b="1">
                <a:solidFill>
                  <a:srgbClr val="DCA24A"/>
                </a:solidFill>
              </a:rPr>
              <a:t>THE SYSTEM MAY</a:t>
            </a:r>
          </a:p>
        </p:txBody>
      </p:sp>
      <p:sp>
        <p:nvSpPr>
          <p:cNvPr id="10" name="">
            <a:extLst xmlns:a="http://schemas.openxmlformats.org/drawingml/2006/main">
              <a:ext uri="{FF2B5EF4-FFF2-40B4-BE49-F238E27FC236}">
                <a16:creationId xmlns:a16="http://schemas.microsoft.com/office/drawing/2014/main" id="{C684063D-B61E-4B60-AF83-18DCAAA45E80}"/>
              </a:ext>
            </a:extLst>
          </p:cNvPr>
          <p:cNvSpPr>
            <a:spLocks xmlns:a="http://schemas.openxmlformats.org/drawingml/2006/main" noGrp="1"/>
          </p:cNvSpPr>
          <p:nvPr/>
        </p:nvSpPr>
        <p:spPr>
          <a:xfrm xmlns:a="http://schemas.openxmlformats.org/drawingml/2006/main">
            <a:off x="8143875" y="2571750"/>
            <a:ext cx="257175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0">
                <a:solidFill>
                  <a:srgbClr val="102A3A"/>
                </a:solidFill>
              </a:defRPr>
            </a:pPr>
            <a:r>
              <a:rPr sz="1725" b="0">
                <a:solidFill>
                  <a:srgbClr val="102A3A"/>
                </a:solidFill>
              </a:rPr>
              <a:t>Generate evidence</a:t>
            </a:r>
          </a:p>
          <a:p xmlns:a="http://schemas.openxmlformats.org/drawingml/2006/main">
            <a:pPr algn="l">
              <a:defRPr sz="1725" b="0">
                <a:solidFill>
                  <a:srgbClr val="102A3A"/>
                </a:solidFill>
              </a:defRPr>
            </a:pPr>
            <a:r>
              <a:rPr sz="1725" b="0">
                <a:solidFill>
                  <a:srgbClr val="102A3A"/>
                </a:solidFill>
              </a:rPr>
              <a:t>Flag uncertainty</a:t>
            </a:r>
          </a:p>
          <a:p xmlns:a="http://schemas.openxmlformats.org/drawingml/2006/main">
            <a:pPr algn="l">
              <a:defRPr sz="1725" b="0">
                <a:solidFill>
                  <a:srgbClr val="102A3A"/>
                </a:solidFill>
              </a:defRPr>
            </a:pPr>
            <a:r>
              <a:rPr sz="1725" b="0">
                <a:solidFill>
                  <a:srgbClr val="102A3A"/>
                </a:solidFill>
              </a:rPr>
              <a:t>Route authorized review</a:t>
            </a:r>
          </a:p>
        </p:txBody>
      </p:sp>
      <p:sp>
        <p:nvSpPr>
          <p:cNvPr id="11" name="">
            <a:extLst xmlns:a="http://schemas.openxmlformats.org/drawingml/2006/main">
              <a:ext uri="{FF2B5EF4-FFF2-40B4-BE49-F238E27FC236}">
                <a16:creationId xmlns:a16="http://schemas.microsoft.com/office/drawing/2014/main" id="{619291DD-2D68-458E-8B20-AC0479A1DA6A}"/>
              </a:ext>
            </a:extLst>
          </p:cNvPr>
          <p:cNvSpPr>
            <a:spLocks xmlns:a="http://schemas.openxmlformats.org/drawingml/2006/main" noGrp="1"/>
          </p:cNvSpPr>
          <p:nvPr/>
        </p:nvSpPr>
        <p:spPr>
          <a:xfrm xmlns:a="http://schemas.openxmlformats.org/drawingml/2006/main">
            <a:off x="8143875" y="3714750"/>
            <a:ext cx="2571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8B1E1E"/>
                </a:solidFill>
              </a:defRPr>
            </a:pPr>
            <a:r>
              <a:rPr sz="1350" b="1">
                <a:solidFill>
                  <a:srgbClr val="8B1E1E"/>
                </a:solidFill>
              </a:rPr>
              <a:t>It may not authorize the consequential action.</a:t>
            </a:r>
          </a:p>
        </p:txBody>
      </p:sp>
    </p:spTree>
    <p:extLst>
      <p:ext uri="{BB962C8B-B14F-4D97-AF65-F5344CB8AC3E}">
        <p14:creationId xmlns:p14="http://schemas.microsoft.com/office/powerpoint/2010/main" val="502918864"/>
      </p:ext>
    </p:extLst>
  </p:cSld>
</p:sld>
</file>

<file path=ppt/slides/slide5.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64616CE1-AAE9-4FA0-9D9D-8D2515D4C743}"/>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V7_0_N04</a:t>
            </a:r>
          </a:p>
        </p:txBody>
      </p:sp>
      <p:sp>
        <p:nvSpPr>
          <p:cNvPr id="2" name="">
            <a:extLst xmlns:a="http://schemas.openxmlformats.org/drawingml/2006/main">
              <a:ext uri="{FF2B5EF4-FFF2-40B4-BE49-F238E27FC236}">
                <a16:creationId xmlns:a16="http://schemas.microsoft.com/office/drawing/2014/main" id="{0D6EFEE9-D057-46FB-8C9C-83DB308F208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05</a:t>
            </a:r>
          </a:p>
        </p:txBody>
      </p:sp>
      <p:sp>
        <p:nvSpPr>
          <p:cNvPr id="3" name="">
            <a:extLst xmlns:a="http://schemas.openxmlformats.org/drawingml/2006/main">
              <a:ext uri="{FF2B5EF4-FFF2-40B4-BE49-F238E27FC236}">
                <a16:creationId xmlns:a16="http://schemas.microsoft.com/office/drawing/2014/main" id="{1580012C-A950-495E-A297-C2502B43C7C2}"/>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0078969-1F79-48D1-A60F-88D13C8677BD}"/>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The notebook turns governance into executable checks</a:t>
            </a:r>
          </a:p>
        </p:txBody>
      </p:sp>
      <p:sp>
        <p:nvSpPr>
          <p:cNvPr id="5" name="">
            <a:extLst xmlns:a="http://schemas.openxmlformats.org/drawingml/2006/main">
              <a:ext uri="{FF2B5EF4-FFF2-40B4-BE49-F238E27FC236}">
                <a16:creationId xmlns:a16="http://schemas.microsoft.com/office/drawing/2014/main" id="{7C8419E0-35FF-47D3-9378-14A5CB669742}"/>
              </a:ext>
            </a:extLst>
          </p:cNvPr>
          <p:cNvSpPr>
            <a:spLocks xmlns:a="http://schemas.openxmlformats.org/drawingml/2006/main" noGrp="1"/>
          </p:cNvSpPr>
          <p:nvPr/>
        </p:nvSpPr>
        <p:spPr>
          <a:xfrm xmlns:a="http://schemas.openxmlformats.org/drawingml/2006/main">
            <a:off x="552450" y="1790700"/>
            <a:ext cx="100012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025" b="1">
                <a:solidFill>
                  <a:srgbClr val="102A3A"/>
                </a:solidFill>
              </a:defRPr>
            </a:pPr>
            <a:r>
              <a:rPr sz="2025" b="1">
                <a:solidFill>
                  <a:srgbClr val="102A3A"/>
                </a:solidFill>
              </a:rPr>
              <a:t>Evaluate holdout error, interval width and coverage, stress cases, and retirement triggers.</a:t>
            </a:r>
          </a:p>
        </p:txBody>
      </p:sp>
      <p:sp>
        <p:nvSpPr>
          <p:cNvPr id="6" name="">
            <a:extLst xmlns:a="http://schemas.openxmlformats.org/drawingml/2006/main">
              <a:ext uri="{FF2B5EF4-FFF2-40B4-BE49-F238E27FC236}">
                <a16:creationId xmlns:a16="http://schemas.microsoft.com/office/drawing/2014/main" id="{F7B70149-5021-4479-974B-F335F4362636}"/>
              </a:ext>
            </a:extLst>
          </p:cNvPr>
          <p:cNvSpPr>
            <a:spLocks xmlns:a="http://schemas.openxmlformats.org/drawingml/2006/main" noGrp="1"/>
          </p:cNvSpPr>
          <p:nvPr/>
        </p:nvSpPr>
        <p:spPr>
          <a:xfrm xmlns:a="http://schemas.openxmlformats.org/drawingml/2006/main">
            <a:off x="552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7" name="">
            <a:extLst xmlns:a="http://schemas.openxmlformats.org/drawingml/2006/main">
              <a:ext uri="{FF2B5EF4-FFF2-40B4-BE49-F238E27FC236}">
                <a16:creationId xmlns:a16="http://schemas.microsoft.com/office/drawing/2014/main" id="{9A93EF61-5965-48CA-8CBC-4A7F4629F153}"/>
              </a:ext>
            </a:extLst>
          </p:cNvPr>
          <p:cNvSpPr>
            <a:spLocks xmlns:a="http://schemas.openxmlformats.org/drawingml/2006/main" noGrp="1"/>
          </p:cNvSpPr>
          <p:nvPr/>
        </p:nvSpPr>
        <p:spPr>
          <a:xfrm xmlns:a="http://schemas.openxmlformats.org/drawingml/2006/main">
            <a:off x="723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1</a:t>
            </a:r>
          </a:p>
        </p:txBody>
      </p:sp>
      <p:sp>
        <p:nvSpPr>
          <p:cNvPr id="8" name="">
            <a:extLst xmlns:a="http://schemas.openxmlformats.org/drawingml/2006/main">
              <a:ext uri="{FF2B5EF4-FFF2-40B4-BE49-F238E27FC236}">
                <a16:creationId xmlns:a16="http://schemas.microsoft.com/office/drawing/2014/main" id="{2F1A64F8-4F95-4E47-A374-660E48955E57}"/>
              </a:ext>
            </a:extLst>
          </p:cNvPr>
          <p:cNvSpPr>
            <a:spLocks xmlns:a="http://schemas.openxmlformats.org/drawingml/2006/main" noGrp="1"/>
          </p:cNvSpPr>
          <p:nvPr/>
        </p:nvSpPr>
        <p:spPr>
          <a:xfrm xmlns:a="http://schemas.openxmlformats.org/drawingml/2006/main">
            <a:off x="723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Inspect synthetic evidence</a:t>
            </a:r>
          </a:p>
        </p:txBody>
      </p:sp>
      <p:sp>
        <p:nvSpPr>
          <p:cNvPr id="9" name="">
            <a:extLst xmlns:a="http://schemas.openxmlformats.org/drawingml/2006/main">
              <a:ext uri="{FF2B5EF4-FFF2-40B4-BE49-F238E27FC236}">
                <a16:creationId xmlns:a16="http://schemas.microsoft.com/office/drawing/2014/main" id="{4D5086F6-1394-43B3-A885-D4ECFFD26D25}"/>
              </a:ext>
            </a:extLst>
          </p:cNvPr>
          <p:cNvSpPr>
            <a:spLocks xmlns:a="http://schemas.openxmlformats.org/drawingml/2006/main" noGrp="1"/>
          </p:cNvSpPr>
          <p:nvPr/>
        </p:nvSpPr>
        <p:spPr>
          <a:xfrm xmlns:a="http://schemas.openxmlformats.org/drawingml/2006/main">
            <a:off x="3219450" y="3048000"/>
            <a:ext cx="2333625" cy="1428750"/>
          </a:xfrm>
          <a:prstGeom xmlns:a="http://schemas.openxmlformats.org/drawingml/2006/main" prst="rect">
            <a:avLst/>
          </a:prstGeom>
          <a:solidFill xmlns:a="http://schemas.openxmlformats.org/drawingml/2006/main">
            <a:srgbClr val="D0EDFA"/>
          </a:solidFill>
          <a:ln xmlns:a="http://schemas.openxmlformats.org/drawingml/2006/main" w="9525">
            <a:solidFill>
              <a:srgbClr val="B8BCC4"/>
            </a:solidFill>
            <a:prstDash val="solid"/>
          </a:ln>
        </p:spPr>
      </p:sp>
      <p:sp>
        <p:nvSpPr>
          <p:cNvPr id="10" name="">
            <a:extLst xmlns:a="http://schemas.openxmlformats.org/drawingml/2006/main">
              <a:ext uri="{FF2B5EF4-FFF2-40B4-BE49-F238E27FC236}">
                <a16:creationId xmlns:a16="http://schemas.microsoft.com/office/drawing/2014/main" id="{D3D62F5A-EA47-482D-966A-5D492D2768E6}"/>
              </a:ext>
            </a:extLst>
          </p:cNvPr>
          <p:cNvSpPr>
            <a:spLocks xmlns:a="http://schemas.openxmlformats.org/drawingml/2006/main" noGrp="1"/>
          </p:cNvSpPr>
          <p:nvPr/>
        </p:nvSpPr>
        <p:spPr>
          <a:xfrm xmlns:a="http://schemas.openxmlformats.org/drawingml/2006/main">
            <a:off x="3390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2</a:t>
            </a:r>
          </a:p>
        </p:txBody>
      </p:sp>
      <p:sp>
        <p:nvSpPr>
          <p:cNvPr id="11" name="">
            <a:extLst xmlns:a="http://schemas.openxmlformats.org/drawingml/2006/main">
              <a:ext uri="{FF2B5EF4-FFF2-40B4-BE49-F238E27FC236}">
                <a16:creationId xmlns:a16="http://schemas.microsoft.com/office/drawing/2014/main" id="{CE086179-DF3A-4982-9BDB-43DF4A6946C7}"/>
              </a:ext>
            </a:extLst>
          </p:cNvPr>
          <p:cNvSpPr>
            <a:spLocks xmlns:a="http://schemas.openxmlformats.org/drawingml/2006/main" noGrp="1"/>
          </p:cNvSpPr>
          <p:nvPr/>
        </p:nvSpPr>
        <p:spPr>
          <a:xfrm xmlns:a="http://schemas.openxmlformats.org/drawingml/2006/main">
            <a:off x="3390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Run the contract or gate</a:t>
            </a:r>
          </a:p>
        </p:txBody>
      </p:sp>
      <p:sp>
        <p:nvSpPr>
          <p:cNvPr id="12" name="">
            <a:extLst xmlns:a="http://schemas.openxmlformats.org/drawingml/2006/main">
              <a:ext uri="{FF2B5EF4-FFF2-40B4-BE49-F238E27FC236}">
                <a16:creationId xmlns:a16="http://schemas.microsoft.com/office/drawing/2014/main" id="{08FFCFB3-D46D-4F2A-82F9-4D19BEA36102}"/>
              </a:ext>
            </a:extLst>
          </p:cNvPr>
          <p:cNvSpPr>
            <a:spLocks xmlns:a="http://schemas.openxmlformats.org/drawingml/2006/main" noGrp="1"/>
          </p:cNvSpPr>
          <p:nvPr/>
        </p:nvSpPr>
        <p:spPr>
          <a:xfrm xmlns:a="http://schemas.openxmlformats.org/drawingml/2006/main">
            <a:off x="5886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3" name="">
            <a:extLst xmlns:a="http://schemas.openxmlformats.org/drawingml/2006/main">
              <a:ext uri="{FF2B5EF4-FFF2-40B4-BE49-F238E27FC236}">
                <a16:creationId xmlns:a16="http://schemas.microsoft.com/office/drawing/2014/main" id="{B3315BE7-6388-44FD-8E16-20FE8222FC33}"/>
              </a:ext>
            </a:extLst>
          </p:cNvPr>
          <p:cNvSpPr>
            <a:spLocks xmlns:a="http://schemas.openxmlformats.org/drawingml/2006/main" noGrp="1"/>
          </p:cNvSpPr>
          <p:nvPr/>
        </p:nvSpPr>
        <p:spPr>
          <a:xfrm xmlns:a="http://schemas.openxmlformats.org/drawingml/2006/main">
            <a:off x="6057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3</a:t>
            </a:r>
          </a:p>
        </p:txBody>
      </p:sp>
      <p:sp>
        <p:nvSpPr>
          <p:cNvPr id="14" name="">
            <a:extLst xmlns:a="http://schemas.openxmlformats.org/drawingml/2006/main">
              <a:ext uri="{FF2B5EF4-FFF2-40B4-BE49-F238E27FC236}">
                <a16:creationId xmlns:a16="http://schemas.microsoft.com/office/drawing/2014/main" id="{808C1D6E-3CB1-4449-9CCD-838DEFF4D083}"/>
              </a:ext>
            </a:extLst>
          </p:cNvPr>
          <p:cNvSpPr>
            <a:spLocks xmlns:a="http://schemas.openxmlformats.org/drawingml/2006/main" noGrp="1"/>
          </p:cNvSpPr>
          <p:nvPr/>
        </p:nvSpPr>
        <p:spPr>
          <a:xfrm xmlns:a="http://schemas.openxmlformats.org/drawingml/2006/main">
            <a:off x="6057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Interpret uncertainty</a:t>
            </a:r>
          </a:p>
        </p:txBody>
      </p:sp>
      <p:sp>
        <p:nvSpPr>
          <p:cNvPr id="15" name="">
            <a:extLst xmlns:a="http://schemas.openxmlformats.org/drawingml/2006/main">
              <a:ext uri="{FF2B5EF4-FFF2-40B4-BE49-F238E27FC236}">
                <a16:creationId xmlns:a16="http://schemas.microsoft.com/office/drawing/2014/main" id="{3B4D1412-20F2-43ED-A51A-1E964CDDAF94}"/>
              </a:ext>
            </a:extLst>
          </p:cNvPr>
          <p:cNvSpPr>
            <a:spLocks xmlns:a="http://schemas.openxmlformats.org/drawingml/2006/main" noGrp="1"/>
          </p:cNvSpPr>
          <p:nvPr/>
        </p:nvSpPr>
        <p:spPr>
          <a:xfrm xmlns:a="http://schemas.openxmlformats.org/drawingml/2006/main">
            <a:off x="8553450" y="3048000"/>
            <a:ext cx="2333625" cy="1428750"/>
          </a:xfrm>
          <a:prstGeom xmlns:a="http://schemas.openxmlformats.org/drawingml/2006/main" prst="rect">
            <a:avLst/>
          </a:prstGeom>
          <a:solidFill xmlns:a="http://schemas.openxmlformats.org/drawingml/2006/main">
            <a:srgbClr val="D9E9E5"/>
          </a:solidFill>
          <a:ln xmlns:a="http://schemas.openxmlformats.org/drawingml/2006/main" w="9525">
            <a:solidFill>
              <a:srgbClr val="B8BCC4"/>
            </a:solidFill>
            <a:prstDash val="solid"/>
          </a:ln>
        </p:spPr>
      </p:sp>
      <p:sp>
        <p:nvSpPr>
          <p:cNvPr id="16" name="">
            <a:extLst xmlns:a="http://schemas.openxmlformats.org/drawingml/2006/main">
              <a:ext uri="{FF2B5EF4-FFF2-40B4-BE49-F238E27FC236}">
                <a16:creationId xmlns:a16="http://schemas.microsoft.com/office/drawing/2014/main" id="{473BF9D6-DA79-42D0-868D-79A11B1A08B6}"/>
              </a:ext>
            </a:extLst>
          </p:cNvPr>
          <p:cNvSpPr>
            <a:spLocks xmlns:a="http://schemas.openxmlformats.org/drawingml/2006/main" noGrp="1"/>
          </p:cNvSpPr>
          <p:nvPr/>
        </p:nvSpPr>
        <p:spPr>
          <a:xfrm xmlns:a="http://schemas.openxmlformats.org/drawingml/2006/main">
            <a:off x="8724900" y="3238500"/>
            <a:ext cx="381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350" b="1">
                <a:solidFill>
                  <a:srgbClr val="0B2E45"/>
                </a:solidFill>
              </a:defRPr>
            </a:pPr>
            <a:r>
              <a:rPr sz="1350" b="1">
                <a:solidFill>
                  <a:srgbClr val="0B2E45"/>
                </a:solidFill>
              </a:rPr>
              <a:t>4</a:t>
            </a:r>
          </a:p>
        </p:txBody>
      </p:sp>
      <p:sp>
        <p:nvSpPr>
          <p:cNvPr id="17" name="">
            <a:extLst xmlns:a="http://schemas.openxmlformats.org/drawingml/2006/main">
              <a:ext uri="{FF2B5EF4-FFF2-40B4-BE49-F238E27FC236}">
                <a16:creationId xmlns:a16="http://schemas.microsoft.com/office/drawing/2014/main" id="{3C4D1809-B461-4BBD-88EC-53ED8A316F85}"/>
              </a:ext>
            </a:extLst>
          </p:cNvPr>
          <p:cNvSpPr>
            <a:spLocks xmlns:a="http://schemas.openxmlformats.org/drawingml/2006/main" noGrp="1"/>
          </p:cNvSpPr>
          <p:nvPr/>
        </p:nvSpPr>
        <p:spPr>
          <a:xfrm xmlns:a="http://schemas.openxmlformats.org/drawingml/2006/main">
            <a:off x="8724900" y="3676650"/>
            <a:ext cx="19526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75" b="1">
                <a:solidFill>
                  <a:srgbClr val="061A2B"/>
                </a:solidFill>
              </a:defRPr>
            </a:pPr>
            <a:r>
              <a:rPr sz="1575" b="1">
                <a:solidFill>
                  <a:srgbClr val="061A2B"/>
                </a:solidFill>
              </a:rPr>
              <a:t>Write an abstention case</a:t>
            </a:r>
          </a:p>
        </p:txBody>
      </p:sp>
    </p:spTree>
    <p:extLst>
      <p:ext uri="{BB962C8B-B14F-4D97-AF65-F5344CB8AC3E}">
        <p14:creationId xmlns:p14="http://schemas.microsoft.com/office/powerpoint/2010/main" val="1990682780"/>
      </p:ext>
    </p:extLst>
  </p:cSld>
</p:sld>
</file>

<file path=ppt/slides/slide6.xml><?xml version="1.0" encoding="utf-8"?>
<p:sld xmlns:p="http://schemas.openxmlformats.org/presentationml/2006/main">
  <p:cSld>
    <p:bg>
      <p:bgPr>
        <a:solidFill xmlns:a="http://schemas.openxmlformats.org/drawingml/2006/main">
          <a:srgbClr val="F4F0E6"/>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639C9818-8BE4-46E6-A0A1-5168DA872D2E}"/>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V7_0_N04</a:t>
            </a:r>
          </a:p>
        </p:txBody>
      </p:sp>
      <p:sp>
        <p:nvSpPr>
          <p:cNvPr id="2" name="">
            <a:extLst xmlns:a="http://schemas.openxmlformats.org/drawingml/2006/main">
              <a:ext uri="{FF2B5EF4-FFF2-40B4-BE49-F238E27FC236}">
                <a16:creationId xmlns:a16="http://schemas.microsoft.com/office/drawing/2014/main" id="{1BFE256B-82C8-4A80-A31E-EDCB1A3C5660}"/>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06</a:t>
            </a:r>
          </a:p>
        </p:txBody>
      </p:sp>
      <p:sp>
        <p:nvSpPr>
          <p:cNvPr id="3" name="">
            <a:extLst xmlns:a="http://schemas.openxmlformats.org/drawingml/2006/main">
              <a:ext uri="{FF2B5EF4-FFF2-40B4-BE49-F238E27FC236}">
                <a16:creationId xmlns:a16="http://schemas.microsoft.com/office/drawing/2014/main" id="{C17F4D7F-6894-485D-B658-E4D0019A8A25}"/>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D3E115C7-821A-43C4-8B81-7EF5BAA61D46}"/>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061A2B"/>
                </a:solidFill>
              </a:defRPr>
            </a:pPr>
            <a:r>
              <a:rPr sz="2850" b="1">
                <a:solidFill>
                  <a:srgbClr val="061A2B"/>
                </a:solidFill>
              </a:rPr>
              <a:t>Transfer the contract to another sector</a:t>
            </a:r>
          </a:p>
        </p:txBody>
      </p:sp>
      <p:sp>
        <p:nvSpPr>
          <p:cNvPr id="5" name="">
            <a:extLst xmlns:a="http://schemas.openxmlformats.org/drawingml/2006/main">
              <a:ext uri="{FF2B5EF4-FFF2-40B4-BE49-F238E27FC236}">
                <a16:creationId xmlns:a16="http://schemas.microsoft.com/office/drawing/2014/main" id="{C0ECCFC8-F08E-4474-8451-E0E4100041BC}"/>
              </a:ext>
            </a:extLst>
          </p:cNvPr>
          <p:cNvSpPr>
            <a:spLocks xmlns:a="http://schemas.openxmlformats.org/drawingml/2006/main" noGrp="1"/>
          </p:cNvSpPr>
          <p:nvPr/>
        </p:nvSpPr>
        <p:spPr>
          <a:xfrm xmlns:a="http://schemas.openxmlformats.org/drawingml/2006/main">
            <a:off x="552450" y="1809750"/>
            <a:ext cx="100012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102A3A"/>
                </a:solidFill>
              </a:defRPr>
            </a:pPr>
            <a:r>
              <a:rPr sz="1950" b="1">
                <a:solidFill>
                  <a:srgbClr val="102A3A"/>
                </a:solidFill>
              </a:rPr>
              <a:t>Choose health, education, agriculture, or habitat.</a:t>
            </a:r>
          </a:p>
        </p:txBody>
      </p:sp>
      <p:sp>
        <p:nvSpPr>
          <p:cNvPr id="6" name="">
            <a:extLst xmlns:a="http://schemas.openxmlformats.org/drawingml/2006/main">
              <a:ext uri="{FF2B5EF4-FFF2-40B4-BE49-F238E27FC236}">
                <a16:creationId xmlns:a16="http://schemas.microsoft.com/office/drawing/2014/main" id="{9CA12845-2624-4CB3-B381-D2A1BB257F07}"/>
              </a:ext>
            </a:extLst>
          </p:cNvPr>
          <p:cNvSpPr>
            <a:spLocks xmlns:a="http://schemas.openxmlformats.org/drawingml/2006/main" noGrp="1"/>
          </p:cNvSpPr>
          <p:nvPr/>
        </p:nvSpPr>
        <p:spPr>
          <a:xfrm xmlns:a="http://schemas.openxmlformats.org/drawingml/2006/main">
            <a:off x="552450" y="26193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1</a:t>
            </a:r>
          </a:p>
        </p:txBody>
      </p:sp>
      <p:sp>
        <p:nvSpPr>
          <p:cNvPr id="7" name="">
            <a:extLst xmlns:a="http://schemas.openxmlformats.org/drawingml/2006/main">
              <a:ext uri="{FF2B5EF4-FFF2-40B4-BE49-F238E27FC236}">
                <a16:creationId xmlns:a16="http://schemas.microsoft.com/office/drawing/2014/main" id="{BC8F2275-BAAD-47A7-B13C-D2EF7AE5683A}"/>
              </a:ext>
            </a:extLst>
          </p:cNvPr>
          <p:cNvSpPr>
            <a:spLocks xmlns:a="http://schemas.openxmlformats.org/drawingml/2006/main" noGrp="1"/>
          </p:cNvSpPr>
          <p:nvPr/>
        </p:nvSpPr>
        <p:spPr>
          <a:xfrm xmlns:a="http://schemas.openxmlformats.org/drawingml/2006/main">
            <a:off x="1104900" y="25908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Name the decision owner and lawful action.</a:t>
            </a:r>
          </a:p>
        </p:txBody>
      </p:sp>
      <p:sp>
        <p:nvSpPr>
          <p:cNvPr id="8" name="">
            <a:extLst xmlns:a="http://schemas.openxmlformats.org/drawingml/2006/main">
              <a:ext uri="{FF2B5EF4-FFF2-40B4-BE49-F238E27FC236}">
                <a16:creationId xmlns:a16="http://schemas.microsoft.com/office/drawing/2014/main" id="{CD1C3E01-D9DD-4953-AEC9-0C4AB12AE7EA}"/>
              </a:ext>
            </a:extLst>
          </p:cNvPr>
          <p:cNvSpPr>
            <a:spLocks xmlns:a="http://schemas.openxmlformats.org/drawingml/2006/main" noGrp="1"/>
          </p:cNvSpPr>
          <p:nvPr/>
        </p:nvSpPr>
        <p:spPr>
          <a:xfrm xmlns:a="http://schemas.openxmlformats.org/drawingml/2006/main">
            <a:off x="552450" y="328612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2</a:t>
            </a:r>
          </a:p>
        </p:txBody>
      </p:sp>
      <p:sp>
        <p:nvSpPr>
          <p:cNvPr id="9" name="">
            <a:extLst xmlns:a="http://schemas.openxmlformats.org/drawingml/2006/main">
              <a:ext uri="{FF2B5EF4-FFF2-40B4-BE49-F238E27FC236}">
                <a16:creationId xmlns:a16="http://schemas.microsoft.com/office/drawing/2014/main" id="{6DA76DB4-1EA6-4BD2-B9AA-888DA83378D9}"/>
              </a:ext>
            </a:extLst>
          </p:cNvPr>
          <p:cNvSpPr>
            <a:spLocks xmlns:a="http://schemas.openxmlformats.org/drawingml/2006/main" noGrp="1"/>
          </p:cNvSpPr>
          <p:nvPr/>
        </p:nvSpPr>
        <p:spPr>
          <a:xfrm xmlns:a="http://schemas.openxmlformats.org/drawingml/2006/main">
            <a:off x="1104900" y="325755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Define the evidence, horizon, and failure conditions.</a:t>
            </a:r>
          </a:p>
        </p:txBody>
      </p:sp>
      <p:sp>
        <p:nvSpPr>
          <p:cNvPr id="10" name="">
            <a:extLst xmlns:a="http://schemas.openxmlformats.org/drawingml/2006/main">
              <a:ext uri="{FF2B5EF4-FFF2-40B4-BE49-F238E27FC236}">
                <a16:creationId xmlns:a16="http://schemas.microsoft.com/office/drawing/2014/main" id="{FA839F5A-D94C-4B8A-A958-E4A14240504E}"/>
              </a:ext>
            </a:extLst>
          </p:cNvPr>
          <p:cNvSpPr>
            <a:spLocks xmlns:a="http://schemas.openxmlformats.org/drawingml/2006/main" noGrp="1"/>
          </p:cNvSpPr>
          <p:nvPr/>
        </p:nvSpPr>
        <p:spPr>
          <a:xfrm xmlns:a="http://schemas.openxmlformats.org/drawingml/2006/main">
            <a:off x="552450" y="3952875"/>
            <a:ext cx="428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650" b="1">
                <a:solidFill>
                  <a:srgbClr val="0B2E45"/>
                </a:solidFill>
              </a:defRPr>
            </a:pPr>
            <a:r>
              <a:rPr sz="1650" b="1">
                <a:solidFill>
                  <a:srgbClr val="0B2E45"/>
                </a:solidFill>
              </a:rPr>
              <a:t>3</a:t>
            </a:r>
          </a:p>
        </p:txBody>
      </p:sp>
      <p:sp>
        <p:nvSpPr>
          <p:cNvPr id="11" name="">
            <a:extLst xmlns:a="http://schemas.openxmlformats.org/drawingml/2006/main">
              <a:ext uri="{FF2B5EF4-FFF2-40B4-BE49-F238E27FC236}">
                <a16:creationId xmlns:a16="http://schemas.microsoft.com/office/drawing/2014/main" id="{B94350D6-4261-48C5-BE69-ABC96DDDC86A}"/>
              </a:ext>
            </a:extLst>
          </p:cNvPr>
          <p:cNvSpPr>
            <a:spLocks xmlns:a="http://schemas.openxmlformats.org/drawingml/2006/main" noGrp="1"/>
          </p:cNvSpPr>
          <p:nvPr/>
        </p:nvSpPr>
        <p:spPr>
          <a:xfrm xmlns:a="http://schemas.openxmlformats.org/drawingml/2006/main">
            <a:off x="1104900" y="3924300"/>
            <a:ext cx="7620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00" b="0">
                <a:solidFill>
                  <a:srgbClr val="102A3A"/>
                </a:solidFill>
              </a:defRPr>
            </a:pPr>
            <a:r>
              <a:rPr sz="1800" b="0">
                <a:solidFill>
                  <a:srgbClr val="102A3A"/>
                </a:solidFill>
              </a:rPr>
              <a:t>State when to abstain, escalate, monitor, and retire.</a:t>
            </a:r>
          </a:p>
        </p:txBody>
      </p:sp>
      <p:sp>
        <p:nvSpPr>
          <p:cNvPr id="12" name="">
            <a:extLst xmlns:a="http://schemas.openxmlformats.org/drawingml/2006/main">
              <a:ext uri="{FF2B5EF4-FFF2-40B4-BE49-F238E27FC236}">
                <a16:creationId xmlns:a16="http://schemas.microsoft.com/office/drawing/2014/main" id="{EB27070A-0F97-4B0C-B5B6-5F1C0E51EBEA}"/>
              </a:ext>
            </a:extLst>
          </p:cNvPr>
          <p:cNvSpPr>
            <a:spLocks xmlns:a="http://schemas.openxmlformats.org/drawingml/2006/main" noGrp="1"/>
          </p:cNvSpPr>
          <p:nvPr/>
        </p:nvSpPr>
        <p:spPr>
          <a:xfrm xmlns:a="http://schemas.openxmlformats.org/drawingml/2006/main">
            <a:off x="8858250" y="2400300"/>
            <a:ext cx="2190750" cy="2190750"/>
          </a:xfrm>
          <a:prstGeom xmlns:a="http://schemas.openxmlformats.org/drawingml/2006/main" prst="rect">
            <a:avLst/>
          </a:prstGeom>
          <a:solidFill xmlns:a="http://schemas.openxmlformats.org/drawingml/2006/main">
            <a:srgbClr val="D9E9E5"/>
          </a:solidFill>
          <a:ln xmlns:a="http://schemas.openxmlformats.org/drawingml/2006/main" w="9525">
            <a:solidFill>
              <a:srgbClr val="D4DEE9"/>
            </a:solidFill>
            <a:prstDash val="solid"/>
          </a:ln>
        </p:spPr>
      </p:sp>
      <p:sp>
        <p:nvSpPr>
          <p:cNvPr id="13" name="">
            <a:extLst xmlns:a="http://schemas.openxmlformats.org/drawingml/2006/main">
              <a:ext uri="{FF2B5EF4-FFF2-40B4-BE49-F238E27FC236}">
                <a16:creationId xmlns:a16="http://schemas.microsoft.com/office/drawing/2014/main" id="{321C152A-F010-49F9-8E1F-89031E271649}"/>
              </a:ext>
            </a:extLst>
          </p:cNvPr>
          <p:cNvSpPr>
            <a:spLocks xmlns:a="http://schemas.openxmlformats.org/drawingml/2006/main" noGrp="1"/>
          </p:cNvSpPr>
          <p:nvPr/>
        </p:nvSpPr>
        <p:spPr>
          <a:xfrm xmlns:a="http://schemas.openxmlformats.org/drawingml/2006/main">
            <a:off x="9144000" y="2667000"/>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125" b="1">
                <a:solidFill>
                  <a:srgbClr val="DCA24A"/>
                </a:solidFill>
              </a:defRPr>
            </a:pPr>
            <a:r>
              <a:rPr sz="1125" b="1">
                <a:solidFill>
                  <a:srgbClr val="DCA24A"/>
                </a:solidFill>
              </a:rPr>
              <a:t>SUCCESS</a:t>
            </a:r>
          </a:p>
        </p:txBody>
      </p:sp>
      <p:sp>
        <p:nvSpPr>
          <p:cNvPr id="14" name="">
            <a:extLst xmlns:a="http://schemas.openxmlformats.org/drawingml/2006/main">
              <a:ext uri="{FF2B5EF4-FFF2-40B4-BE49-F238E27FC236}">
                <a16:creationId xmlns:a16="http://schemas.microsoft.com/office/drawing/2014/main" id="{FFD55CF6-CF93-4D57-A7B1-584880BA558F}"/>
              </a:ext>
            </a:extLst>
          </p:cNvPr>
          <p:cNvSpPr>
            <a:spLocks xmlns:a="http://schemas.openxmlformats.org/drawingml/2006/main" noGrp="1"/>
          </p:cNvSpPr>
          <p:nvPr/>
        </p:nvSpPr>
        <p:spPr>
          <a:xfrm xmlns:a="http://schemas.openxmlformats.org/drawingml/2006/main">
            <a:off x="9124950" y="3143250"/>
            <a:ext cx="16668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061A2B"/>
                </a:solidFill>
              </a:defRPr>
            </a:pPr>
            <a:r>
              <a:rPr sz="1500" b="1">
                <a:solidFill>
                  <a:srgbClr val="061A2B"/>
                </a:solidFill>
              </a:rPr>
              <a:t>A reviewer can see</a:t>
            </a:r>
          </a:p>
          <a:p xmlns:a="http://schemas.openxmlformats.org/drawingml/2006/main">
            <a:pPr algn="ctr">
              <a:defRPr sz="1500" b="1">
                <a:solidFill>
                  <a:srgbClr val="061A2B"/>
                </a:solidFill>
              </a:defRPr>
            </a:pPr>
            <a:r>
              <a:rPr sz="1500" b="1">
                <a:solidFill>
                  <a:srgbClr val="061A2B"/>
                </a:solidFill>
              </a:rPr>
              <a:t>what the system knows,</a:t>
            </a:r>
          </a:p>
          <a:p xmlns:a="http://schemas.openxmlformats.org/drawingml/2006/main">
            <a:pPr algn="ctr">
              <a:defRPr sz="1500" b="1">
                <a:solidFill>
                  <a:srgbClr val="061A2B"/>
                </a:solidFill>
              </a:defRPr>
            </a:pPr>
            <a:r>
              <a:rPr sz="1500" b="1">
                <a:solidFill>
                  <a:srgbClr val="061A2B"/>
                </a:solidFill>
              </a:rPr>
              <a:t>what it cannot decide,</a:t>
            </a:r>
          </a:p>
          <a:p xmlns:a="http://schemas.openxmlformats.org/drawingml/2006/main">
            <a:pPr algn="ctr">
              <a:defRPr sz="1500" b="1">
                <a:solidFill>
                  <a:srgbClr val="061A2B"/>
                </a:solidFill>
              </a:defRPr>
            </a:pPr>
            <a:r>
              <a:rPr sz="1500" b="1">
                <a:solidFill>
                  <a:srgbClr val="061A2B"/>
                </a:solidFill>
              </a:rPr>
              <a:t>and who remains accountable.</a:t>
            </a:r>
          </a:p>
        </p:txBody>
      </p:sp>
    </p:spTree>
    <p:extLst>
      <p:ext uri="{BB962C8B-B14F-4D97-AF65-F5344CB8AC3E}">
        <p14:creationId xmlns:p14="http://schemas.microsoft.com/office/powerpoint/2010/main" val="42733267"/>
      </p:ext>
    </p:extLst>
  </p:cSld>
</p:sld>
</file>

<file path=ppt/slides/slide7.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A2C9DE60-2ED0-4A63-8C84-D7B642E6B1C2}"/>
              </a:ext>
            </a:extLst>
          </p:cNvPr>
          <p:cNvSpPr>
            <a:spLocks xmlns:a="http://schemas.openxmlformats.org/drawingml/2006/main" noGrp="1"/>
          </p:cNvSpPr>
          <p:nvPr/>
        </p:nvSpPr>
        <p:spPr>
          <a:xfrm xmlns:a="http://schemas.openxmlformats.org/drawingml/2006/main">
            <a:off x="552450" y="266700"/>
            <a:ext cx="4953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900" b="1">
                <a:solidFill>
                  <a:srgbClr val="4E6472"/>
                </a:solidFill>
              </a:defRPr>
            </a:pPr>
            <a:r>
              <a:rPr sz="900" b="1">
                <a:solidFill>
                  <a:srgbClr val="4E6472"/>
                </a:solidFill>
              </a:rPr>
              <a:t>SRAI BOOK 7  |  V7_0_N04</a:t>
            </a:r>
          </a:p>
        </p:txBody>
      </p:sp>
      <p:sp>
        <p:nvSpPr>
          <p:cNvPr id="2" name="">
            <a:extLst xmlns:a="http://schemas.openxmlformats.org/drawingml/2006/main">
              <a:ext uri="{FF2B5EF4-FFF2-40B4-BE49-F238E27FC236}">
                <a16:creationId xmlns:a16="http://schemas.microsoft.com/office/drawing/2014/main" id="{606536BB-4794-4918-96BD-D308086A155A}"/>
              </a:ext>
            </a:extLst>
          </p:cNvPr>
          <p:cNvSpPr>
            <a:spLocks xmlns:a="http://schemas.openxmlformats.org/drawingml/2006/main" noGrp="1"/>
          </p:cNvSpPr>
          <p:nvPr/>
        </p:nvSpPr>
        <p:spPr>
          <a:xfrm xmlns:a="http://schemas.openxmlformats.org/drawingml/2006/main">
            <a:off x="10953750" y="619125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00" b="1">
                <a:solidFill>
                  <a:srgbClr val="4E6472"/>
                </a:solidFill>
              </a:defRPr>
            </a:pPr>
            <a:r>
              <a:rPr sz="900" b="1">
                <a:solidFill>
                  <a:srgbClr val="4E6472"/>
                </a:solidFill>
              </a:rPr>
              <a:t>07</a:t>
            </a:r>
          </a:p>
        </p:txBody>
      </p:sp>
      <p:sp>
        <p:nvSpPr>
          <p:cNvPr id="3" name="">
            <a:extLst xmlns:a="http://schemas.openxmlformats.org/drawingml/2006/main">
              <a:ext uri="{FF2B5EF4-FFF2-40B4-BE49-F238E27FC236}">
                <a16:creationId xmlns:a16="http://schemas.microsoft.com/office/drawing/2014/main" id="{48F172E9-A1B8-410E-BDB8-84960BDE8981}"/>
              </a:ext>
            </a:extLst>
          </p:cNvPr>
          <p:cNvSpPr>
            <a:spLocks xmlns:a="http://schemas.openxmlformats.org/drawingml/2006/main" noGrp="1"/>
          </p:cNvSpPr>
          <p:nvPr/>
        </p:nvSpPr>
        <p:spPr>
          <a:xfrm xmlns:a="http://schemas.openxmlformats.org/drawingml/2006/main">
            <a:off x="552450" y="609600"/>
            <a:ext cx="11087100" cy="9525"/>
          </a:xfrm>
          <a:prstGeom xmlns:a="http://schemas.openxmlformats.org/drawingml/2006/main" prst="rect">
            <a:avLst/>
          </a:prstGeom>
          <a:solidFill xmlns:a="http://schemas.openxmlformats.org/drawingml/2006/main">
            <a:srgbClr val="B8C3BD"/>
          </a:solidFill>
          <a:ln xmlns:a="http://schemas.openxmlformats.org/drawingml/2006/main" w="9525">
            <a:solidFill>
              <a:srgbClr val="B8C3BD"/>
            </a:solidFill>
            <a:prstDash val="solid"/>
          </a:ln>
        </p:spPr>
      </p:sp>
      <p:sp>
        <p:nvSpPr>
          <p:cNvPr id="4" name="">
            <a:extLst xmlns:a="http://schemas.openxmlformats.org/drawingml/2006/main">
              <a:ext uri="{FF2B5EF4-FFF2-40B4-BE49-F238E27FC236}">
                <a16:creationId xmlns:a16="http://schemas.microsoft.com/office/drawing/2014/main" id="{A5C0B0F9-4C5B-4BE4-9A62-53BC0B561249}"/>
              </a:ext>
            </a:extLst>
          </p:cNvPr>
          <p:cNvSpPr>
            <a:spLocks xmlns:a="http://schemas.openxmlformats.org/drawingml/2006/main" noGrp="1"/>
          </p:cNvSpPr>
          <p:nvPr/>
        </p:nvSpPr>
        <p:spPr>
          <a:xfrm xmlns:a="http://schemas.openxmlformats.org/drawingml/2006/main">
            <a:off x="552450" y="895350"/>
            <a:ext cx="10477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2850" b="1">
                <a:solidFill>
                  <a:srgbClr val="F7F4EC"/>
                </a:solidFill>
              </a:defRPr>
            </a:pPr>
            <a:r>
              <a:rPr sz="2850" b="1">
                <a:solidFill>
                  <a:srgbClr val="F7F4EC"/>
                </a:solidFill>
              </a:rPr>
              <a:t>Guardrails are part of the analytical specification</a:t>
            </a:r>
          </a:p>
        </p:txBody>
      </p:sp>
      <p:sp>
        <p:nvSpPr>
          <p:cNvPr id="5" name="">
            <a:extLst xmlns:a="http://schemas.openxmlformats.org/drawingml/2006/main">
              <a:ext uri="{FF2B5EF4-FFF2-40B4-BE49-F238E27FC236}">
                <a16:creationId xmlns:a16="http://schemas.microsoft.com/office/drawing/2014/main" id="{4D46D44C-5746-4F55-BF6F-2CDCC5E5E777}"/>
              </a:ext>
            </a:extLst>
          </p:cNvPr>
          <p:cNvSpPr>
            <a:spLocks xmlns:a="http://schemas.openxmlformats.org/drawingml/2006/main" noGrp="1"/>
          </p:cNvSpPr>
          <p:nvPr/>
        </p:nvSpPr>
        <p:spPr>
          <a:xfrm xmlns:a="http://schemas.openxmlformats.org/drawingml/2006/main">
            <a:off x="552450" y="1809750"/>
            <a:ext cx="4762500" cy="2857500"/>
          </a:xfrm>
          <a:prstGeom xmlns:a="http://schemas.openxmlformats.org/drawingml/2006/main" prst="rect">
            <a:avLst/>
          </a:prstGeom>
          <a:solidFill xmlns:a="http://schemas.openxmlformats.org/drawingml/2006/main">
            <a:srgbClr val="F6F8FA"/>
          </a:solidFill>
          <a:ln xmlns:a="http://schemas.openxmlformats.org/drawingml/2006/main" w="9525">
            <a:solidFill>
              <a:srgbClr val="D4DEE9"/>
            </a:solidFill>
            <a:prstDash val="solid"/>
          </a:ln>
        </p:spPr>
      </p:sp>
      <p:sp>
        <p:nvSpPr>
          <p:cNvPr id="6" name="">
            <a:extLst xmlns:a="http://schemas.openxmlformats.org/drawingml/2006/main">
              <a:ext uri="{FF2B5EF4-FFF2-40B4-BE49-F238E27FC236}">
                <a16:creationId xmlns:a16="http://schemas.microsoft.com/office/drawing/2014/main" id="{FAC0737F-E4F9-4FB7-A7A3-8633B10CF405}"/>
              </a:ext>
            </a:extLst>
          </p:cNvPr>
          <p:cNvSpPr>
            <a:spLocks xmlns:a="http://schemas.openxmlformats.org/drawingml/2006/main" noGrp="1"/>
          </p:cNvSpPr>
          <p:nvPr/>
        </p:nvSpPr>
        <p:spPr>
          <a:xfrm xmlns:a="http://schemas.openxmlformats.org/drawingml/2006/main">
            <a:off x="81915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0B2E45"/>
                </a:solidFill>
              </a:defRPr>
            </a:pPr>
            <a:r>
              <a:rPr sz="1125" b="1">
                <a:solidFill>
                  <a:srgbClr val="0B2E45"/>
                </a:solidFill>
              </a:rPr>
              <a:t>REQUIRED</a:t>
            </a:r>
          </a:p>
        </p:txBody>
      </p:sp>
      <p:sp>
        <p:nvSpPr>
          <p:cNvPr id="7" name="">
            <a:extLst xmlns:a="http://schemas.openxmlformats.org/drawingml/2006/main">
              <a:ext uri="{FF2B5EF4-FFF2-40B4-BE49-F238E27FC236}">
                <a16:creationId xmlns:a16="http://schemas.microsoft.com/office/drawing/2014/main" id="{850575B0-CF00-43F5-A2BE-E5AA2319530F}"/>
              </a:ext>
            </a:extLst>
          </p:cNvPr>
          <p:cNvSpPr>
            <a:spLocks xmlns:a="http://schemas.openxmlformats.org/drawingml/2006/main" noGrp="1"/>
          </p:cNvSpPr>
          <p:nvPr/>
        </p:nvSpPr>
        <p:spPr>
          <a:xfrm xmlns:a="http://schemas.openxmlformats.org/drawingml/2006/main">
            <a:off x="81915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061A2B"/>
                </a:solidFill>
              </a:defRPr>
            </a:pPr>
            <a:r>
              <a:rPr sz="1875" b="1">
                <a:solidFill>
                  <a:srgbClr val="061A2B"/>
                </a:solidFill>
              </a:rPr>
              <a:t>Evidence provenance</a:t>
            </a:r>
          </a:p>
          <a:p xmlns:a="http://schemas.openxmlformats.org/drawingml/2006/main">
            <a:pPr algn="l">
              <a:defRPr sz="1875" b="1">
                <a:solidFill>
                  <a:srgbClr val="061A2B"/>
                </a:solidFill>
              </a:defRPr>
            </a:pPr>
            <a:r>
              <a:rPr sz="1875" b="1">
                <a:solidFill>
                  <a:srgbClr val="061A2B"/>
                </a:solidFill>
              </a:rPr>
              <a:t>Visible uncertainty</a:t>
            </a:r>
          </a:p>
          <a:p xmlns:a="http://schemas.openxmlformats.org/drawingml/2006/main">
            <a:pPr algn="l">
              <a:defRPr sz="1875" b="1">
                <a:solidFill>
                  <a:srgbClr val="061A2B"/>
                </a:solidFill>
              </a:defRPr>
            </a:pPr>
            <a:r>
              <a:rPr sz="1875" b="1">
                <a:solidFill>
                  <a:srgbClr val="061A2B"/>
                </a:solidFill>
              </a:rPr>
              <a:t>Human review and override</a:t>
            </a:r>
          </a:p>
          <a:p xmlns:a="http://schemas.openxmlformats.org/drawingml/2006/main">
            <a:pPr algn="l">
              <a:defRPr sz="1875" b="1">
                <a:solidFill>
                  <a:srgbClr val="061A2B"/>
                </a:solidFill>
              </a:defRPr>
            </a:pPr>
            <a:r>
              <a:rPr sz="1875" b="1">
                <a:solidFill>
                  <a:srgbClr val="061A2B"/>
                </a:solidFill>
              </a:rPr>
              <a:t>Incident and retirement path</a:t>
            </a:r>
          </a:p>
        </p:txBody>
      </p:sp>
      <p:sp>
        <p:nvSpPr>
          <p:cNvPr id="8" name="">
            <a:extLst xmlns:a="http://schemas.openxmlformats.org/drawingml/2006/main">
              <a:ext uri="{FF2B5EF4-FFF2-40B4-BE49-F238E27FC236}">
                <a16:creationId xmlns:a16="http://schemas.microsoft.com/office/drawing/2014/main" id="{0910A972-91B0-434B-89EA-2A4DF58176AD}"/>
              </a:ext>
            </a:extLst>
          </p:cNvPr>
          <p:cNvSpPr>
            <a:spLocks xmlns:a="http://schemas.openxmlformats.org/drawingml/2006/main" noGrp="1"/>
          </p:cNvSpPr>
          <p:nvPr/>
        </p:nvSpPr>
        <p:spPr>
          <a:xfrm xmlns:a="http://schemas.openxmlformats.org/drawingml/2006/main">
            <a:off x="6286500" y="1809750"/>
            <a:ext cx="4762500" cy="2857500"/>
          </a:xfrm>
          <a:prstGeom xmlns:a="http://schemas.openxmlformats.org/drawingml/2006/main" prst="rect">
            <a:avLst/>
          </a:prstGeom>
          <a:solidFill xmlns:a="http://schemas.openxmlformats.org/drawingml/2006/main">
            <a:srgbClr val="FFF4F1"/>
          </a:solidFill>
          <a:ln xmlns:a="http://schemas.openxmlformats.org/drawingml/2006/main" w="9525">
            <a:solidFill>
              <a:srgbClr val="E5B9AF"/>
            </a:solidFill>
            <a:prstDash val="solid"/>
          </a:ln>
        </p:spPr>
      </p:sp>
      <p:sp>
        <p:nvSpPr>
          <p:cNvPr id="9" name="">
            <a:extLst xmlns:a="http://schemas.openxmlformats.org/drawingml/2006/main">
              <a:ext uri="{FF2B5EF4-FFF2-40B4-BE49-F238E27FC236}">
                <a16:creationId xmlns:a16="http://schemas.microsoft.com/office/drawing/2014/main" id="{8A6D1FAD-9EAE-49BD-8EA7-307830C82212}"/>
              </a:ext>
            </a:extLst>
          </p:cNvPr>
          <p:cNvSpPr>
            <a:spLocks xmlns:a="http://schemas.openxmlformats.org/drawingml/2006/main" noGrp="1"/>
          </p:cNvSpPr>
          <p:nvPr/>
        </p:nvSpPr>
        <p:spPr>
          <a:xfrm xmlns:a="http://schemas.openxmlformats.org/drawingml/2006/main">
            <a:off x="6553200" y="2095500"/>
            <a:ext cx="4191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125" b="1">
                <a:solidFill>
                  <a:srgbClr val="8B1E1E"/>
                </a:solidFill>
              </a:defRPr>
            </a:pPr>
            <a:r>
              <a:rPr sz="1125" b="1">
                <a:solidFill>
                  <a:srgbClr val="8B1E1E"/>
                </a:solidFill>
              </a:rPr>
              <a:t>PROHIBITED</a:t>
            </a:r>
          </a:p>
        </p:txBody>
      </p:sp>
      <p:sp>
        <p:nvSpPr>
          <p:cNvPr id="10" name="">
            <a:extLst xmlns:a="http://schemas.openxmlformats.org/drawingml/2006/main">
              <a:ext uri="{FF2B5EF4-FFF2-40B4-BE49-F238E27FC236}">
                <a16:creationId xmlns:a16="http://schemas.microsoft.com/office/drawing/2014/main" id="{86929D15-723F-48FF-93F7-2EF3E1CAB54D}"/>
              </a:ext>
            </a:extLst>
          </p:cNvPr>
          <p:cNvSpPr>
            <a:spLocks xmlns:a="http://schemas.openxmlformats.org/drawingml/2006/main" noGrp="1"/>
          </p:cNvSpPr>
          <p:nvPr/>
        </p:nvSpPr>
        <p:spPr>
          <a:xfrm xmlns:a="http://schemas.openxmlformats.org/drawingml/2006/main">
            <a:off x="6553200" y="2609850"/>
            <a:ext cx="40005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875" b="1">
                <a:solidFill>
                  <a:srgbClr val="102A3A"/>
                </a:solidFill>
              </a:defRPr>
            </a:pPr>
            <a:r>
              <a:rPr sz="1875" b="1">
                <a:solidFill>
                  <a:srgbClr val="102A3A"/>
                </a:solidFill>
              </a:rPr>
              <a:t>Silent delegation of authority</a:t>
            </a:r>
          </a:p>
          <a:p xmlns:a="http://schemas.openxmlformats.org/drawingml/2006/main">
            <a:pPr algn="l">
              <a:defRPr sz="1875" b="1">
                <a:solidFill>
                  <a:srgbClr val="102A3A"/>
                </a:solidFill>
              </a:defRPr>
            </a:pPr>
            <a:r>
              <a:rPr sz="1875" b="1">
                <a:solidFill>
                  <a:srgbClr val="102A3A"/>
                </a:solidFill>
              </a:rPr>
              <a:t>Automatic consequential action</a:t>
            </a:r>
          </a:p>
          <a:p xmlns:a="http://schemas.openxmlformats.org/drawingml/2006/main">
            <a:pPr algn="l">
              <a:defRPr sz="1875" b="1">
                <a:solidFill>
                  <a:srgbClr val="102A3A"/>
                </a:solidFill>
              </a:defRPr>
            </a:pPr>
            <a:r>
              <a:rPr sz="1875" b="1">
                <a:solidFill>
                  <a:srgbClr val="102A3A"/>
                </a:solidFill>
              </a:rPr>
              <a:t>Unknown-code coercion</a:t>
            </a:r>
          </a:p>
          <a:p xmlns:a="http://schemas.openxmlformats.org/drawingml/2006/main">
            <a:pPr algn="l">
              <a:defRPr sz="1875" b="1">
                <a:solidFill>
                  <a:srgbClr val="102A3A"/>
                </a:solidFill>
              </a:defRPr>
            </a:pPr>
            <a:r>
              <a:rPr sz="1875" b="1">
                <a:solidFill>
                  <a:srgbClr val="102A3A"/>
                </a:solidFill>
              </a:rPr>
              <a:t>False precision when evidence fails</a:t>
            </a:r>
          </a:p>
        </p:txBody>
      </p:sp>
    </p:spTree>
    <p:extLst>
      <p:ext uri="{BB962C8B-B14F-4D97-AF65-F5344CB8AC3E}">
        <p14:creationId xmlns:p14="http://schemas.microsoft.com/office/powerpoint/2010/main" val="64927727"/>
      </p:ext>
    </p:extLst>
  </p:cSld>
</p:sld>
</file>

<file path=ppt/slides/slide8.xml><?xml version="1.0" encoding="utf-8"?>
<p:sld xmlns:p="http://schemas.openxmlformats.org/presentationml/2006/main">
  <p:cSld>
    <p:bg>
      <p:bgPr>
        <a:solidFill xmlns:a="http://schemas.openxmlformats.org/drawingml/2006/main">
          <a:srgbClr val="061A2B"/>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8819421-F480-414A-8F5D-911BBD3DC1F7}"/>
              </a:ext>
            </a:extLst>
          </p:cNvPr>
          <p:cNvSpPr>
            <a:spLocks xmlns:a="http://schemas.openxmlformats.org/drawingml/2006/main" noGrp="1"/>
          </p:cNvSpPr>
          <p:nvPr/>
        </p:nvSpPr>
        <p:spPr>
          <a:xfrm xmlns:a="http://schemas.openxmlformats.org/drawingml/2006/main">
            <a:off x="552450" y="819150"/>
            <a:ext cx="10477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150" b="1">
                <a:solidFill>
                  <a:srgbClr val="FFFFFF"/>
                </a:solidFill>
              </a:defRPr>
            </a:pPr>
            <a:r>
              <a:rPr sz="3150" b="1">
                <a:solidFill>
                  <a:srgbClr val="FFFFFF"/>
                </a:solidFill>
              </a:rPr>
              <a:t>Before deployment, ask five questions</a:t>
            </a:r>
          </a:p>
        </p:txBody>
      </p:sp>
      <p:sp>
        <p:nvSpPr>
          <p:cNvPr id="2" name="">
            <a:extLst xmlns:a="http://schemas.openxmlformats.org/drawingml/2006/main">
              <a:ext uri="{FF2B5EF4-FFF2-40B4-BE49-F238E27FC236}">
                <a16:creationId xmlns:a16="http://schemas.microsoft.com/office/drawing/2014/main" id="{DFCDFF22-3A1E-467D-92EA-8C9DCF097863}"/>
              </a:ext>
            </a:extLst>
          </p:cNvPr>
          <p:cNvSpPr>
            <a:spLocks xmlns:a="http://schemas.openxmlformats.org/drawingml/2006/main" noGrp="1"/>
          </p:cNvSpPr>
          <p:nvPr/>
        </p:nvSpPr>
        <p:spPr>
          <a:xfrm xmlns:a="http://schemas.openxmlformats.org/drawingml/2006/main">
            <a:off x="552450" y="18097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1.</a:t>
            </a:r>
          </a:p>
        </p:txBody>
      </p:sp>
      <p:sp>
        <p:nvSpPr>
          <p:cNvPr id="3" name="">
            <a:extLst xmlns:a="http://schemas.openxmlformats.org/drawingml/2006/main">
              <a:ext uri="{FF2B5EF4-FFF2-40B4-BE49-F238E27FC236}">
                <a16:creationId xmlns:a16="http://schemas.microsoft.com/office/drawing/2014/main" id="{3651DEB2-5B4E-4BBE-83C8-88C3A698FDC7}"/>
              </a:ext>
            </a:extLst>
          </p:cNvPr>
          <p:cNvSpPr>
            <a:spLocks xmlns:a="http://schemas.openxmlformats.org/drawingml/2006/main" noGrp="1"/>
          </p:cNvSpPr>
          <p:nvPr/>
        </p:nvSpPr>
        <p:spPr>
          <a:xfrm xmlns:a="http://schemas.openxmlformats.org/drawingml/2006/main">
            <a:off x="1123950" y="17716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Time-aware validation</a:t>
            </a:r>
          </a:p>
        </p:txBody>
      </p:sp>
      <p:sp>
        <p:nvSpPr>
          <p:cNvPr id="4" name="">
            <a:extLst xmlns:a="http://schemas.openxmlformats.org/drawingml/2006/main">
              <a:ext uri="{FF2B5EF4-FFF2-40B4-BE49-F238E27FC236}">
                <a16:creationId xmlns:a16="http://schemas.microsoft.com/office/drawing/2014/main" id="{EBD2E2E0-B7B7-472B-8363-407F286A6DCC}"/>
              </a:ext>
            </a:extLst>
          </p:cNvPr>
          <p:cNvSpPr>
            <a:spLocks xmlns:a="http://schemas.openxmlformats.org/drawingml/2006/main" noGrp="1"/>
          </p:cNvSpPr>
          <p:nvPr/>
        </p:nvSpPr>
        <p:spPr>
          <a:xfrm xmlns:a="http://schemas.openxmlformats.org/drawingml/2006/main">
            <a:off x="552450" y="24384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2.</a:t>
            </a:r>
          </a:p>
        </p:txBody>
      </p:sp>
      <p:sp>
        <p:nvSpPr>
          <p:cNvPr id="5" name="">
            <a:extLst xmlns:a="http://schemas.openxmlformats.org/drawingml/2006/main">
              <a:ext uri="{FF2B5EF4-FFF2-40B4-BE49-F238E27FC236}">
                <a16:creationId xmlns:a16="http://schemas.microsoft.com/office/drawing/2014/main" id="{5FF9C502-9AFE-4867-946F-D2960EAE73AB}"/>
              </a:ext>
            </a:extLst>
          </p:cNvPr>
          <p:cNvSpPr>
            <a:spLocks xmlns:a="http://schemas.openxmlformats.org/drawingml/2006/main" noGrp="1"/>
          </p:cNvSpPr>
          <p:nvPr/>
        </p:nvSpPr>
        <p:spPr>
          <a:xfrm xmlns:a="http://schemas.openxmlformats.org/drawingml/2006/main">
            <a:off x="1123950" y="24003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Transparent baselines</a:t>
            </a:r>
          </a:p>
        </p:txBody>
      </p:sp>
      <p:sp>
        <p:nvSpPr>
          <p:cNvPr id="6" name="">
            <a:extLst xmlns:a="http://schemas.openxmlformats.org/drawingml/2006/main">
              <a:ext uri="{FF2B5EF4-FFF2-40B4-BE49-F238E27FC236}">
                <a16:creationId xmlns:a16="http://schemas.microsoft.com/office/drawing/2014/main" id="{7A211B07-74B2-4306-A3E7-02196F1A324A}"/>
              </a:ext>
            </a:extLst>
          </p:cNvPr>
          <p:cNvSpPr>
            <a:spLocks xmlns:a="http://schemas.openxmlformats.org/drawingml/2006/main" noGrp="1"/>
          </p:cNvSpPr>
          <p:nvPr/>
        </p:nvSpPr>
        <p:spPr>
          <a:xfrm xmlns:a="http://schemas.openxmlformats.org/drawingml/2006/main">
            <a:off x="552450" y="30670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3.</a:t>
            </a:r>
          </a:p>
        </p:txBody>
      </p:sp>
      <p:sp>
        <p:nvSpPr>
          <p:cNvPr id="7" name="">
            <a:extLst xmlns:a="http://schemas.openxmlformats.org/drawingml/2006/main">
              <a:ext uri="{FF2B5EF4-FFF2-40B4-BE49-F238E27FC236}">
                <a16:creationId xmlns:a16="http://schemas.microsoft.com/office/drawing/2014/main" id="{2443993B-A14F-4EC9-8FC0-944255CBC0EC}"/>
              </a:ext>
            </a:extLst>
          </p:cNvPr>
          <p:cNvSpPr>
            <a:spLocks xmlns:a="http://schemas.openxmlformats.org/drawingml/2006/main" noGrp="1"/>
          </p:cNvSpPr>
          <p:nvPr/>
        </p:nvSpPr>
        <p:spPr>
          <a:xfrm xmlns:a="http://schemas.openxmlformats.org/drawingml/2006/main">
            <a:off x="1123950" y="30289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Calibration</a:t>
            </a:r>
          </a:p>
        </p:txBody>
      </p:sp>
      <p:sp>
        <p:nvSpPr>
          <p:cNvPr id="8" name="">
            <a:extLst xmlns:a="http://schemas.openxmlformats.org/drawingml/2006/main">
              <a:ext uri="{FF2B5EF4-FFF2-40B4-BE49-F238E27FC236}">
                <a16:creationId xmlns:a16="http://schemas.microsoft.com/office/drawing/2014/main" id="{56939361-5521-48D9-A6FF-1FAE746DC942}"/>
              </a:ext>
            </a:extLst>
          </p:cNvPr>
          <p:cNvSpPr>
            <a:spLocks xmlns:a="http://schemas.openxmlformats.org/drawingml/2006/main" noGrp="1"/>
          </p:cNvSpPr>
          <p:nvPr/>
        </p:nvSpPr>
        <p:spPr>
          <a:xfrm xmlns:a="http://schemas.openxmlformats.org/drawingml/2006/main">
            <a:off x="552450" y="369570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4.</a:t>
            </a:r>
          </a:p>
        </p:txBody>
      </p:sp>
      <p:sp>
        <p:nvSpPr>
          <p:cNvPr id="9" name="">
            <a:extLst xmlns:a="http://schemas.openxmlformats.org/drawingml/2006/main">
              <a:ext uri="{FF2B5EF4-FFF2-40B4-BE49-F238E27FC236}">
                <a16:creationId xmlns:a16="http://schemas.microsoft.com/office/drawing/2014/main" id="{7ECDD14C-0666-4A67-BB79-44893D419F5D}"/>
              </a:ext>
            </a:extLst>
          </p:cNvPr>
          <p:cNvSpPr>
            <a:spLocks xmlns:a="http://schemas.openxmlformats.org/drawingml/2006/main" noGrp="1"/>
          </p:cNvSpPr>
          <p:nvPr/>
        </p:nvSpPr>
        <p:spPr>
          <a:xfrm xmlns:a="http://schemas.openxmlformats.org/drawingml/2006/main">
            <a:off x="1123950" y="365760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Interval coverage</a:t>
            </a:r>
          </a:p>
        </p:txBody>
      </p:sp>
      <p:sp>
        <p:nvSpPr>
          <p:cNvPr id="10" name="">
            <a:extLst xmlns:a="http://schemas.openxmlformats.org/drawingml/2006/main">
              <a:ext uri="{FF2B5EF4-FFF2-40B4-BE49-F238E27FC236}">
                <a16:creationId xmlns:a16="http://schemas.microsoft.com/office/drawing/2014/main" id="{50048DB5-48B8-4DF2-ACE3-1E44AEAE9C80}"/>
              </a:ext>
            </a:extLst>
          </p:cNvPr>
          <p:cNvSpPr>
            <a:spLocks xmlns:a="http://schemas.openxmlformats.org/drawingml/2006/main" noGrp="1"/>
          </p:cNvSpPr>
          <p:nvPr/>
        </p:nvSpPr>
        <p:spPr>
          <a:xfrm xmlns:a="http://schemas.openxmlformats.org/drawingml/2006/main">
            <a:off x="552450" y="4324350"/>
            <a:ext cx="47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1">
                <a:solidFill>
                  <a:srgbClr val="6DCBF4"/>
                </a:solidFill>
              </a:defRPr>
            </a:pPr>
            <a:r>
              <a:rPr sz="1500" b="1">
                <a:solidFill>
                  <a:srgbClr val="6DCBF4"/>
                </a:solidFill>
              </a:rPr>
              <a:t>5.</a:t>
            </a:r>
          </a:p>
        </p:txBody>
      </p:sp>
      <p:sp>
        <p:nvSpPr>
          <p:cNvPr id="11" name="">
            <a:extLst xmlns:a="http://schemas.openxmlformats.org/drawingml/2006/main">
              <a:ext uri="{FF2B5EF4-FFF2-40B4-BE49-F238E27FC236}">
                <a16:creationId xmlns:a16="http://schemas.microsoft.com/office/drawing/2014/main" id="{F8B452FF-EDD6-4A89-9D55-DFB4A734FB07}"/>
              </a:ext>
            </a:extLst>
          </p:cNvPr>
          <p:cNvSpPr>
            <a:spLocks xmlns:a="http://schemas.openxmlformats.org/drawingml/2006/main" noGrp="1"/>
          </p:cNvSpPr>
          <p:nvPr/>
        </p:nvSpPr>
        <p:spPr>
          <a:xfrm xmlns:a="http://schemas.openxmlformats.org/drawingml/2006/main">
            <a:off x="1123950" y="4286250"/>
            <a:ext cx="8572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950" b="1">
                <a:solidFill>
                  <a:srgbClr val="FFFFFF"/>
                </a:solidFill>
              </a:defRPr>
            </a:pPr>
            <a:r>
              <a:rPr sz="1950" b="1">
                <a:solidFill>
                  <a:srgbClr val="FFFFFF"/>
                </a:solidFill>
              </a:rPr>
              <a:t>Stress and retirement tests</a:t>
            </a:r>
          </a:p>
        </p:txBody>
      </p:sp>
      <p:sp>
        <p:nvSpPr>
          <p:cNvPr id="12" name="">
            <a:extLst xmlns:a="http://schemas.openxmlformats.org/drawingml/2006/main">
              <a:ext uri="{FF2B5EF4-FFF2-40B4-BE49-F238E27FC236}">
                <a16:creationId xmlns:a16="http://schemas.microsoft.com/office/drawing/2014/main" id="{C3078AA7-349F-41B5-BA52-62A2DF17889A}"/>
              </a:ext>
            </a:extLst>
          </p:cNvPr>
          <p:cNvSpPr>
            <a:spLocks xmlns:a="http://schemas.openxmlformats.org/drawingml/2006/main" noGrp="1"/>
          </p:cNvSpPr>
          <p:nvPr/>
        </p:nvSpPr>
        <p:spPr>
          <a:xfrm xmlns:a="http://schemas.openxmlformats.org/drawingml/2006/main">
            <a:off x="552450" y="5410200"/>
            <a:ext cx="10001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725" b="1">
                <a:solidFill>
                  <a:srgbClr val="F5C66A"/>
                </a:solidFill>
              </a:defRPr>
            </a:pPr>
            <a:r>
              <a:rPr sz="1725" b="1">
                <a:solidFill>
                  <a:srgbClr val="F5C66A"/>
                </a:solidFill>
              </a:rPr>
              <a:t>If one critical answer is missing, pause and refer for review.</a:t>
            </a:r>
          </a:p>
        </p:txBody>
      </p:sp>
    </p:spTree>
    <p:extLst>
      <p:ext uri="{BB962C8B-B14F-4D97-AF65-F5344CB8AC3E}">
        <p14:creationId xmlns:p14="http://schemas.microsoft.com/office/powerpoint/2010/main" val="116829300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2026-09-04T14:32:47.3400000Z</dcterms:created>
  <dcterms:modified xsi:type="dcterms:W3CDTF">2026-09-04T14:32:47.3400000Z</dcterms:modified>
</coreProperties>
</file>