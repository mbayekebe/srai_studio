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a160f9fab74428" /><Relationship Type="http://schemas.openxmlformats.org/officeDocument/2006/relationships/extended-properties" Target="/docProps/app.xml" Id="R2bec25f136154d5a" /><Relationship Type="http://schemas.openxmlformats.org/officeDocument/2006/relationships/officeDocument" Target="/ppt/presentation.xml" Id="R63a15fd88c5744dc" /></Relationships>
</file>

<file path=ppt/presentation.xml><?xml version="1.0" encoding="utf-8"?>
<p:presentation xmlns:p="http://schemas.openxmlformats.org/presentationml/2006/main">
  <p:sldMasterIdLst>
    <p:sldMasterId xmlns:r="http://schemas.openxmlformats.org/officeDocument/2006/relationships" id="2147483648" r:id="Raa639701b7834d2e"/>
  </p:sldMasterIdLst>
  <p:notesMasterIdLst>
    <p:notesMasterId xmlns:r="http://schemas.openxmlformats.org/officeDocument/2006/relationships" r:id="R34d1f64ebd4a4392"/>
  </p:notesMasterIdLst>
  <p:sldIdLst>
    <p:sldId xmlns:r="http://schemas.openxmlformats.org/officeDocument/2006/relationships" id="256" r:id="Rf49ad26cb29040a9"/>
    <p:sldId xmlns:r="http://schemas.openxmlformats.org/officeDocument/2006/relationships" id="257" r:id="Ra8c3ffff62de41ea"/>
    <p:sldId xmlns:r="http://schemas.openxmlformats.org/officeDocument/2006/relationships" id="258" r:id="Rbcfd8df3ffe14c96"/>
    <p:sldId xmlns:r="http://schemas.openxmlformats.org/officeDocument/2006/relationships" id="259" r:id="R2e2f35281b00402b"/>
    <p:sldId xmlns:r="http://schemas.openxmlformats.org/officeDocument/2006/relationships" id="260" r:id="R8a78350c2e7c4495"/>
    <p:sldId xmlns:r="http://schemas.openxmlformats.org/officeDocument/2006/relationships" id="261" r:id="Ra85c0a627fe44fa7"/>
    <p:sldId xmlns:r="http://schemas.openxmlformats.org/officeDocument/2006/relationships" id="262" r:id="R75f74e84f9464aaa"/>
    <p:sldId xmlns:r="http://schemas.openxmlformats.org/officeDocument/2006/relationships" id="263" r:id="R6e29dad1425240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db83502a8348ab" /><Relationship Type="http://schemas.openxmlformats.org/officeDocument/2006/relationships/slideMaster" Target="/ppt/slideMasters/slideMaster1.xml" Id="Raa639701b7834d2e" /><Relationship Type="http://schemas.openxmlformats.org/officeDocument/2006/relationships/notesMaster" Target="/ppt/notesMasters/notesMaster1.xml" Id="R34d1f64ebd4a4392" /><Relationship Type="http://schemas.openxmlformats.org/officeDocument/2006/relationships/presProps" Target="/ppt/presProps.xml" Id="R26ebb9a9a8d64d29" /><Relationship Type="http://schemas.openxmlformats.org/officeDocument/2006/relationships/tableStyles" Target="/ppt/tableStyles.xml" Id="R29d3ca8381dc4346" /><Relationship Type="http://schemas.openxmlformats.org/officeDocument/2006/relationships/slide" Target="/ppt/slides/slide1.xml" Id="Rf49ad26cb29040a9" /><Relationship Type="http://schemas.openxmlformats.org/officeDocument/2006/relationships/slide" Target="/ppt/slides/slide2.xml" Id="Ra8c3ffff62de41ea" /><Relationship Type="http://schemas.openxmlformats.org/officeDocument/2006/relationships/slide" Target="/ppt/slides/slide3.xml" Id="Rbcfd8df3ffe14c96" /><Relationship Type="http://schemas.openxmlformats.org/officeDocument/2006/relationships/slide" Target="/ppt/slides/slide4.xml" Id="R2e2f35281b00402b" /><Relationship Type="http://schemas.openxmlformats.org/officeDocument/2006/relationships/slide" Target="/ppt/slides/slide5.xml" Id="R8a78350c2e7c4495" /><Relationship Type="http://schemas.openxmlformats.org/officeDocument/2006/relationships/slide" Target="/ppt/slides/slide6.xml" Id="Ra85c0a627fe44fa7" /><Relationship Type="http://schemas.openxmlformats.org/officeDocument/2006/relationships/slide" Target="/ppt/slides/slide7.xml" Id="R75f74e84f9464aaa" /><Relationship Type="http://schemas.openxmlformats.org/officeDocument/2006/relationships/slide" Target="/ppt/slides/slide8.xml" Id="R6e29dad1425240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48018e645641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6515fd4dfa4a76" /><Relationship Type="http://schemas.openxmlformats.org/officeDocument/2006/relationships/notesMaster" Target="/ppt/notesMasters/notesMaster1.xml" Id="Rd57318ffa53143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96d35f274e406b" /><Relationship Type="http://schemas.openxmlformats.org/officeDocument/2006/relationships/notesMaster" Target="/ppt/notesMasters/notesMaster1.xml" Id="Rb45c5a16debb49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120ec19ca740d0" /><Relationship Type="http://schemas.openxmlformats.org/officeDocument/2006/relationships/notesMaster" Target="/ppt/notesMasters/notesMaster1.xml" Id="R06f3cffa1e524f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59244bd86144f9" /><Relationship Type="http://schemas.openxmlformats.org/officeDocument/2006/relationships/notesMaster" Target="/ppt/notesMasters/notesMaster1.xml" Id="Rdce96c8610cc49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02e986aafa4bc2" /><Relationship Type="http://schemas.openxmlformats.org/officeDocument/2006/relationships/notesMaster" Target="/ppt/notesMasters/notesMaster1.xml" Id="Rd0cf06e81ba44c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fdd0e768124534" /><Relationship Type="http://schemas.openxmlformats.org/officeDocument/2006/relationships/notesMaster" Target="/ppt/notesMasters/notesMaster1.xml" Id="Rd77b2c4a4d2944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2abc4e28a24919" /><Relationship Type="http://schemas.openxmlformats.org/officeDocument/2006/relationships/notesMaster" Target="/ppt/notesMasters/notesMaster1.xml" Id="R5efa77321d794b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20564546fd466d" /><Relationship Type="http://schemas.openxmlformats.org/officeDocument/2006/relationships/notesMaster" Target="/ppt/notesMasters/notesMaster1.xml" Id="R754e536bf41049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Start With the Decision. This lesson begins with one principle: define the decision before selecting the model. We will connect that principle to an accountable institutional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V7_0_N01,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Define the decision before selecting the model. The five controls shown here are Named owner, Lawful intervention, Decision horizon, Error trade-offs, Abstention and escalation. Together, they prevent an analytical result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V7_0_N01,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named owner, move through lawful intervention and decision horizon, and finish with error trade-offs and abstention and escalation.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V7_0_N01,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example. Attendance risk signals cases for authorized review—not sanctions or eligibility decisions. The analytical system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V7_0_N01,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Complete a machine-readable decision contract and test its actionability gate. As you review the saved outputs, focus on what the system can establish,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V7_0_N01,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another sector.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V7_0_N01,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V7_0_N01,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named owner clear? Is lawful intervention documented? Is decision horizon testable? Is error trade-offs governed? And is abstention and escalation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V7_0_N01,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9124c62a4840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2ba50724084f54" /><Relationship Type="http://schemas.openxmlformats.org/officeDocument/2006/relationships/slideLayout" Target="/ppt/slideLayouts/slideLayout1.xml" Id="R2159da04e59e45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59da04e59e45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619f36410e42ee" /><Relationship Type="http://schemas.openxmlformats.org/officeDocument/2006/relationships/notesSlide" Target="/ppt/notesSlides/notesSlide1.xml" Id="Rcc2c4381d49045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e9c390a3974570" /><Relationship Type="http://schemas.openxmlformats.org/officeDocument/2006/relationships/notesSlide" Target="/ppt/notesSlides/notesSlide2.xml" Id="Raffd004fe1d145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963a8a425f540c4" /><Relationship Type="http://schemas.openxmlformats.org/officeDocument/2006/relationships/notesSlide" Target="/ppt/notesSlides/notesSlide3.xml" Id="R2e90cb9bb2a447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f9af1d9486440f" /><Relationship Type="http://schemas.openxmlformats.org/officeDocument/2006/relationships/notesSlide" Target="/ppt/notesSlides/notesSlide4.xml" Id="Rbb31be6098b44b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2fff17b920452f" /><Relationship Type="http://schemas.openxmlformats.org/officeDocument/2006/relationships/notesSlide" Target="/ppt/notesSlides/notesSlide5.xml" Id="Rc50a70e369c647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ac089c460c45a6" /><Relationship Type="http://schemas.openxmlformats.org/officeDocument/2006/relationships/notesSlide" Target="/ppt/notesSlides/notesSlide6.xml" Id="R24ce2768856046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20631637a943c5" /><Relationship Type="http://schemas.openxmlformats.org/officeDocument/2006/relationships/notesSlide" Target="/ppt/notesSlides/notesSlide7.xml" Id="R6b2d072c4ac34e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17f4bc6fd14a29" /><Relationship Type="http://schemas.openxmlformats.org/officeDocument/2006/relationships/notesSlide" Target="/ppt/notesSlides/notesSlide8.xml" Id="Ra74b9c3abb5149b8"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B7DDD6-552E-405F-87A7-ED58E3B4E7F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75588C98-AA9D-4F56-87B2-D65CAD731D0E}"/>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9BF35702-3B4C-4698-A19B-241143970028}"/>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5015DBBB-28E3-42A8-AE79-607BC98398F3}"/>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COMMON CORE</a:t>
            </a:r>
          </a:p>
        </p:txBody>
      </p:sp>
      <p:sp>
        <p:nvSpPr>
          <p:cNvPr id="5" name="">
            <a:extLst xmlns:a="http://schemas.openxmlformats.org/drawingml/2006/main">
              <a:ext uri="{FF2B5EF4-FFF2-40B4-BE49-F238E27FC236}">
                <a16:creationId xmlns:a16="http://schemas.microsoft.com/office/drawing/2014/main" id="{A7882DE9-0262-4EFA-BEBA-4A9FF9A0A8AE}"/>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START WITH THE DECISION</a:t>
            </a:r>
          </a:p>
        </p:txBody>
      </p:sp>
      <p:sp>
        <p:nvSpPr>
          <p:cNvPr id="6" name="">
            <a:extLst xmlns:a="http://schemas.openxmlformats.org/drawingml/2006/main">
              <a:ext uri="{FF2B5EF4-FFF2-40B4-BE49-F238E27FC236}">
                <a16:creationId xmlns:a16="http://schemas.microsoft.com/office/drawing/2014/main" id="{7567EC3C-28D2-4D21-8294-ECA5C8CA6DE3}"/>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Define the decision before selecting the model.</a:t>
            </a:r>
          </a:p>
        </p:txBody>
      </p:sp>
      <p:sp>
        <p:nvSpPr>
          <p:cNvPr id="7" name="">
            <a:extLst xmlns:a="http://schemas.openxmlformats.org/drawingml/2006/main">
              <a:ext uri="{FF2B5EF4-FFF2-40B4-BE49-F238E27FC236}">
                <a16:creationId xmlns:a16="http://schemas.microsoft.com/office/drawing/2014/main" id="{94707CB8-4474-459B-BF80-69772E14E71E}"/>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V7_0_N01</a:t>
            </a:r>
          </a:p>
        </p:txBody>
      </p:sp>
      <p:sp>
        <p:nvSpPr>
          <p:cNvPr id="8" name="">
            <a:extLst xmlns:a="http://schemas.openxmlformats.org/drawingml/2006/main">
              <a:ext uri="{FF2B5EF4-FFF2-40B4-BE49-F238E27FC236}">
                <a16:creationId xmlns:a16="http://schemas.microsoft.com/office/drawing/2014/main" id="{E14E7564-860B-4EEC-8C79-F75A846BD0BD}"/>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PU-B07-C01</a:t>
            </a:r>
          </a:p>
        </p:txBody>
      </p:sp>
      <p:sp>
        <p:nvSpPr>
          <p:cNvPr id="9" name="">
            <a:extLst xmlns:a="http://schemas.openxmlformats.org/drawingml/2006/main">
              <a:ext uri="{FF2B5EF4-FFF2-40B4-BE49-F238E27FC236}">
                <a16:creationId xmlns:a16="http://schemas.microsoft.com/office/drawing/2014/main" id="{79F1CC7F-F146-433A-AC1C-A91A545920D4}"/>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EB1792F5-564A-4147-9172-41BC3134F00F}"/>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681835251"/>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A30ADFB-B309-4BAB-9EB0-9F3AB1BC932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V7_0_N01</a:t>
            </a:r>
          </a:p>
        </p:txBody>
      </p:sp>
      <p:sp>
        <p:nvSpPr>
          <p:cNvPr id="2" name="">
            <a:extLst xmlns:a="http://schemas.openxmlformats.org/drawingml/2006/main">
              <a:ext uri="{FF2B5EF4-FFF2-40B4-BE49-F238E27FC236}">
                <a16:creationId xmlns:a16="http://schemas.microsoft.com/office/drawing/2014/main" id="{D5BF5971-0BE0-43E7-B6F1-9447746744D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CA1E1B74-1462-4CE3-B803-109EC2B8D3F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AE04DB0-1465-41C7-BEC3-5DCCE0245BB2}"/>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02D4A7FF-47E7-47AA-8F72-44ADEF0551C2}"/>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Define the decision before selecting the model.</a:t>
            </a:r>
          </a:p>
        </p:txBody>
      </p:sp>
      <p:sp>
        <p:nvSpPr>
          <p:cNvPr id="6" name="">
            <a:extLst xmlns:a="http://schemas.openxmlformats.org/drawingml/2006/main">
              <a:ext uri="{FF2B5EF4-FFF2-40B4-BE49-F238E27FC236}">
                <a16:creationId xmlns:a16="http://schemas.microsoft.com/office/drawing/2014/main" id="{AF117BBF-A1AD-4D5A-A890-A82828BB24E6}"/>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898E11DA-719A-49C0-98B5-9720ED93C65A}"/>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0DF948D1-1C2D-420E-9056-582E726C85BF}"/>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Named owner</a:t>
            </a:r>
          </a:p>
        </p:txBody>
      </p:sp>
      <p:sp>
        <p:nvSpPr>
          <p:cNvPr id="9" name="">
            <a:extLst xmlns:a="http://schemas.openxmlformats.org/drawingml/2006/main">
              <a:ext uri="{FF2B5EF4-FFF2-40B4-BE49-F238E27FC236}">
                <a16:creationId xmlns:a16="http://schemas.microsoft.com/office/drawing/2014/main" id="{F33DF96B-E031-416C-A258-105FC82991B1}"/>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91E9D407-D2F0-48D2-A3F3-A3757ABA0426}"/>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Lawful intervention</a:t>
            </a:r>
          </a:p>
        </p:txBody>
      </p:sp>
      <p:sp>
        <p:nvSpPr>
          <p:cNvPr id="11" name="">
            <a:extLst xmlns:a="http://schemas.openxmlformats.org/drawingml/2006/main">
              <a:ext uri="{FF2B5EF4-FFF2-40B4-BE49-F238E27FC236}">
                <a16:creationId xmlns:a16="http://schemas.microsoft.com/office/drawing/2014/main" id="{91B5D169-06CA-402F-B57E-19F9DCED4720}"/>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DF8FF0F9-904B-4C7A-8106-C7294D34B584}"/>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Decision horizon</a:t>
            </a:r>
          </a:p>
        </p:txBody>
      </p:sp>
      <p:sp>
        <p:nvSpPr>
          <p:cNvPr id="13" name="">
            <a:extLst xmlns:a="http://schemas.openxmlformats.org/drawingml/2006/main">
              <a:ext uri="{FF2B5EF4-FFF2-40B4-BE49-F238E27FC236}">
                <a16:creationId xmlns:a16="http://schemas.microsoft.com/office/drawing/2014/main" id="{C990ADAC-A2AA-4E31-8BF4-484E74729A2C}"/>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62BEA3C9-687E-42D5-9970-07F2BD674B63}"/>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Error trade-offs</a:t>
            </a:r>
          </a:p>
        </p:txBody>
      </p:sp>
      <p:sp>
        <p:nvSpPr>
          <p:cNvPr id="15" name="">
            <a:extLst xmlns:a="http://schemas.openxmlformats.org/drawingml/2006/main">
              <a:ext uri="{FF2B5EF4-FFF2-40B4-BE49-F238E27FC236}">
                <a16:creationId xmlns:a16="http://schemas.microsoft.com/office/drawing/2014/main" id="{63AD3DDA-11B4-46BA-9FC0-3E49A7CC4B30}"/>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F64987DE-EF51-4F53-B8EB-00E619BB44AA}"/>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Abstention and escalation</a:t>
            </a:r>
          </a:p>
        </p:txBody>
      </p:sp>
      <p:sp>
        <p:nvSpPr>
          <p:cNvPr id="17" name="">
            <a:extLst xmlns:a="http://schemas.openxmlformats.org/drawingml/2006/main">
              <a:ext uri="{FF2B5EF4-FFF2-40B4-BE49-F238E27FC236}">
                <a16:creationId xmlns:a16="http://schemas.microsoft.com/office/drawing/2014/main" id="{7C2F7961-8BEC-4F55-BEC6-8FE847D97E76}"/>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873930346"/>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6A0B153-6E71-4B1A-B2B8-C0BEA307E0B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V7_0_N01</a:t>
            </a:r>
          </a:p>
        </p:txBody>
      </p:sp>
      <p:sp>
        <p:nvSpPr>
          <p:cNvPr id="2" name="">
            <a:extLst xmlns:a="http://schemas.openxmlformats.org/drawingml/2006/main">
              <a:ext uri="{FF2B5EF4-FFF2-40B4-BE49-F238E27FC236}">
                <a16:creationId xmlns:a16="http://schemas.microsoft.com/office/drawing/2014/main" id="{58B54F60-F7FF-40BD-AA00-0F4181BBECD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9B48AA2D-1C96-4469-AD21-81B9980DC4C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D7B4590-31C3-4DB6-B84D-F9B4FDABAB8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FA9286B1-D1D1-4CBA-9073-1F0C9BB96171}"/>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556A0F4F-D470-446C-BDC5-A630AC4FEAD2}"/>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B2EE8ED3-62D0-41AF-AE0C-762299D23817}"/>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Named owner</a:t>
            </a:r>
          </a:p>
        </p:txBody>
      </p:sp>
      <p:sp>
        <p:nvSpPr>
          <p:cNvPr id="8" name="">
            <a:extLst xmlns:a="http://schemas.openxmlformats.org/drawingml/2006/main">
              <a:ext uri="{FF2B5EF4-FFF2-40B4-BE49-F238E27FC236}">
                <a16:creationId xmlns:a16="http://schemas.microsoft.com/office/drawing/2014/main" id="{232729D4-EDA0-4AC8-ABFF-C31FF9013DEC}"/>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C92EBA8-65A6-49B8-873A-C3618368AA56}"/>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3FB1FA45-6500-4638-A5C5-4026E8BC834F}"/>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Lawful intervention</a:t>
            </a:r>
          </a:p>
        </p:txBody>
      </p:sp>
      <p:sp>
        <p:nvSpPr>
          <p:cNvPr id="11" name="">
            <a:extLst xmlns:a="http://schemas.openxmlformats.org/drawingml/2006/main">
              <a:ext uri="{FF2B5EF4-FFF2-40B4-BE49-F238E27FC236}">
                <a16:creationId xmlns:a16="http://schemas.microsoft.com/office/drawing/2014/main" id="{BED6A23B-CDF2-47E3-8943-C80984527F24}"/>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562B0569-5A0C-448E-BE4C-B9D5A1DE7534}"/>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71E1FA53-C750-41A4-B81E-96C2ECD397F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Decision horizon</a:t>
            </a:r>
          </a:p>
        </p:txBody>
      </p:sp>
      <p:sp>
        <p:nvSpPr>
          <p:cNvPr id="14" name="">
            <a:extLst xmlns:a="http://schemas.openxmlformats.org/drawingml/2006/main">
              <a:ext uri="{FF2B5EF4-FFF2-40B4-BE49-F238E27FC236}">
                <a16:creationId xmlns:a16="http://schemas.microsoft.com/office/drawing/2014/main" id="{8002FB3E-CACA-4FD4-AC5E-850EDCA3EA9B}"/>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28BA6F36-E4CB-4DBF-948C-D9D7635326CC}"/>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F4011B12-4CBE-4854-AAC4-F395822E0F85}"/>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Error trade-offs</a:t>
            </a:r>
          </a:p>
        </p:txBody>
      </p:sp>
      <p:sp>
        <p:nvSpPr>
          <p:cNvPr id="17" name="">
            <a:extLst xmlns:a="http://schemas.openxmlformats.org/drawingml/2006/main">
              <a:ext uri="{FF2B5EF4-FFF2-40B4-BE49-F238E27FC236}">
                <a16:creationId xmlns:a16="http://schemas.microsoft.com/office/drawing/2014/main" id="{9E03D833-5C17-4DCC-8EF2-23E896C4BE52}"/>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331246F5-82CF-48D8-86BC-46BA1CC32457}"/>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7221FE40-B783-46DF-85D7-F6392620FEFB}"/>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Abstention and escalation</a:t>
            </a:r>
          </a:p>
        </p:txBody>
      </p:sp>
      <p:sp>
        <p:nvSpPr>
          <p:cNvPr id="20" name="">
            <a:extLst xmlns:a="http://schemas.openxmlformats.org/drawingml/2006/main">
              <a:ext uri="{FF2B5EF4-FFF2-40B4-BE49-F238E27FC236}">
                <a16:creationId xmlns:a16="http://schemas.microsoft.com/office/drawing/2014/main" id="{D2CE2776-17FA-4FED-AFDA-3A084F73CFBF}"/>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36600389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2A519B3-BDEE-4503-88C9-7425B165765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V7_0_N01</a:t>
            </a:r>
          </a:p>
        </p:txBody>
      </p:sp>
      <p:sp>
        <p:nvSpPr>
          <p:cNvPr id="2" name="">
            <a:extLst xmlns:a="http://schemas.openxmlformats.org/drawingml/2006/main">
              <a:ext uri="{FF2B5EF4-FFF2-40B4-BE49-F238E27FC236}">
                <a16:creationId xmlns:a16="http://schemas.microsoft.com/office/drawing/2014/main" id="{6D88BB3E-BE52-463B-A8C6-D2F35A1CDC93}"/>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260480A3-67E9-442B-9580-E37F0FABA90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61E0D33-4605-412A-AF9A-3F81572BE433}"/>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043F3577-CF6E-41A7-8F64-A00E2F4EF94B}"/>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93639378-E245-4169-9C79-C8814DED84B9}"/>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CDFCC3EB-777F-4B5D-B14B-96A071369BFD}"/>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Attendance risk signals cases for authorized review—not sanctions or eligibility decisions.</a:t>
            </a:r>
          </a:p>
        </p:txBody>
      </p:sp>
      <p:sp>
        <p:nvSpPr>
          <p:cNvPr id="8" name="">
            <a:extLst xmlns:a="http://schemas.openxmlformats.org/drawingml/2006/main">
              <a:ext uri="{FF2B5EF4-FFF2-40B4-BE49-F238E27FC236}">
                <a16:creationId xmlns:a16="http://schemas.microsoft.com/office/drawing/2014/main" id="{0BC874DF-3B5C-4940-B7B3-667C35528569}"/>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99610B07-2B33-4AB6-80A1-B7BD979E8287}"/>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E5E17AF6-1990-403A-88AE-18DF756118F3}"/>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C8AAB095-CB7B-41AC-AF6C-D62115DC9078}"/>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706597557"/>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0A1ECF3-4D11-4F26-988D-534715F63BD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V7_0_N01</a:t>
            </a:r>
          </a:p>
        </p:txBody>
      </p:sp>
      <p:sp>
        <p:nvSpPr>
          <p:cNvPr id="2" name="">
            <a:extLst xmlns:a="http://schemas.openxmlformats.org/drawingml/2006/main">
              <a:ext uri="{FF2B5EF4-FFF2-40B4-BE49-F238E27FC236}">
                <a16:creationId xmlns:a16="http://schemas.microsoft.com/office/drawing/2014/main" id="{AD548C63-E99F-4162-8CC2-AD5A883A415B}"/>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6C16105E-8F13-4B00-BCDE-276D0104D90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E18D1EC-3FAD-4D61-801D-A79E1AC2E30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EC79C7D7-563D-4DD8-A358-1EBF38A3A8CD}"/>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Complete a machine-readable decision contract and test its actionability gate.</a:t>
            </a:r>
          </a:p>
        </p:txBody>
      </p:sp>
      <p:sp>
        <p:nvSpPr>
          <p:cNvPr id="6" name="">
            <a:extLst xmlns:a="http://schemas.openxmlformats.org/drawingml/2006/main">
              <a:ext uri="{FF2B5EF4-FFF2-40B4-BE49-F238E27FC236}">
                <a16:creationId xmlns:a16="http://schemas.microsoft.com/office/drawing/2014/main" id="{D12498B0-C0EA-477F-8FD2-5D6AB69EC49D}"/>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FEB75DC3-943A-4DD0-8208-52893BBACD59}"/>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EE5E5D64-165F-4581-9FD8-76A06944A9D9}"/>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5F2DB3E9-66AC-44A5-8C62-2CD17030E9BB}"/>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F2ADD6AA-8398-4935-9E48-60A360A7966C}"/>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62D0A67F-D4BC-4C64-AA41-B80E629274AC}"/>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261673D1-2999-4D27-A8FB-D2DCE4E5EBFB}"/>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D8F2827D-6B0D-47D9-86EA-C601F00D5511}"/>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828D5EFD-960D-4819-8272-26E3C46EB497}"/>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CCFDEF6F-B1E9-4043-9FA6-9CDA0F897D20}"/>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B6AD7DA-F388-4C83-AB4F-C54743D47BD2}"/>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79812F01-62CA-47B9-A8A0-E0D7251A01FB}"/>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266138110"/>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45AEA88-6D78-4536-BAF1-949EDBE0A2E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V7_0_N01</a:t>
            </a:r>
          </a:p>
        </p:txBody>
      </p:sp>
      <p:sp>
        <p:nvSpPr>
          <p:cNvPr id="2" name="">
            <a:extLst xmlns:a="http://schemas.openxmlformats.org/drawingml/2006/main">
              <a:ext uri="{FF2B5EF4-FFF2-40B4-BE49-F238E27FC236}">
                <a16:creationId xmlns:a16="http://schemas.microsoft.com/office/drawing/2014/main" id="{6879084B-6B00-460C-90DE-D75B211CB0C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4C2BF1DD-9642-451F-AB86-2BDA1DBAEDB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B9A4B83-B662-4598-AFB1-74247720954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37A7D800-F032-47D0-9CC8-D78008DEBB39}"/>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2DAB1602-7C7A-42E2-9BCD-CAEBFD1D466A}"/>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F14A12AA-B4C4-40D1-B288-9FB97854D159}"/>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6157DCC8-B371-4371-8F55-234B24E6C6CC}"/>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7FBDD933-11EF-4C04-8F65-645359FAFD88}"/>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437FB08F-74A6-4F4A-82B3-F0E9C003D003}"/>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C569A06A-7218-44CC-9AED-28EC91A6A035}"/>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C009C1C1-3DDB-4038-8963-51BC957F083B}"/>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5FD67458-FACB-407D-85A3-5929170F88B5}"/>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A7FCD4E6-2E91-4D71-B02D-78573BB8079B}"/>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488518892"/>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10E5A2-6CEA-40A7-BCCD-0CB3A89B73D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V7_0_N01</a:t>
            </a:r>
          </a:p>
        </p:txBody>
      </p:sp>
      <p:sp>
        <p:nvSpPr>
          <p:cNvPr id="2" name="">
            <a:extLst xmlns:a="http://schemas.openxmlformats.org/drawingml/2006/main">
              <a:ext uri="{FF2B5EF4-FFF2-40B4-BE49-F238E27FC236}">
                <a16:creationId xmlns:a16="http://schemas.microsoft.com/office/drawing/2014/main" id="{FA5536C5-ABF9-4C1E-B6AA-FAE4F11DE91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90BE652B-B5CC-4DAD-AE0B-A9F836ED533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2343668-C79E-4F84-844B-F0FBDE51BCDB}"/>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26B9C733-55C8-4D78-8CB3-CEE606898115}"/>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22176ADA-CFA1-439A-8245-9DDFBE3860C0}"/>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5304AD1B-8081-4C72-B622-88A102F26F5D}"/>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ACC9F82B-66B3-41B9-8756-1560D8D64420}"/>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1F0400CD-6EFA-4C55-A428-3AA37E248A9E}"/>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5C013D0E-58AB-4830-8FE0-3C21B187FB15}"/>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736763623"/>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F8208C4-09E5-4635-A485-17E88F3CF508}"/>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497431C8-ED6B-4AB2-9F50-C7D689037F6F}"/>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0FDFE097-F051-44DE-8CE7-D1A1ECEED97A}"/>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Named owner</a:t>
            </a:r>
          </a:p>
        </p:txBody>
      </p:sp>
      <p:sp>
        <p:nvSpPr>
          <p:cNvPr id="4" name="">
            <a:extLst xmlns:a="http://schemas.openxmlformats.org/drawingml/2006/main">
              <a:ext uri="{FF2B5EF4-FFF2-40B4-BE49-F238E27FC236}">
                <a16:creationId xmlns:a16="http://schemas.microsoft.com/office/drawing/2014/main" id="{EA1ACF75-1DCD-42C9-85E1-6613F91A4782}"/>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4472B6DE-C3F3-4D6D-A64B-4E4885F352E7}"/>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Lawful intervention</a:t>
            </a:r>
          </a:p>
        </p:txBody>
      </p:sp>
      <p:sp>
        <p:nvSpPr>
          <p:cNvPr id="6" name="">
            <a:extLst xmlns:a="http://schemas.openxmlformats.org/drawingml/2006/main">
              <a:ext uri="{FF2B5EF4-FFF2-40B4-BE49-F238E27FC236}">
                <a16:creationId xmlns:a16="http://schemas.microsoft.com/office/drawing/2014/main" id="{A4F1A8AE-AAF2-4D81-A568-8BE9274E6227}"/>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137B3288-0A03-4B74-BAC6-6608A6D9EE1F}"/>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Decision horizon</a:t>
            </a:r>
          </a:p>
        </p:txBody>
      </p:sp>
      <p:sp>
        <p:nvSpPr>
          <p:cNvPr id="8" name="">
            <a:extLst xmlns:a="http://schemas.openxmlformats.org/drawingml/2006/main">
              <a:ext uri="{FF2B5EF4-FFF2-40B4-BE49-F238E27FC236}">
                <a16:creationId xmlns:a16="http://schemas.microsoft.com/office/drawing/2014/main" id="{3F27A389-C657-4946-A5EC-822CF6468458}"/>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4EA836A1-4B6D-4864-83B1-C031191F7108}"/>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Error trade-offs</a:t>
            </a:r>
          </a:p>
        </p:txBody>
      </p:sp>
      <p:sp>
        <p:nvSpPr>
          <p:cNvPr id="10" name="">
            <a:extLst xmlns:a="http://schemas.openxmlformats.org/drawingml/2006/main">
              <a:ext uri="{FF2B5EF4-FFF2-40B4-BE49-F238E27FC236}">
                <a16:creationId xmlns:a16="http://schemas.microsoft.com/office/drawing/2014/main" id="{72123570-8075-477E-8166-94C5285E04C7}"/>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137665D1-5671-49EA-AB9B-8B2C155B4D0E}"/>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Abstention and escalation</a:t>
            </a:r>
          </a:p>
        </p:txBody>
      </p:sp>
      <p:sp>
        <p:nvSpPr>
          <p:cNvPr id="12" name="">
            <a:extLst xmlns:a="http://schemas.openxmlformats.org/drawingml/2006/main">
              <a:ext uri="{FF2B5EF4-FFF2-40B4-BE49-F238E27FC236}">
                <a16:creationId xmlns:a16="http://schemas.microsoft.com/office/drawing/2014/main" id="{55D84334-3A3F-4A81-9E85-431AAFD6CA2B}"/>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8550452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2026-09-04T14:32:45.1420000Z</dcterms:created>
  <dcterms:modified xsi:type="dcterms:W3CDTF">2026-09-04T14:32:45.1420000Z</dcterms:modified>
</coreProperties>
</file>