
<file path=[Content_Types].xml><?xml version="1.0" encoding="utf-8"?>
<Types xmlns="http://schemas.openxmlformats.org/package/2006/content-types">
  <Default Extension="xml" ContentType="application/vnd.openxmlformats-package.core-properties+xml"/>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40ca8a72a7ba499f" /><Relationship Type="http://schemas.openxmlformats.org/officeDocument/2006/relationships/extended-properties" Target="/docProps/app.xml" Id="R43579a06c9564e8f" /><Relationship Type="http://schemas.openxmlformats.org/officeDocument/2006/relationships/officeDocument" Target="/ppt/presentation.xml" Id="R4ee6153a5aac459e" /></Relationships>
</file>

<file path=ppt/presentation.xml><?xml version="1.0" encoding="utf-8"?>
<p:presentation xmlns:p="http://schemas.openxmlformats.org/presentationml/2006/main">
  <p:sldMasterIdLst>
    <p:sldMasterId xmlns:r="http://schemas.openxmlformats.org/officeDocument/2006/relationships" id="2147483648" r:id="R94066caa70544350"/>
  </p:sldMasterIdLst>
  <p:notesMasterIdLst>
    <p:notesMasterId xmlns:r="http://schemas.openxmlformats.org/officeDocument/2006/relationships" r:id="R3a3478a2febc4736"/>
  </p:notesMasterIdLst>
  <p:sldIdLst>
    <p:sldId xmlns:r="http://schemas.openxmlformats.org/officeDocument/2006/relationships" id="256" r:id="R76a99c67f8604246"/>
    <p:sldId xmlns:r="http://schemas.openxmlformats.org/officeDocument/2006/relationships" id="257" r:id="Raacc0796f0b54e14"/>
    <p:sldId xmlns:r="http://schemas.openxmlformats.org/officeDocument/2006/relationships" id="258" r:id="R5693518335aa461f"/>
    <p:sldId xmlns:r="http://schemas.openxmlformats.org/officeDocument/2006/relationships" id="259" r:id="R00d75a91c44d4ba8"/>
    <p:sldId xmlns:r="http://schemas.openxmlformats.org/officeDocument/2006/relationships" id="260" r:id="R6cc1a48b0f4b4221"/>
    <p:sldId xmlns:r="http://schemas.openxmlformats.org/officeDocument/2006/relationships" id="261" r:id="Rb0984473fd2141a0"/>
    <p:sldId xmlns:r="http://schemas.openxmlformats.org/officeDocument/2006/relationships" id="262" r:id="Rf0e3a44ff2e64d0c"/>
    <p:sldId xmlns:r="http://schemas.openxmlformats.org/officeDocument/2006/relationships" id="263" r:id="R2f2a726f60654275"/>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550b5ba0bd7e48e4" /><Relationship Type="http://schemas.openxmlformats.org/officeDocument/2006/relationships/slideMaster" Target="/ppt/slideMasters/slideMaster1.xml" Id="R94066caa70544350" /><Relationship Type="http://schemas.openxmlformats.org/officeDocument/2006/relationships/notesMaster" Target="/ppt/notesMasters/notesMaster1.xml" Id="R3a3478a2febc4736" /><Relationship Type="http://schemas.openxmlformats.org/officeDocument/2006/relationships/presProps" Target="/ppt/presProps.xml" Id="R9952a894bc584558" /><Relationship Type="http://schemas.openxmlformats.org/officeDocument/2006/relationships/tableStyles" Target="/ppt/tableStyles.xml" Id="R6b0a2120540840ce" /><Relationship Type="http://schemas.openxmlformats.org/officeDocument/2006/relationships/slide" Target="/ppt/slides/slide1.xml" Id="R76a99c67f8604246" /><Relationship Type="http://schemas.openxmlformats.org/officeDocument/2006/relationships/slide" Target="/ppt/slides/slide2.xml" Id="Raacc0796f0b54e14" /><Relationship Type="http://schemas.openxmlformats.org/officeDocument/2006/relationships/slide" Target="/ppt/slides/slide3.xml" Id="R5693518335aa461f" /><Relationship Type="http://schemas.openxmlformats.org/officeDocument/2006/relationships/slide" Target="/ppt/slides/slide4.xml" Id="R00d75a91c44d4ba8" /><Relationship Type="http://schemas.openxmlformats.org/officeDocument/2006/relationships/slide" Target="/ppt/slides/slide5.xml" Id="R6cc1a48b0f4b4221" /><Relationship Type="http://schemas.openxmlformats.org/officeDocument/2006/relationships/slide" Target="/ppt/slides/slide6.xml" Id="Rb0984473fd2141a0" /><Relationship Type="http://schemas.openxmlformats.org/officeDocument/2006/relationships/slide" Target="/ppt/slides/slide7.xml" Id="Rf0e3a44ff2e64d0c" /><Relationship Type="http://schemas.openxmlformats.org/officeDocument/2006/relationships/slide" Target="/ppt/slides/slide8.xml" Id="R2f2a726f60654275"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5ed1abf07e164018"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bedf8f06c0224f91" /><Relationship Type="http://schemas.openxmlformats.org/officeDocument/2006/relationships/notesMaster" Target="/ppt/notesMasters/notesMaster1.xml" Id="R83e40643d0544b27" /></Relationships>
</file>

<file path=ppt/notesSlides/_rels/notesSlide2.xml.rels>&#65279;<?xml version="1.0" encoding="utf-8"?><Relationships xmlns="http://schemas.openxmlformats.org/package/2006/relationships"><Relationship Type="http://schemas.openxmlformats.org/officeDocument/2006/relationships/slide" Target="/ppt/slides/slide2.xml" Id="R650076bb057349cc" /><Relationship Type="http://schemas.openxmlformats.org/officeDocument/2006/relationships/notesMaster" Target="/ppt/notesMasters/notesMaster1.xml" Id="R7a1526a83b8f407d" /></Relationships>
</file>

<file path=ppt/notesSlides/_rels/notesSlide3.xml.rels>&#65279;<?xml version="1.0" encoding="utf-8"?><Relationships xmlns="http://schemas.openxmlformats.org/package/2006/relationships"><Relationship Type="http://schemas.openxmlformats.org/officeDocument/2006/relationships/slide" Target="/ppt/slides/slide3.xml" Id="R54746eea66294c41" /><Relationship Type="http://schemas.openxmlformats.org/officeDocument/2006/relationships/notesMaster" Target="/ppt/notesMasters/notesMaster1.xml" Id="R98ddcaf9e55640fc" /></Relationships>
</file>

<file path=ppt/notesSlides/_rels/notesSlide4.xml.rels>&#65279;<?xml version="1.0" encoding="utf-8"?><Relationships xmlns="http://schemas.openxmlformats.org/package/2006/relationships"><Relationship Type="http://schemas.openxmlformats.org/officeDocument/2006/relationships/slide" Target="/ppt/slides/slide4.xml" Id="R162530123e3d4234" /><Relationship Type="http://schemas.openxmlformats.org/officeDocument/2006/relationships/notesMaster" Target="/ppt/notesMasters/notesMaster1.xml" Id="Re089a45e92aa461f" /></Relationships>
</file>

<file path=ppt/notesSlides/_rels/notesSlide5.xml.rels>&#65279;<?xml version="1.0" encoding="utf-8"?><Relationships xmlns="http://schemas.openxmlformats.org/package/2006/relationships"><Relationship Type="http://schemas.openxmlformats.org/officeDocument/2006/relationships/slide" Target="/ppt/slides/slide5.xml" Id="Rb890253b281a4ad0" /><Relationship Type="http://schemas.openxmlformats.org/officeDocument/2006/relationships/notesMaster" Target="/ppt/notesMasters/notesMaster1.xml" Id="Rcad55e13fe694512" /></Relationships>
</file>

<file path=ppt/notesSlides/_rels/notesSlide6.xml.rels>&#65279;<?xml version="1.0" encoding="utf-8"?><Relationships xmlns="http://schemas.openxmlformats.org/package/2006/relationships"><Relationship Type="http://schemas.openxmlformats.org/officeDocument/2006/relationships/slide" Target="/ppt/slides/slide6.xml" Id="R6667e8da21204d34" /><Relationship Type="http://schemas.openxmlformats.org/officeDocument/2006/relationships/notesMaster" Target="/ppt/notesMasters/notesMaster1.xml" Id="R1e4307a1df2941cc" /></Relationships>
</file>

<file path=ppt/notesSlides/_rels/notesSlide7.xml.rels>&#65279;<?xml version="1.0" encoding="utf-8"?><Relationships xmlns="http://schemas.openxmlformats.org/package/2006/relationships"><Relationship Type="http://schemas.openxmlformats.org/officeDocument/2006/relationships/slide" Target="/ppt/slides/slide7.xml" Id="R20de7e632cf34de7" /><Relationship Type="http://schemas.openxmlformats.org/officeDocument/2006/relationships/notesMaster" Target="/ppt/notesMasters/notesMaster1.xml" Id="R9c5485b32e1e49b7" /></Relationships>
</file>

<file path=ppt/notesSlides/_rels/notesSlide8.xml.rels>&#65279;<?xml version="1.0" encoding="utf-8"?><Relationships xmlns="http://schemas.openxmlformats.org/package/2006/relationships"><Relationship Type="http://schemas.openxmlformats.org/officeDocument/2006/relationships/slide" Target="/ppt/slides/slide8.xml" Id="R3c7e065638e84799" /><Relationship Type="http://schemas.openxmlformats.org/officeDocument/2006/relationships/notesMaster" Target="/ppt/notesMasters/notesMaster1.xml" Id="R0524080d4e0043d0"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Welcome to Medicines Before Stock-Out. This lesson begins with one principle: usable supply depends on demand, lead time, quality, and cold-chain integrity. We will connect that principle to an accountable health decision and make it testable in the companion notebook.</a:t>
            </a:r>
          </a:p>
          <a:p xmlns:a="http://schemas.openxmlformats.org/drawingml/2006/main">
            <a:r>
              <a:t/>
            </a:r>
          </a:p>
          <a:p xmlns:a="http://schemas.openxmlformats.org/drawingml/2006/main">
            <a:r>
              <a:t>[Sources]</a:t>
            </a:r>
          </a:p>
          <a:p xmlns:a="http://schemas.openxmlformats.org/drawingml/2006/main">
            <a:r>
              <a:t>- Canonical notebook V7_B_N05, SRAI Book 7 v1.0.</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central idea is simple. Usable supply depends on demand, lead time, quality, and cold-chain integrity. The five controls shown here are Usable stock, Consumption, Lead time, Cold chain, Expiry risk. Together, they prevent an health signal from being mistaken for an authorized decision.</a:t>
            </a:r>
          </a:p>
          <a:p xmlns:a="http://schemas.openxmlformats.org/drawingml/2006/main">
            <a:r>
              <a:t/>
            </a:r>
          </a:p>
          <a:p xmlns:a="http://schemas.openxmlformats.org/drawingml/2006/main">
            <a:r>
              <a:t>[Sources]</a:t>
            </a:r>
          </a:p>
          <a:p xmlns:a="http://schemas.openxmlformats.org/drawingml/2006/main">
            <a:r>
              <a:t>- Canonical notebook V7_B_N05, SRAI Book 7 v1.0.</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These five controls form one operating chain. We begin with usable stock, move through consumption and lead time, and finish with cold chain and expiry risk. Every control must be explicit, reviewable, and owned.</a:t>
            </a:r>
          </a:p>
          <a:p xmlns:a="http://schemas.openxmlformats.org/drawingml/2006/main">
            <a:r>
              <a:t/>
            </a:r>
          </a:p>
          <a:p xmlns:a="http://schemas.openxmlformats.org/drawingml/2006/main">
            <a:r>
              <a:t>[Sources]</a:t>
            </a:r>
          </a:p>
          <a:p xmlns:a="http://schemas.openxmlformats.org/drawingml/2006/main">
            <a:r>
              <a:t>- Canonical notebook V7_B_N05, SRAI Book 7 v1.0.</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Consider this health example. A vaccine alert combines usable stock, wastage, lead time, storage, and expiry. The platform may organize evidence, flag uncertainty, and route a case for authorized review. It may not take the consequential action on its own.</a:t>
            </a:r>
          </a:p>
          <a:p xmlns:a="http://schemas.openxmlformats.org/drawingml/2006/main">
            <a:r>
              <a:t/>
            </a:r>
          </a:p>
          <a:p xmlns:a="http://schemas.openxmlformats.org/drawingml/2006/main">
            <a:r>
              <a:t>[Sources]</a:t>
            </a:r>
          </a:p>
          <a:p xmlns:a="http://schemas.openxmlformats.org/drawingml/2006/main">
            <a:r>
              <a:t>- Canonical notebook V7_B_N05, SRAI Book 7 v1.0.</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notebook converts the lesson into executable evidence. Forecast stock risk and test replenishment and abstention rules. As you review the saved outputs, focus on what the evidence supports, what remains uncertain, and the condition that requires abstention or escalation.</a:t>
            </a:r>
          </a:p>
          <a:p xmlns:a="http://schemas.openxmlformats.org/drawingml/2006/main">
            <a:r>
              <a:t/>
            </a:r>
          </a:p>
          <a:p xmlns:a="http://schemas.openxmlformats.org/drawingml/2006/main">
            <a:r>
              <a:t>[Sources]</a:t>
            </a:r>
          </a:p>
          <a:p xmlns:a="http://schemas.openxmlformats.org/drawingml/2006/main">
            <a:r>
              <a:t>- Canonical notebook V7_B_N05, SRAI Book 7 v1.0.</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Now transfer the contract to a new health-service case. Name the decision owner and lawful action. Define the evidence, horizon, and failure conditions. Then state when the system must abstain, escalate, be monitored, or be retired. A strong answer keeps human authority visible.</a:t>
            </a:r>
          </a:p>
          <a:p xmlns:a="http://schemas.openxmlformats.org/drawingml/2006/main">
            <a:r>
              <a:t/>
            </a:r>
          </a:p>
          <a:p xmlns:a="http://schemas.openxmlformats.org/drawingml/2006/main">
            <a:r>
              <a:t>[Sources]</a:t>
            </a:r>
          </a:p>
          <a:p xmlns:a="http://schemas.openxmlformats.org/drawingml/2006/main">
            <a:r>
              <a:t>- Canonical notebook V7_B_N05, SRAI Book 7 v1.0.</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These guardrails are functional requirements. Evidence provenance must be preserved. Uncertainty must be visible. Human review, override, incident response, and retirement must be defined. Silent delegation, automatic consequential action, and false precision are not acceptable.</a:t>
            </a:r>
          </a:p>
          <a:p xmlns:a="http://schemas.openxmlformats.org/drawingml/2006/main">
            <a:r>
              <a:t/>
            </a:r>
          </a:p>
          <a:p xmlns:a="http://schemas.openxmlformats.org/drawingml/2006/main">
            <a:r>
              <a:t>[Sources]</a:t>
            </a:r>
          </a:p>
          <a:p xmlns:a="http://schemas.openxmlformats.org/drawingml/2006/main">
            <a:r>
              <a:t>- Canonical notebook V7_B_N05, SRAI Book 7 v1.0.</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Before deployment, ask five questions. Is usable stock clear? Is consumption documented? Is lead time testable? Is cold chain governed? And is expiry risk explicit? If one critical answer is missing, pause and refer the system for review.</a:t>
            </a:r>
          </a:p>
          <a:p xmlns:a="http://schemas.openxmlformats.org/drawingml/2006/main">
            <a:r>
              <a:t/>
            </a:r>
          </a:p>
          <a:p xmlns:a="http://schemas.openxmlformats.org/drawingml/2006/main">
            <a:r>
              <a:t>[Sources]</a:t>
            </a:r>
          </a:p>
          <a:p xmlns:a="http://schemas.openxmlformats.org/drawingml/2006/main">
            <a:r>
              <a:t>- Canonical notebook V7_B_N05, SRAI Book 7 v1.0.</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63f70b0607f24429"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99cf306690d04f02" /><Relationship Type="http://schemas.openxmlformats.org/officeDocument/2006/relationships/slideLayout" Target="/ppt/slideLayouts/slideLayout1.xml" Id="R9825f230c54e475a"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9825f230c54e475a"/>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1c7f19dd00da4a6c" /><Relationship Type="http://schemas.openxmlformats.org/officeDocument/2006/relationships/notesSlide" Target="/ppt/notesSlides/notesSlide1.xml" Id="R9f49ee1f39a24e54"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d5452802a2004952" /><Relationship Type="http://schemas.openxmlformats.org/officeDocument/2006/relationships/notesSlide" Target="/ppt/notesSlides/notesSlide2.xml" Id="R482da5a2052448a5"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f9e03ed92dee4aec" /><Relationship Type="http://schemas.openxmlformats.org/officeDocument/2006/relationships/notesSlide" Target="/ppt/notesSlides/notesSlide3.xml" Id="R8ec51e1fea704137"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2b656f084ad74630" /><Relationship Type="http://schemas.openxmlformats.org/officeDocument/2006/relationships/notesSlide" Target="/ppt/notesSlides/notesSlide4.xml" Id="Rd8cd09961ee149ef"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4285b21f22c94ae5" /><Relationship Type="http://schemas.openxmlformats.org/officeDocument/2006/relationships/notesSlide" Target="/ppt/notesSlides/notesSlide5.xml" Id="Rcf537aab3e73432f"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a5406902f8934081" /><Relationship Type="http://schemas.openxmlformats.org/officeDocument/2006/relationships/notesSlide" Target="/ppt/notesSlides/notesSlide6.xml" Id="R66ccf3deeeeb470f"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e6ccc99f4368423d" /><Relationship Type="http://schemas.openxmlformats.org/officeDocument/2006/relationships/notesSlide" Target="/ppt/notesSlides/notesSlide7.xml" Id="R4fb62d97edc14653"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dc8cb8867a0240a0" /><Relationship Type="http://schemas.openxmlformats.org/officeDocument/2006/relationships/notesSlide" Target="/ppt/notesSlides/notesSlide8.xml" Id="R623c6af89af54a48" /></Relationships>
</file>

<file path=ppt/slides/slide1.xml><?xml version="1.0" encoding="utf-8"?>
<p:sld xmlns:p="http://schemas.openxmlformats.org/presentationml/2006/main">
  <p:cSld>
    <p:bg>
      <p:bgPr>
        <a:solidFill xmlns:a="http://schemas.openxmlformats.org/drawingml/2006/main">
          <a:srgbClr val="061A2B"/>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A7C35546-F5F6-4C35-9DFF-BA38BA01C9CD}"/>
              </a:ext>
            </a:extLst>
          </p:cNvPr>
          <p:cNvSpPr>
            <a:spLocks xmlns:a="http://schemas.openxmlformats.org/drawingml/2006/main" noGrp="1"/>
          </p:cNvSpPr>
          <p:nvPr/>
        </p:nvSpPr>
        <p:spPr>
          <a:xfrm xmlns:a="http://schemas.openxmlformats.org/drawingml/2006/main">
            <a:off x="0" y="0"/>
            <a:ext cx="171450" cy="6858000"/>
          </a:xfrm>
          <a:prstGeom xmlns:a="http://schemas.openxmlformats.org/drawingml/2006/main" prst="rect">
            <a:avLst/>
          </a:prstGeom>
          <a:solidFill xmlns:a="http://schemas.openxmlformats.org/drawingml/2006/main">
            <a:srgbClr val="DCA24A"/>
          </a:solidFill>
          <a:ln xmlns:a="http://schemas.openxmlformats.org/drawingml/2006/main" w="9525">
            <a:solidFill>
              <a:srgbClr val="DCA24A"/>
            </a:solidFill>
            <a:prstDash val="solid"/>
          </a:ln>
        </p:spPr>
      </p:sp>
      <p:sp>
        <p:nvSpPr>
          <p:cNvPr id="2" name="">
            <a:extLst xmlns:a="http://schemas.openxmlformats.org/drawingml/2006/main">
              <a:ext uri="{FF2B5EF4-FFF2-40B4-BE49-F238E27FC236}">
                <a16:creationId xmlns:a16="http://schemas.microsoft.com/office/drawing/2014/main" id="{F9C30553-C11D-44B4-8A2F-C2130EF7F87E}"/>
              </a:ext>
            </a:extLst>
          </p:cNvPr>
          <p:cNvSpPr>
            <a:spLocks xmlns:a="http://schemas.openxmlformats.org/drawingml/2006/main" noGrp="1"/>
          </p:cNvSpPr>
          <p:nvPr/>
        </p:nvSpPr>
        <p:spPr>
          <a:xfrm xmlns:a="http://schemas.openxmlformats.org/drawingml/2006/main">
            <a:off x="8286750" y="0"/>
            <a:ext cx="3905250" cy="6858000"/>
          </a:xfrm>
          <a:prstGeom xmlns:a="http://schemas.openxmlformats.org/drawingml/2006/main" prst="rect">
            <a:avLst/>
          </a:prstGeom>
          <a:solidFill xmlns:a="http://schemas.openxmlformats.org/drawingml/2006/main">
            <a:srgbClr val="0B2E45"/>
          </a:solidFill>
          <a:ln xmlns:a="http://schemas.openxmlformats.org/drawingml/2006/main" w="9525">
            <a:solidFill>
              <a:srgbClr val="0B2E45"/>
            </a:solidFill>
            <a:prstDash val="solid"/>
          </a:ln>
        </p:spPr>
      </p:sp>
      <p:sp>
        <p:nvSpPr>
          <p:cNvPr id="3" name="">
            <a:extLst xmlns:a="http://schemas.openxmlformats.org/drawingml/2006/main">
              <a:ext uri="{FF2B5EF4-FFF2-40B4-BE49-F238E27FC236}">
                <a16:creationId xmlns:a16="http://schemas.microsoft.com/office/drawing/2014/main" id="{4318EF80-588F-44B5-AA94-75C73514C8B3}"/>
              </a:ext>
            </a:extLst>
          </p:cNvPr>
          <p:cNvSpPr>
            <a:spLocks xmlns:a="http://schemas.openxmlformats.org/drawingml/2006/main" noGrp="1"/>
          </p:cNvSpPr>
          <p:nvPr/>
        </p:nvSpPr>
        <p:spPr>
          <a:xfrm xmlns:a="http://schemas.openxmlformats.org/drawingml/2006/main">
            <a:off x="552450" y="381000"/>
            <a:ext cx="11430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75" b="1">
                <a:solidFill>
                  <a:srgbClr val="2AA79B"/>
                </a:solidFill>
              </a:defRPr>
            </a:pPr>
            <a:r>
              <a:rPr sz="1275" b="1">
                <a:solidFill>
                  <a:srgbClr val="2AA79B"/>
                </a:solidFill>
              </a:rPr>
              <a:t>SRAI</a:t>
            </a:r>
          </a:p>
        </p:txBody>
      </p:sp>
      <p:sp>
        <p:nvSpPr>
          <p:cNvPr id="4" name="">
            <a:extLst xmlns:a="http://schemas.openxmlformats.org/drawingml/2006/main">
              <a:ext uri="{FF2B5EF4-FFF2-40B4-BE49-F238E27FC236}">
                <a16:creationId xmlns:a16="http://schemas.microsoft.com/office/drawing/2014/main" id="{07884BDC-2FBA-4EE5-8932-0D7703D5B742}"/>
              </a:ext>
            </a:extLst>
          </p:cNvPr>
          <p:cNvSpPr>
            <a:spLocks xmlns:a="http://schemas.openxmlformats.org/drawingml/2006/main" noGrp="1"/>
          </p:cNvSpPr>
          <p:nvPr/>
        </p:nvSpPr>
        <p:spPr>
          <a:xfrm xmlns:a="http://schemas.openxmlformats.org/drawingml/2006/main">
            <a:off x="552450" y="990600"/>
            <a:ext cx="38100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00" b="1">
                <a:solidFill>
                  <a:srgbClr val="DCA24A"/>
                </a:solidFill>
              </a:defRPr>
            </a:pPr>
            <a:r>
              <a:rPr sz="1200" b="1">
                <a:solidFill>
                  <a:srgbClr val="DCA24A"/>
                </a:solidFill>
              </a:rPr>
              <a:t>HEALTH TRACK</a:t>
            </a:r>
          </a:p>
        </p:txBody>
      </p:sp>
      <p:sp>
        <p:nvSpPr>
          <p:cNvPr id="5" name="">
            <a:extLst xmlns:a="http://schemas.openxmlformats.org/drawingml/2006/main">
              <a:ext uri="{FF2B5EF4-FFF2-40B4-BE49-F238E27FC236}">
                <a16:creationId xmlns:a16="http://schemas.microsoft.com/office/drawing/2014/main" id="{0D26F77F-000D-4AA9-8002-8435178DA7F3}"/>
              </a:ext>
            </a:extLst>
          </p:cNvPr>
          <p:cNvSpPr>
            <a:spLocks xmlns:a="http://schemas.openxmlformats.org/drawingml/2006/main" noGrp="1"/>
          </p:cNvSpPr>
          <p:nvPr/>
        </p:nvSpPr>
        <p:spPr>
          <a:xfrm xmlns:a="http://schemas.openxmlformats.org/drawingml/2006/main">
            <a:off x="552450" y="1581150"/>
            <a:ext cx="6953250" cy="1619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3750" b="0">
                <a:solidFill>
                  <a:srgbClr val="F7F4EC"/>
                </a:solidFill>
              </a:defRPr>
            </a:pPr>
            <a:r>
              <a:rPr sz="3750" b="0">
                <a:solidFill>
                  <a:srgbClr val="F7F4EC"/>
                </a:solidFill>
              </a:rPr>
              <a:t>MEDICINES BEFORE STOCK-OUT</a:t>
            </a:r>
          </a:p>
        </p:txBody>
      </p:sp>
      <p:sp>
        <p:nvSpPr>
          <p:cNvPr id="6" name="">
            <a:extLst xmlns:a="http://schemas.openxmlformats.org/drawingml/2006/main">
              <a:ext uri="{FF2B5EF4-FFF2-40B4-BE49-F238E27FC236}">
                <a16:creationId xmlns:a16="http://schemas.microsoft.com/office/drawing/2014/main" id="{FE004FE4-BF38-4971-83CB-1FDDF01DAC61}"/>
              </a:ext>
            </a:extLst>
          </p:cNvPr>
          <p:cNvSpPr>
            <a:spLocks xmlns:a="http://schemas.openxmlformats.org/drawingml/2006/main" noGrp="1"/>
          </p:cNvSpPr>
          <p:nvPr/>
        </p:nvSpPr>
        <p:spPr>
          <a:xfrm xmlns:a="http://schemas.openxmlformats.org/drawingml/2006/main">
            <a:off x="552450" y="3714750"/>
            <a:ext cx="685800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650" b="0">
                <a:solidFill>
                  <a:srgbClr val="B8CBC8"/>
                </a:solidFill>
              </a:defRPr>
            </a:pPr>
            <a:r>
              <a:rPr sz="1650" b="0">
                <a:solidFill>
                  <a:srgbClr val="B8CBC8"/>
                </a:solidFill>
              </a:rPr>
              <a:t>Usable supply depends on demand, lead time, quality, and cold-chain integrity.</a:t>
            </a:r>
          </a:p>
        </p:txBody>
      </p:sp>
      <p:sp>
        <p:nvSpPr>
          <p:cNvPr id="7" name="">
            <a:extLst xmlns:a="http://schemas.openxmlformats.org/drawingml/2006/main">
              <a:ext uri="{FF2B5EF4-FFF2-40B4-BE49-F238E27FC236}">
                <a16:creationId xmlns:a16="http://schemas.microsoft.com/office/drawing/2014/main" id="{E11ACEB8-4A8F-4A36-882D-EACB05ECE70C}"/>
              </a:ext>
            </a:extLst>
          </p:cNvPr>
          <p:cNvSpPr>
            <a:spLocks xmlns:a="http://schemas.openxmlformats.org/drawingml/2006/main" noGrp="1"/>
          </p:cNvSpPr>
          <p:nvPr/>
        </p:nvSpPr>
        <p:spPr>
          <a:xfrm xmlns:a="http://schemas.openxmlformats.org/drawingml/2006/main">
            <a:off x="8858250" y="1809750"/>
            <a:ext cx="17145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650" b="1">
                <a:solidFill>
                  <a:srgbClr val="DCA24A"/>
                </a:solidFill>
              </a:defRPr>
            </a:pPr>
            <a:r>
              <a:rPr sz="1650" b="1">
                <a:solidFill>
                  <a:srgbClr val="DCA24A"/>
                </a:solidFill>
              </a:rPr>
              <a:t>V7_B_N05</a:t>
            </a:r>
          </a:p>
        </p:txBody>
      </p:sp>
      <p:sp>
        <p:nvSpPr>
          <p:cNvPr id="8" name="">
            <a:extLst xmlns:a="http://schemas.openxmlformats.org/drawingml/2006/main">
              <a:ext uri="{FF2B5EF4-FFF2-40B4-BE49-F238E27FC236}">
                <a16:creationId xmlns:a16="http://schemas.microsoft.com/office/drawing/2014/main" id="{520ACB9A-B2B3-40D5-90E7-2DBCC5CAF908}"/>
              </a:ext>
            </a:extLst>
          </p:cNvPr>
          <p:cNvSpPr>
            <a:spLocks xmlns:a="http://schemas.openxmlformats.org/drawingml/2006/main" noGrp="1"/>
          </p:cNvSpPr>
          <p:nvPr/>
        </p:nvSpPr>
        <p:spPr>
          <a:xfrm xmlns:a="http://schemas.openxmlformats.org/drawingml/2006/main">
            <a:off x="8858250" y="2381250"/>
            <a:ext cx="17145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200" b="1">
                <a:solidFill>
                  <a:srgbClr val="F7F4EC"/>
                </a:solidFill>
              </a:defRPr>
            </a:pPr>
            <a:r>
              <a:rPr sz="1200" b="1">
                <a:solidFill>
                  <a:srgbClr val="F7F4EC"/>
                </a:solidFill>
              </a:rPr>
              <a:t>PU-B07-C25</a:t>
            </a:r>
          </a:p>
        </p:txBody>
      </p:sp>
      <p:sp>
        <p:nvSpPr>
          <p:cNvPr id="9" name="">
            <a:extLst xmlns:a="http://schemas.openxmlformats.org/drawingml/2006/main">
              <a:ext uri="{FF2B5EF4-FFF2-40B4-BE49-F238E27FC236}">
                <a16:creationId xmlns:a16="http://schemas.microsoft.com/office/drawing/2014/main" id="{49182BCE-94CD-4874-929C-6A7F05CA744A}"/>
              </a:ext>
            </a:extLst>
          </p:cNvPr>
          <p:cNvSpPr>
            <a:spLocks xmlns:a="http://schemas.openxmlformats.org/drawingml/2006/main" noGrp="1"/>
          </p:cNvSpPr>
          <p:nvPr/>
        </p:nvSpPr>
        <p:spPr>
          <a:xfrm xmlns:a="http://schemas.openxmlformats.org/drawingml/2006/main">
            <a:off x="8858250" y="3219450"/>
            <a:ext cx="1714500" cy="762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500" b="1">
                <a:solidFill>
                  <a:srgbClr val="B8CBC8"/>
                </a:solidFill>
              </a:defRPr>
            </a:pPr>
            <a:r>
              <a:rPr sz="1500" b="1">
                <a:solidFill>
                  <a:srgbClr val="B8CBC8"/>
                </a:solidFill>
              </a:rPr>
              <a:t>Decision-centred</a:t>
            </a:r>
          </a:p>
          <a:p xmlns:a="http://schemas.openxmlformats.org/drawingml/2006/main">
            <a:pPr algn="ctr">
              <a:defRPr sz="1500" b="1">
                <a:solidFill>
                  <a:srgbClr val="B8CBC8"/>
                </a:solidFill>
              </a:defRPr>
            </a:pPr>
            <a:r>
              <a:rPr sz="1500" b="1">
                <a:solidFill>
                  <a:srgbClr val="B8CBC8"/>
                </a:solidFill>
              </a:rPr>
              <a:t>learning asset</a:t>
            </a:r>
          </a:p>
        </p:txBody>
      </p:sp>
      <p:sp>
        <p:nvSpPr>
          <p:cNvPr id="10" name="">
            <a:extLst xmlns:a="http://schemas.openxmlformats.org/drawingml/2006/main">
              <a:ext uri="{FF2B5EF4-FFF2-40B4-BE49-F238E27FC236}">
                <a16:creationId xmlns:a16="http://schemas.microsoft.com/office/drawing/2014/main" id="{D7B368D6-CEC0-4F57-AF57-C249CD974088}"/>
              </a:ext>
            </a:extLst>
          </p:cNvPr>
          <p:cNvSpPr>
            <a:spLocks xmlns:a="http://schemas.openxmlformats.org/drawingml/2006/main" noGrp="1"/>
          </p:cNvSpPr>
          <p:nvPr/>
        </p:nvSpPr>
        <p:spPr>
          <a:xfrm xmlns:a="http://schemas.openxmlformats.org/drawingml/2006/main">
            <a:off x="552450" y="6000750"/>
            <a:ext cx="5715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050" b="0">
                <a:solidFill>
                  <a:srgbClr val="B8CBC8"/>
                </a:solidFill>
              </a:defRPr>
            </a:pPr>
            <a:r>
              <a:rPr sz="1050" b="0">
                <a:solidFill>
                  <a:srgbClr val="B8CBC8"/>
                </a:solidFill>
              </a:rPr>
              <a:t>Canonical Controlled Edition v1.0</a:t>
            </a:r>
          </a:p>
        </p:txBody>
      </p:sp>
    </p:spTree>
    <p:extLst>
      <p:ext uri="{BB962C8B-B14F-4D97-AF65-F5344CB8AC3E}">
        <p14:creationId xmlns:p14="http://schemas.microsoft.com/office/powerpoint/2010/main" val="1584402752"/>
      </p:ext>
    </p:extLst>
  </p:cSld>
</p:sld>
</file>

<file path=ppt/slides/slide2.xml><?xml version="1.0" encoding="utf-8"?>
<p:sld xmlns:p="http://schemas.openxmlformats.org/presentationml/2006/main">
  <p:cSld>
    <p:bg>
      <p:bgPr>
        <a:solidFill xmlns:a="http://schemas.openxmlformats.org/drawingml/2006/main">
          <a:srgbClr val="F4F0E6"/>
        </a:solidFill>
      </p:bgPr>
    </p:bg>
    <p:spTree>
      <p:nvGrpSpPr>
        <p:cNvPr id="1" name=""/>
        <p:cNvGrpSpPr/>
        <p:nvPr/>
      </p:nvGrpSpPr>
      <p:grpSpPr>
        <a:xfrm xmlns:a="http://schemas.openxmlformats.org/drawingml/2006/main"/>
      </p:grpSpPr>
      <p:sp>
        <p:nvSpPr>
          <p:cNvPr id="18" name="">
            <a:extLst xmlns:a="http://schemas.openxmlformats.org/drawingml/2006/main">
              <a:ext uri="{FF2B5EF4-FFF2-40B4-BE49-F238E27FC236}">
                <a16:creationId xmlns:a16="http://schemas.microsoft.com/office/drawing/2014/main" id="{AEB3B3A2-9C98-4F6A-9A66-2712152139ED}"/>
              </a:ext>
            </a:extLst>
          </p:cNvPr>
          <p:cNvSpPr>
            <a:spLocks xmlns:a="http://schemas.openxmlformats.org/drawingml/2006/main" noGrp="1"/>
          </p:cNvSpPr>
          <p:nvPr/>
        </p:nvSpPr>
        <p:spPr>
          <a:xfrm xmlns:a="http://schemas.openxmlformats.org/drawingml/2006/main">
            <a:off x="552450" y="266700"/>
            <a:ext cx="4953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900" b="1">
                <a:solidFill>
                  <a:srgbClr val="4E6472"/>
                </a:solidFill>
              </a:defRPr>
            </a:pPr>
            <a:r>
              <a:rPr sz="900" b="1">
                <a:solidFill>
                  <a:srgbClr val="4E6472"/>
                </a:solidFill>
              </a:rPr>
              <a:t>SRAI BOOK 7  |  V7_B_N05</a:t>
            </a:r>
          </a:p>
        </p:txBody>
      </p:sp>
      <p:sp>
        <p:nvSpPr>
          <p:cNvPr id="2" name="">
            <a:extLst xmlns:a="http://schemas.openxmlformats.org/drawingml/2006/main">
              <a:ext uri="{FF2B5EF4-FFF2-40B4-BE49-F238E27FC236}">
                <a16:creationId xmlns:a16="http://schemas.microsoft.com/office/drawing/2014/main" id="{714B0162-F669-4EA3-BEF5-FB9FA6E68322}"/>
              </a:ext>
            </a:extLst>
          </p:cNvPr>
          <p:cNvSpPr>
            <a:spLocks xmlns:a="http://schemas.openxmlformats.org/drawingml/2006/main" noGrp="1"/>
          </p:cNvSpPr>
          <p:nvPr/>
        </p:nvSpPr>
        <p:spPr>
          <a:xfrm xmlns:a="http://schemas.openxmlformats.org/drawingml/2006/main">
            <a:off x="10953750" y="619125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defRPr sz="900" b="1">
                <a:solidFill>
                  <a:srgbClr val="4E6472"/>
                </a:solidFill>
              </a:defRPr>
            </a:pPr>
            <a:r>
              <a:rPr sz="900" b="1">
                <a:solidFill>
                  <a:srgbClr val="4E6472"/>
                </a:solidFill>
              </a:rPr>
              <a:t>02</a:t>
            </a:r>
          </a:p>
        </p:txBody>
      </p:sp>
      <p:sp>
        <p:nvSpPr>
          <p:cNvPr id="3" name="">
            <a:extLst xmlns:a="http://schemas.openxmlformats.org/drawingml/2006/main">
              <a:ext uri="{FF2B5EF4-FFF2-40B4-BE49-F238E27FC236}">
                <a16:creationId xmlns:a16="http://schemas.microsoft.com/office/drawing/2014/main" id="{4F691385-D9DD-4975-B2CC-25291AA47218}"/>
              </a:ext>
            </a:extLst>
          </p:cNvPr>
          <p:cNvSpPr>
            <a:spLocks xmlns:a="http://schemas.openxmlformats.org/drawingml/2006/main" noGrp="1"/>
          </p:cNvSpPr>
          <p:nvPr/>
        </p:nvSpPr>
        <p:spPr>
          <a:xfrm xmlns:a="http://schemas.openxmlformats.org/drawingml/2006/main">
            <a:off x="552450" y="609600"/>
            <a:ext cx="11087100" cy="9525"/>
          </a:xfrm>
          <a:prstGeom xmlns:a="http://schemas.openxmlformats.org/drawingml/2006/main" prst="rect">
            <a:avLst/>
          </a:prstGeom>
          <a:solidFill xmlns:a="http://schemas.openxmlformats.org/drawingml/2006/main">
            <a:srgbClr val="B8C3BD"/>
          </a:solidFill>
          <a:ln xmlns:a="http://schemas.openxmlformats.org/drawingml/2006/main" w="9525">
            <a:solidFill>
              <a:srgbClr val="B8C3BD"/>
            </a:solidFill>
            <a:prstDash val="solid"/>
          </a:ln>
        </p:spPr>
      </p:sp>
      <p:sp>
        <p:nvSpPr>
          <p:cNvPr id="4" name="">
            <a:extLst xmlns:a="http://schemas.openxmlformats.org/drawingml/2006/main">
              <a:ext uri="{FF2B5EF4-FFF2-40B4-BE49-F238E27FC236}">
                <a16:creationId xmlns:a16="http://schemas.microsoft.com/office/drawing/2014/main" id="{A1903FA5-3651-4A28-9415-CC9A8456BAB0}"/>
              </a:ext>
            </a:extLst>
          </p:cNvPr>
          <p:cNvSpPr>
            <a:spLocks xmlns:a="http://schemas.openxmlformats.org/drawingml/2006/main" noGrp="1"/>
          </p:cNvSpPr>
          <p:nvPr/>
        </p:nvSpPr>
        <p:spPr>
          <a:xfrm xmlns:a="http://schemas.openxmlformats.org/drawingml/2006/main">
            <a:off x="552450" y="895350"/>
            <a:ext cx="1047750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2850" b="1">
                <a:solidFill>
                  <a:srgbClr val="061A2B"/>
                </a:solidFill>
              </a:defRPr>
            </a:pPr>
            <a:r>
              <a:rPr sz="2850" b="1">
                <a:solidFill>
                  <a:srgbClr val="061A2B"/>
                </a:solidFill>
              </a:rPr>
              <a:t>The analytical workflow starts with a contract</a:t>
            </a:r>
          </a:p>
        </p:txBody>
      </p:sp>
      <p:sp>
        <p:nvSpPr>
          <p:cNvPr id="5" name="">
            <a:extLst xmlns:a="http://schemas.openxmlformats.org/drawingml/2006/main">
              <a:ext uri="{FF2B5EF4-FFF2-40B4-BE49-F238E27FC236}">
                <a16:creationId xmlns:a16="http://schemas.microsoft.com/office/drawing/2014/main" id="{62E9177A-7689-404E-A049-4343BD4FA2FE}"/>
              </a:ext>
            </a:extLst>
          </p:cNvPr>
          <p:cNvSpPr>
            <a:spLocks xmlns:a="http://schemas.openxmlformats.org/drawingml/2006/main" noGrp="1"/>
          </p:cNvSpPr>
          <p:nvPr/>
        </p:nvSpPr>
        <p:spPr>
          <a:xfrm xmlns:a="http://schemas.openxmlformats.org/drawingml/2006/main">
            <a:off x="552450" y="1790700"/>
            <a:ext cx="5334000" cy="952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2250" b="1">
                <a:solidFill>
                  <a:srgbClr val="102A3A"/>
                </a:solidFill>
              </a:defRPr>
            </a:pPr>
            <a:r>
              <a:rPr sz="2250" b="1">
                <a:solidFill>
                  <a:srgbClr val="102A3A"/>
                </a:solidFill>
              </a:rPr>
              <a:t>Usable supply depends on demand, lead time, quality, and cold-chain integrity.</a:t>
            </a:r>
          </a:p>
        </p:txBody>
      </p:sp>
      <p:sp>
        <p:nvSpPr>
          <p:cNvPr id="6" name="">
            <a:extLst xmlns:a="http://schemas.openxmlformats.org/drawingml/2006/main">
              <a:ext uri="{FF2B5EF4-FFF2-40B4-BE49-F238E27FC236}">
                <a16:creationId xmlns:a16="http://schemas.microsoft.com/office/drawing/2014/main" id="{8C16684E-2BA6-431D-95FD-A716FF9A27D0}"/>
              </a:ext>
            </a:extLst>
          </p:cNvPr>
          <p:cNvSpPr>
            <a:spLocks xmlns:a="http://schemas.openxmlformats.org/drawingml/2006/main" noGrp="1"/>
          </p:cNvSpPr>
          <p:nvPr/>
        </p:nvSpPr>
        <p:spPr>
          <a:xfrm xmlns:a="http://schemas.openxmlformats.org/drawingml/2006/main">
            <a:off x="6858000" y="1638300"/>
            <a:ext cx="4191000" cy="3143250"/>
          </a:xfrm>
          <a:prstGeom xmlns:a="http://schemas.openxmlformats.org/drawingml/2006/main" prst="rect">
            <a:avLst/>
          </a:prstGeom>
          <a:solidFill xmlns:a="http://schemas.openxmlformats.org/drawingml/2006/main">
            <a:srgbClr val="D9E9E5"/>
          </a:solidFill>
          <a:ln xmlns:a="http://schemas.openxmlformats.org/drawingml/2006/main" w="9525">
            <a:solidFill>
              <a:srgbClr val="D4DEE9"/>
            </a:solidFill>
            <a:prstDash val="solid"/>
          </a:ln>
        </p:spPr>
      </p:sp>
      <p:sp>
        <p:nvSpPr>
          <p:cNvPr id="7" name="">
            <a:extLst xmlns:a="http://schemas.openxmlformats.org/drawingml/2006/main">
              <a:ext uri="{FF2B5EF4-FFF2-40B4-BE49-F238E27FC236}">
                <a16:creationId xmlns:a16="http://schemas.microsoft.com/office/drawing/2014/main" id="{F036CEA0-B9CB-40C5-89AF-C5E82FA840CD}"/>
              </a:ext>
            </a:extLst>
          </p:cNvPr>
          <p:cNvSpPr>
            <a:spLocks xmlns:a="http://schemas.openxmlformats.org/drawingml/2006/main" noGrp="1"/>
          </p:cNvSpPr>
          <p:nvPr/>
        </p:nvSpPr>
        <p:spPr>
          <a:xfrm xmlns:a="http://schemas.openxmlformats.org/drawingml/2006/main">
            <a:off x="7162800" y="1924050"/>
            <a:ext cx="4191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00" b="1">
                <a:solidFill>
                  <a:srgbClr val="0B2E45"/>
                </a:solidFill>
              </a:defRPr>
            </a:pPr>
            <a:r>
              <a:rPr sz="1200" b="1">
                <a:solidFill>
                  <a:srgbClr val="0B2E45"/>
                </a:solidFill>
              </a:rPr>
              <a:t>01</a:t>
            </a:r>
          </a:p>
        </p:txBody>
      </p:sp>
      <p:sp>
        <p:nvSpPr>
          <p:cNvPr id="8" name="">
            <a:extLst xmlns:a="http://schemas.openxmlformats.org/drawingml/2006/main">
              <a:ext uri="{FF2B5EF4-FFF2-40B4-BE49-F238E27FC236}">
                <a16:creationId xmlns:a16="http://schemas.microsoft.com/office/drawing/2014/main" id="{EE498F46-C0FA-4006-A44A-6B5E824600A2}"/>
              </a:ext>
            </a:extLst>
          </p:cNvPr>
          <p:cNvSpPr>
            <a:spLocks xmlns:a="http://schemas.openxmlformats.org/drawingml/2006/main" noGrp="1"/>
          </p:cNvSpPr>
          <p:nvPr/>
        </p:nvSpPr>
        <p:spPr>
          <a:xfrm xmlns:a="http://schemas.openxmlformats.org/drawingml/2006/main">
            <a:off x="7734300" y="1895475"/>
            <a:ext cx="29527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650" b="1">
                <a:solidFill>
                  <a:srgbClr val="102A3A"/>
                </a:solidFill>
              </a:defRPr>
            </a:pPr>
            <a:r>
              <a:rPr sz="1650" b="1">
                <a:solidFill>
                  <a:srgbClr val="102A3A"/>
                </a:solidFill>
              </a:rPr>
              <a:t>Usable stock</a:t>
            </a:r>
          </a:p>
        </p:txBody>
      </p:sp>
      <p:sp>
        <p:nvSpPr>
          <p:cNvPr id="9" name="">
            <a:extLst xmlns:a="http://schemas.openxmlformats.org/drawingml/2006/main">
              <a:ext uri="{FF2B5EF4-FFF2-40B4-BE49-F238E27FC236}">
                <a16:creationId xmlns:a16="http://schemas.microsoft.com/office/drawing/2014/main" id="{FC306688-D123-4E3E-9DBE-C71F02EC8B9B}"/>
              </a:ext>
            </a:extLst>
          </p:cNvPr>
          <p:cNvSpPr>
            <a:spLocks xmlns:a="http://schemas.openxmlformats.org/drawingml/2006/main" noGrp="1"/>
          </p:cNvSpPr>
          <p:nvPr/>
        </p:nvSpPr>
        <p:spPr>
          <a:xfrm xmlns:a="http://schemas.openxmlformats.org/drawingml/2006/main">
            <a:off x="7162800" y="2447925"/>
            <a:ext cx="4191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00" b="1">
                <a:solidFill>
                  <a:srgbClr val="0B2E45"/>
                </a:solidFill>
              </a:defRPr>
            </a:pPr>
            <a:r>
              <a:rPr sz="1200" b="1">
                <a:solidFill>
                  <a:srgbClr val="0B2E45"/>
                </a:solidFill>
              </a:rPr>
              <a:t>02</a:t>
            </a:r>
          </a:p>
        </p:txBody>
      </p:sp>
      <p:sp>
        <p:nvSpPr>
          <p:cNvPr id="10" name="">
            <a:extLst xmlns:a="http://schemas.openxmlformats.org/drawingml/2006/main">
              <a:ext uri="{FF2B5EF4-FFF2-40B4-BE49-F238E27FC236}">
                <a16:creationId xmlns:a16="http://schemas.microsoft.com/office/drawing/2014/main" id="{255E6A08-FE26-41AF-B1F9-4E696CAF92B6}"/>
              </a:ext>
            </a:extLst>
          </p:cNvPr>
          <p:cNvSpPr>
            <a:spLocks xmlns:a="http://schemas.openxmlformats.org/drawingml/2006/main" noGrp="1"/>
          </p:cNvSpPr>
          <p:nvPr/>
        </p:nvSpPr>
        <p:spPr>
          <a:xfrm xmlns:a="http://schemas.openxmlformats.org/drawingml/2006/main">
            <a:off x="7734300" y="2419350"/>
            <a:ext cx="29527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650" b="0">
                <a:solidFill>
                  <a:srgbClr val="102A3A"/>
                </a:solidFill>
              </a:defRPr>
            </a:pPr>
            <a:r>
              <a:rPr sz="1650" b="0">
                <a:solidFill>
                  <a:srgbClr val="102A3A"/>
                </a:solidFill>
              </a:rPr>
              <a:t>Consumption</a:t>
            </a:r>
          </a:p>
        </p:txBody>
      </p:sp>
      <p:sp>
        <p:nvSpPr>
          <p:cNvPr id="11" name="">
            <a:extLst xmlns:a="http://schemas.openxmlformats.org/drawingml/2006/main">
              <a:ext uri="{FF2B5EF4-FFF2-40B4-BE49-F238E27FC236}">
                <a16:creationId xmlns:a16="http://schemas.microsoft.com/office/drawing/2014/main" id="{658A2663-9981-416E-8058-9C77CD65B867}"/>
              </a:ext>
            </a:extLst>
          </p:cNvPr>
          <p:cNvSpPr>
            <a:spLocks xmlns:a="http://schemas.openxmlformats.org/drawingml/2006/main" noGrp="1"/>
          </p:cNvSpPr>
          <p:nvPr/>
        </p:nvSpPr>
        <p:spPr>
          <a:xfrm xmlns:a="http://schemas.openxmlformats.org/drawingml/2006/main">
            <a:off x="7162800" y="2971800"/>
            <a:ext cx="4191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00" b="1">
                <a:solidFill>
                  <a:srgbClr val="0B2E45"/>
                </a:solidFill>
              </a:defRPr>
            </a:pPr>
            <a:r>
              <a:rPr sz="1200" b="1">
                <a:solidFill>
                  <a:srgbClr val="0B2E45"/>
                </a:solidFill>
              </a:rPr>
              <a:t>03</a:t>
            </a:r>
          </a:p>
        </p:txBody>
      </p:sp>
      <p:sp>
        <p:nvSpPr>
          <p:cNvPr id="12" name="">
            <a:extLst xmlns:a="http://schemas.openxmlformats.org/drawingml/2006/main">
              <a:ext uri="{FF2B5EF4-FFF2-40B4-BE49-F238E27FC236}">
                <a16:creationId xmlns:a16="http://schemas.microsoft.com/office/drawing/2014/main" id="{FEAC9FAD-E6F8-44FD-868D-936AB920F5FE}"/>
              </a:ext>
            </a:extLst>
          </p:cNvPr>
          <p:cNvSpPr>
            <a:spLocks xmlns:a="http://schemas.openxmlformats.org/drawingml/2006/main" noGrp="1"/>
          </p:cNvSpPr>
          <p:nvPr/>
        </p:nvSpPr>
        <p:spPr>
          <a:xfrm xmlns:a="http://schemas.openxmlformats.org/drawingml/2006/main">
            <a:off x="7734300" y="2943225"/>
            <a:ext cx="29527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650" b="0">
                <a:solidFill>
                  <a:srgbClr val="102A3A"/>
                </a:solidFill>
              </a:defRPr>
            </a:pPr>
            <a:r>
              <a:rPr sz="1650" b="0">
                <a:solidFill>
                  <a:srgbClr val="102A3A"/>
                </a:solidFill>
              </a:rPr>
              <a:t>Lead time</a:t>
            </a:r>
          </a:p>
        </p:txBody>
      </p:sp>
      <p:sp>
        <p:nvSpPr>
          <p:cNvPr id="13" name="">
            <a:extLst xmlns:a="http://schemas.openxmlformats.org/drawingml/2006/main">
              <a:ext uri="{FF2B5EF4-FFF2-40B4-BE49-F238E27FC236}">
                <a16:creationId xmlns:a16="http://schemas.microsoft.com/office/drawing/2014/main" id="{9C9BB06D-AFF8-410C-B86A-3D07A029C7D9}"/>
              </a:ext>
            </a:extLst>
          </p:cNvPr>
          <p:cNvSpPr>
            <a:spLocks xmlns:a="http://schemas.openxmlformats.org/drawingml/2006/main" noGrp="1"/>
          </p:cNvSpPr>
          <p:nvPr/>
        </p:nvSpPr>
        <p:spPr>
          <a:xfrm xmlns:a="http://schemas.openxmlformats.org/drawingml/2006/main">
            <a:off x="7162800" y="3495675"/>
            <a:ext cx="4191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00" b="1">
                <a:solidFill>
                  <a:srgbClr val="0B2E45"/>
                </a:solidFill>
              </a:defRPr>
            </a:pPr>
            <a:r>
              <a:rPr sz="1200" b="1">
                <a:solidFill>
                  <a:srgbClr val="0B2E45"/>
                </a:solidFill>
              </a:rPr>
              <a:t>04</a:t>
            </a:r>
          </a:p>
        </p:txBody>
      </p:sp>
      <p:sp>
        <p:nvSpPr>
          <p:cNvPr id="14" name="">
            <a:extLst xmlns:a="http://schemas.openxmlformats.org/drawingml/2006/main">
              <a:ext uri="{FF2B5EF4-FFF2-40B4-BE49-F238E27FC236}">
                <a16:creationId xmlns:a16="http://schemas.microsoft.com/office/drawing/2014/main" id="{02725862-EB32-4137-BA33-7956AD8C2912}"/>
              </a:ext>
            </a:extLst>
          </p:cNvPr>
          <p:cNvSpPr>
            <a:spLocks xmlns:a="http://schemas.openxmlformats.org/drawingml/2006/main" noGrp="1"/>
          </p:cNvSpPr>
          <p:nvPr/>
        </p:nvSpPr>
        <p:spPr>
          <a:xfrm xmlns:a="http://schemas.openxmlformats.org/drawingml/2006/main">
            <a:off x="7734300" y="3467100"/>
            <a:ext cx="29527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650" b="0">
                <a:solidFill>
                  <a:srgbClr val="102A3A"/>
                </a:solidFill>
              </a:defRPr>
            </a:pPr>
            <a:r>
              <a:rPr sz="1650" b="0">
                <a:solidFill>
                  <a:srgbClr val="102A3A"/>
                </a:solidFill>
              </a:rPr>
              <a:t>Cold chain</a:t>
            </a:r>
          </a:p>
        </p:txBody>
      </p:sp>
      <p:sp>
        <p:nvSpPr>
          <p:cNvPr id="15" name="">
            <a:extLst xmlns:a="http://schemas.openxmlformats.org/drawingml/2006/main">
              <a:ext uri="{FF2B5EF4-FFF2-40B4-BE49-F238E27FC236}">
                <a16:creationId xmlns:a16="http://schemas.microsoft.com/office/drawing/2014/main" id="{FF271E95-1710-4542-807B-54F7DC2F25C5}"/>
              </a:ext>
            </a:extLst>
          </p:cNvPr>
          <p:cNvSpPr>
            <a:spLocks xmlns:a="http://schemas.openxmlformats.org/drawingml/2006/main" noGrp="1"/>
          </p:cNvSpPr>
          <p:nvPr/>
        </p:nvSpPr>
        <p:spPr>
          <a:xfrm xmlns:a="http://schemas.openxmlformats.org/drawingml/2006/main">
            <a:off x="7162800" y="4019550"/>
            <a:ext cx="4191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00" b="1">
                <a:solidFill>
                  <a:srgbClr val="0B2E45"/>
                </a:solidFill>
              </a:defRPr>
            </a:pPr>
            <a:r>
              <a:rPr sz="1200" b="1">
                <a:solidFill>
                  <a:srgbClr val="0B2E45"/>
                </a:solidFill>
              </a:rPr>
              <a:t>05</a:t>
            </a:r>
          </a:p>
        </p:txBody>
      </p:sp>
      <p:sp>
        <p:nvSpPr>
          <p:cNvPr id="16" name="">
            <a:extLst xmlns:a="http://schemas.openxmlformats.org/drawingml/2006/main">
              <a:ext uri="{FF2B5EF4-FFF2-40B4-BE49-F238E27FC236}">
                <a16:creationId xmlns:a16="http://schemas.microsoft.com/office/drawing/2014/main" id="{14C47D0F-9033-44AE-9915-2F051A1ADFD4}"/>
              </a:ext>
            </a:extLst>
          </p:cNvPr>
          <p:cNvSpPr>
            <a:spLocks xmlns:a="http://schemas.openxmlformats.org/drawingml/2006/main" noGrp="1"/>
          </p:cNvSpPr>
          <p:nvPr/>
        </p:nvSpPr>
        <p:spPr>
          <a:xfrm xmlns:a="http://schemas.openxmlformats.org/drawingml/2006/main">
            <a:off x="7734300" y="3990975"/>
            <a:ext cx="29527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650" b="0">
                <a:solidFill>
                  <a:srgbClr val="102A3A"/>
                </a:solidFill>
              </a:defRPr>
            </a:pPr>
            <a:r>
              <a:rPr sz="1650" b="0">
                <a:solidFill>
                  <a:srgbClr val="102A3A"/>
                </a:solidFill>
              </a:rPr>
              <a:t>Expiry risk</a:t>
            </a:r>
          </a:p>
        </p:txBody>
      </p:sp>
      <p:sp>
        <p:nvSpPr>
          <p:cNvPr id="17" name="">
            <a:extLst xmlns:a="http://schemas.openxmlformats.org/drawingml/2006/main">
              <a:ext uri="{FF2B5EF4-FFF2-40B4-BE49-F238E27FC236}">
                <a16:creationId xmlns:a16="http://schemas.microsoft.com/office/drawing/2014/main" id="{A5C05FA2-9D4A-4008-967B-845EB253DF0A}"/>
              </a:ext>
            </a:extLst>
          </p:cNvPr>
          <p:cNvSpPr>
            <a:spLocks xmlns:a="http://schemas.openxmlformats.org/drawingml/2006/main" noGrp="1"/>
          </p:cNvSpPr>
          <p:nvPr/>
        </p:nvSpPr>
        <p:spPr>
          <a:xfrm xmlns:a="http://schemas.openxmlformats.org/drawingml/2006/main">
            <a:off x="552450" y="5048250"/>
            <a:ext cx="533400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650" b="1">
                <a:solidFill>
                  <a:srgbClr val="DCA24A"/>
                </a:solidFill>
              </a:defRPr>
            </a:pPr>
            <a:r>
              <a:rPr sz="1650" b="1">
                <a:solidFill>
                  <a:srgbClr val="DCA24A"/>
                </a:solidFill>
              </a:rPr>
              <a:t>A model is one component—not the decision-maker.</a:t>
            </a:r>
          </a:p>
        </p:txBody>
      </p:sp>
    </p:spTree>
    <p:extLst>
      <p:ext uri="{BB962C8B-B14F-4D97-AF65-F5344CB8AC3E}">
        <p14:creationId xmlns:p14="http://schemas.microsoft.com/office/powerpoint/2010/main" val="1863861346"/>
      </p:ext>
    </p:extLst>
  </p:cSld>
</p:sld>
</file>

<file path=ppt/slides/slide3.xml><?xml version="1.0" encoding="utf-8"?>
<p:sld xmlns:p="http://schemas.openxmlformats.org/presentationml/2006/main">
  <p:cSld>
    <p:bg>
      <p:bgPr>
        <a:solidFill xmlns:a="http://schemas.openxmlformats.org/drawingml/2006/main">
          <a:srgbClr val="F4F0E6"/>
        </a:solidFill>
      </p:bgPr>
    </p:bg>
    <p:spTree>
      <p:nvGrpSpPr>
        <p:cNvPr id="1" name=""/>
        <p:cNvGrpSpPr/>
        <p:nvPr/>
      </p:nvGrpSpPr>
      <p:grpSpPr>
        <a:xfrm xmlns:a="http://schemas.openxmlformats.org/drawingml/2006/main"/>
      </p:grpSpPr>
      <p:sp>
        <p:nvSpPr>
          <p:cNvPr id="21" name="">
            <a:extLst xmlns:a="http://schemas.openxmlformats.org/drawingml/2006/main">
              <a:ext uri="{FF2B5EF4-FFF2-40B4-BE49-F238E27FC236}">
                <a16:creationId xmlns:a16="http://schemas.microsoft.com/office/drawing/2014/main" id="{2A59AAFE-800E-4C54-A81B-6910E8DB24C0}"/>
              </a:ext>
            </a:extLst>
          </p:cNvPr>
          <p:cNvSpPr>
            <a:spLocks xmlns:a="http://schemas.openxmlformats.org/drawingml/2006/main" noGrp="1"/>
          </p:cNvSpPr>
          <p:nvPr/>
        </p:nvSpPr>
        <p:spPr>
          <a:xfrm xmlns:a="http://schemas.openxmlformats.org/drawingml/2006/main">
            <a:off x="552450" y="266700"/>
            <a:ext cx="4953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900" b="1">
                <a:solidFill>
                  <a:srgbClr val="4E6472"/>
                </a:solidFill>
              </a:defRPr>
            </a:pPr>
            <a:r>
              <a:rPr sz="900" b="1">
                <a:solidFill>
                  <a:srgbClr val="4E6472"/>
                </a:solidFill>
              </a:rPr>
              <a:t>SRAI BOOK 7  |  V7_B_N05</a:t>
            </a:r>
          </a:p>
        </p:txBody>
      </p:sp>
      <p:sp>
        <p:nvSpPr>
          <p:cNvPr id="2" name="">
            <a:extLst xmlns:a="http://schemas.openxmlformats.org/drawingml/2006/main">
              <a:ext uri="{FF2B5EF4-FFF2-40B4-BE49-F238E27FC236}">
                <a16:creationId xmlns:a16="http://schemas.microsoft.com/office/drawing/2014/main" id="{D35063E3-B039-4913-A291-F3631EB47D05}"/>
              </a:ext>
            </a:extLst>
          </p:cNvPr>
          <p:cNvSpPr>
            <a:spLocks xmlns:a="http://schemas.openxmlformats.org/drawingml/2006/main" noGrp="1"/>
          </p:cNvSpPr>
          <p:nvPr/>
        </p:nvSpPr>
        <p:spPr>
          <a:xfrm xmlns:a="http://schemas.openxmlformats.org/drawingml/2006/main">
            <a:off x="10953750" y="619125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defRPr sz="900" b="1">
                <a:solidFill>
                  <a:srgbClr val="4E6472"/>
                </a:solidFill>
              </a:defRPr>
            </a:pPr>
            <a:r>
              <a:rPr sz="900" b="1">
                <a:solidFill>
                  <a:srgbClr val="4E6472"/>
                </a:solidFill>
              </a:rPr>
              <a:t>03</a:t>
            </a:r>
          </a:p>
        </p:txBody>
      </p:sp>
      <p:sp>
        <p:nvSpPr>
          <p:cNvPr id="3" name="">
            <a:extLst xmlns:a="http://schemas.openxmlformats.org/drawingml/2006/main">
              <a:ext uri="{FF2B5EF4-FFF2-40B4-BE49-F238E27FC236}">
                <a16:creationId xmlns:a16="http://schemas.microsoft.com/office/drawing/2014/main" id="{5595DD6D-B3B7-4574-AD5F-2B9AB5EDAEF9}"/>
              </a:ext>
            </a:extLst>
          </p:cNvPr>
          <p:cNvSpPr>
            <a:spLocks xmlns:a="http://schemas.openxmlformats.org/drawingml/2006/main" noGrp="1"/>
          </p:cNvSpPr>
          <p:nvPr/>
        </p:nvSpPr>
        <p:spPr>
          <a:xfrm xmlns:a="http://schemas.openxmlformats.org/drawingml/2006/main">
            <a:off x="552450" y="609600"/>
            <a:ext cx="11087100" cy="9525"/>
          </a:xfrm>
          <a:prstGeom xmlns:a="http://schemas.openxmlformats.org/drawingml/2006/main" prst="rect">
            <a:avLst/>
          </a:prstGeom>
          <a:solidFill xmlns:a="http://schemas.openxmlformats.org/drawingml/2006/main">
            <a:srgbClr val="B8C3BD"/>
          </a:solidFill>
          <a:ln xmlns:a="http://schemas.openxmlformats.org/drawingml/2006/main" w="9525">
            <a:solidFill>
              <a:srgbClr val="B8C3BD"/>
            </a:solidFill>
            <a:prstDash val="solid"/>
          </a:ln>
        </p:spPr>
      </p:sp>
      <p:sp>
        <p:nvSpPr>
          <p:cNvPr id="4" name="">
            <a:extLst xmlns:a="http://schemas.openxmlformats.org/drawingml/2006/main">
              <a:ext uri="{FF2B5EF4-FFF2-40B4-BE49-F238E27FC236}">
                <a16:creationId xmlns:a16="http://schemas.microsoft.com/office/drawing/2014/main" id="{259E27A9-B1F0-43EB-98E2-21DEF70C17A6}"/>
              </a:ext>
            </a:extLst>
          </p:cNvPr>
          <p:cNvSpPr>
            <a:spLocks xmlns:a="http://schemas.openxmlformats.org/drawingml/2006/main" noGrp="1"/>
          </p:cNvSpPr>
          <p:nvPr/>
        </p:nvSpPr>
        <p:spPr>
          <a:xfrm xmlns:a="http://schemas.openxmlformats.org/drawingml/2006/main">
            <a:off x="552450" y="895350"/>
            <a:ext cx="1047750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2850" b="1">
                <a:solidFill>
                  <a:srgbClr val="061A2B"/>
                </a:solidFill>
              </a:defRPr>
            </a:pPr>
            <a:r>
              <a:rPr sz="2850" b="1">
                <a:solidFill>
                  <a:srgbClr val="061A2B"/>
                </a:solidFill>
              </a:rPr>
              <a:t>Five controls make the lesson operational</a:t>
            </a:r>
          </a:p>
        </p:txBody>
      </p:sp>
      <p:sp>
        <p:nvSpPr>
          <p:cNvPr id="5" name="">
            <a:extLst xmlns:a="http://schemas.openxmlformats.org/drawingml/2006/main">
              <a:ext uri="{FF2B5EF4-FFF2-40B4-BE49-F238E27FC236}">
                <a16:creationId xmlns:a16="http://schemas.microsoft.com/office/drawing/2014/main" id="{600DAFAB-C10A-40B5-8BCE-BAC50899B865}"/>
              </a:ext>
            </a:extLst>
          </p:cNvPr>
          <p:cNvSpPr>
            <a:spLocks xmlns:a="http://schemas.openxmlformats.org/drawingml/2006/main" noGrp="1"/>
          </p:cNvSpPr>
          <p:nvPr/>
        </p:nvSpPr>
        <p:spPr>
          <a:xfrm xmlns:a="http://schemas.openxmlformats.org/drawingml/2006/main">
            <a:off x="552450" y="2171700"/>
            <a:ext cx="1809750" cy="1619250"/>
          </a:xfrm>
          <a:prstGeom xmlns:a="http://schemas.openxmlformats.org/drawingml/2006/main" prst="rect">
            <a:avLst/>
          </a:prstGeom>
          <a:solidFill xmlns:a="http://schemas.openxmlformats.org/drawingml/2006/main">
            <a:srgbClr val="D9E9E5"/>
          </a:solidFill>
          <a:ln xmlns:a="http://schemas.openxmlformats.org/drawingml/2006/main" w="9525">
            <a:solidFill>
              <a:srgbClr val="B8BCC4"/>
            </a:solidFill>
            <a:prstDash val="solid"/>
          </a:ln>
        </p:spPr>
      </p:sp>
      <p:sp>
        <p:nvSpPr>
          <p:cNvPr id="6" name="">
            <a:extLst xmlns:a="http://schemas.openxmlformats.org/drawingml/2006/main">
              <a:ext uri="{FF2B5EF4-FFF2-40B4-BE49-F238E27FC236}">
                <a16:creationId xmlns:a16="http://schemas.microsoft.com/office/drawing/2014/main" id="{6F1E54FE-290B-42E4-A86A-778B2ACED7A3}"/>
              </a:ext>
            </a:extLst>
          </p:cNvPr>
          <p:cNvSpPr>
            <a:spLocks xmlns:a="http://schemas.openxmlformats.org/drawingml/2006/main" noGrp="1"/>
          </p:cNvSpPr>
          <p:nvPr/>
        </p:nvSpPr>
        <p:spPr>
          <a:xfrm xmlns:a="http://schemas.openxmlformats.org/drawingml/2006/main">
            <a:off x="723900" y="2343150"/>
            <a:ext cx="381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350" b="1">
                <a:solidFill>
                  <a:srgbClr val="0B2E45"/>
                </a:solidFill>
              </a:defRPr>
            </a:pPr>
            <a:r>
              <a:rPr sz="1350" b="1">
                <a:solidFill>
                  <a:srgbClr val="0B2E45"/>
                </a:solidFill>
              </a:rPr>
              <a:t>1</a:t>
            </a:r>
          </a:p>
        </p:txBody>
      </p:sp>
      <p:sp>
        <p:nvSpPr>
          <p:cNvPr id="7" name="">
            <a:extLst xmlns:a="http://schemas.openxmlformats.org/drawingml/2006/main">
              <a:ext uri="{FF2B5EF4-FFF2-40B4-BE49-F238E27FC236}">
                <a16:creationId xmlns:a16="http://schemas.microsoft.com/office/drawing/2014/main" id="{8D7BDA28-589D-4ABB-B73E-5102ABC32638}"/>
              </a:ext>
            </a:extLst>
          </p:cNvPr>
          <p:cNvSpPr>
            <a:spLocks xmlns:a="http://schemas.openxmlformats.org/drawingml/2006/main" noGrp="1"/>
          </p:cNvSpPr>
          <p:nvPr/>
        </p:nvSpPr>
        <p:spPr>
          <a:xfrm xmlns:a="http://schemas.openxmlformats.org/drawingml/2006/main">
            <a:off x="723900" y="2800350"/>
            <a:ext cx="1466850" cy="704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575" b="1">
                <a:solidFill>
                  <a:srgbClr val="061A2B"/>
                </a:solidFill>
              </a:defRPr>
            </a:pPr>
            <a:r>
              <a:rPr sz="1575" b="1">
                <a:solidFill>
                  <a:srgbClr val="061A2B"/>
                </a:solidFill>
              </a:rPr>
              <a:t>Usable stock</a:t>
            </a:r>
          </a:p>
        </p:txBody>
      </p:sp>
      <p:sp>
        <p:nvSpPr>
          <p:cNvPr id="8" name="">
            <a:extLst xmlns:a="http://schemas.openxmlformats.org/drawingml/2006/main">
              <a:ext uri="{FF2B5EF4-FFF2-40B4-BE49-F238E27FC236}">
                <a16:creationId xmlns:a16="http://schemas.microsoft.com/office/drawing/2014/main" id="{CD77D70D-B3A6-4464-A5DD-D3CD89001A0D}"/>
              </a:ext>
            </a:extLst>
          </p:cNvPr>
          <p:cNvSpPr>
            <a:spLocks xmlns:a="http://schemas.openxmlformats.org/drawingml/2006/main" noGrp="1"/>
          </p:cNvSpPr>
          <p:nvPr/>
        </p:nvSpPr>
        <p:spPr>
          <a:xfrm xmlns:a="http://schemas.openxmlformats.org/drawingml/2006/main">
            <a:off x="2667000" y="2171700"/>
            <a:ext cx="1809750" cy="1619250"/>
          </a:xfrm>
          <a:prstGeom xmlns:a="http://schemas.openxmlformats.org/drawingml/2006/main" prst="rect">
            <a:avLst/>
          </a:prstGeom>
          <a:solidFill xmlns:a="http://schemas.openxmlformats.org/drawingml/2006/main">
            <a:srgbClr val="D9E9E5"/>
          </a:solidFill>
          <a:ln xmlns:a="http://schemas.openxmlformats.org/drawingml/2006/main" w="9525">
            <a:solidFill>
              <a:srgbClr val="B8BCC4"/>
            </a:solidFill>
            <a:prstDash val="solid"/>
          </a:ln>
        </p:spPr>
      </p:sp>
      <p:sp>
        <p:nvSpPr>
          <p:cNvPr id="9" name="">
            <a:extLst xmlns:a="http://schemas.openxmlformats.org/drawingml/2006/main">
              <a:ext uri="{FF2B5EF4-FFF2-40B4-BE49-F238E27FC236}">
                <a16:creationId xmlns:a16="http://schemas.microsoft.com/office/drawing/2014/main" id="{119C26E3-C36F-4CFE-B78D-6E8A31B14982}"/>
              </a:ext>
            </a:extLst>
          </p:cNvPr>
          <p:cNvSpPr>
            <a:spLocks xmlns:a="http://schemas.openxmlformats.org/drawingml/2006/main" noGrp="1"/>
          </p:cNvSpPr>
          <p:nvPr/>
        </p:nvSpPr>
        <p:spPr>
          <a:xfrm xmlns:a="http://schemas.openxmlformats.org/drawingml/2006/main">
            <a:off x="2838450" y="2343150"/>
            <a:ext cx="381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350" b="1">
                <a:solidFill>
                  <a:srgbClr val="0B2E45"/>
                </a:solidFill>
              </a:defRPr>
            </a:pPr>
            <a:r>
              <a:rPr sz="1350" b="1">
                <a:solidFill>
                  <a:srgbClr val="0B2E45"/>
                </a:solidFill>
              </a:rPr>
              <a:t>2</a:t>
            </a:r>
          </a:p>
        </p:txBody>
      </p:sp>
      <p:sp>
        <p:nvSpPr>
          <p:cNvPr id="10" name="">
            <a:extLst xmlns:a="http://schemas.openxmlformats.org/drawingml/2006/main">
              <a:ext uri="{FF2B5EF4-FFF2-40B4-BE49-F238E27FC236}">
                <a16:creationId xmlns:a16="http://schemas.microsoft.com/office/drawing/2014/main" id="{BA1D3C0B-7CCB-485C-8146-DC644813F8A9}"/>
              </a:ext>
            </a:extLst>
          </p:cNvPr>
          <p:cNvSpPr>
            <a:spLocks xmlns:a="http://schemas.openxmlformats.org/drawingml/2006/main" noGrp="1"/>
          </p:cNvSpPr>
          <p:nvPr/>
        </p:nvSpPr>
        <p:spPr>
          <a:xfrm xmlns:a="http://schemas.openxmlformats.org/drawingml/2006/main">
            <a:off x="2838450" y="2800350"/>
            <a:ext cx="1466850" cy="704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575" b="1">
                <a:solidFill>
                  <a:srgbClr val="061A2B"/>
                </a:solidFill>
              </a:defRPr>
            </a:pPr>
            <a:r>
              <a:rPr sz="1575" b="1">
                <a:solidFill>
                  <a:srgbClr val="061A2B"/>
                </a:solidFill>
              </a:rPr>
              <a:t>Consumption</a:t>
            </a:r>
          </a:p>
        </p:txBody>
      </p:sp>
      <p:sp>
        <p:nvSpPr>
          <p:cNvPr id="11" name="">
            <a:extLst xmlns:a="http://schemas.openxmlformats.org/drawingml/2006/main">
              <a:ext uri="{FF2B5EF4-FFF2-40B4-BE49-F238E27FC236}">
                <a16:creationId xmlns:a16="http://schemas.microsoft.com/office/drawing/2014/main" id="{0EB24126-2365-48D3-85FA-9DB61B9DB52A}"/>
              </a:ext>
            </a:extLst>
          </p:cNvPr>
          <p:cNvSpPr>
            <a:spLocks xmlns:a="http://schemas.openxmlformats.org/drawingml/2006/main" noGrp="1"/>
          </p:cNvSpPr>
          <p:nvPr/>
        </p:nvSpPr>
        <p:spPr>
          <a:xfrm xmlns:a="http://schemas.openxmlformats.org/drawingml/2006/main">
            <a:off x="4781550" y="2171700"/>
            <a:ext cx="1809750" cy="1619250"/>
          </a:xfrm>
          <a:prstGeom xmlns:a="http://schemas.openxmlformats.org/drawingml/2006/main" prst="rect">
            <a:avLst/>
          </a:prstGeom>
          <a:solidFill xmlns:a="http://schemas.openxmlformats.org/drawingml/2006/main">
            <a:srgbClr val="D0EDFA"/>
          </a:solidFill>
          <a:ln xmlns:a="http://schemas.openxmlformats.org/drawingml/2006/main" w="9525">
            <a:solidFill>
              <a:srgbClr val="B8BCC4"/>
            </a:solidFill>
            <a:prstDash val="solid"/>
          </a:ln>
        </p:spPr>
      </p:sp>
      <p:sp>
        <p:nvSpPr>
          <p:cNvPr id="12" name="">
            <a:extLst xmlns:a="http://schemas.openxmlformats.org/drawingml/2006/main">
              <a:ext uri="{FF2B5EF4-FFF2-40B4-BE49-F238E27FC236}">
                <a16:creationId xmlns:a16="http://schemas.microsoft.com/office/drawing/2014/main" id="{8F6205D1-8BE4-47E2-8806-9293BFE7AB42}"/>
              </a:ext>
            </a:extLst>
          </p:cNvPr>
          <p:cNvSpPr>
            <a:spLocks xmlns:a="http://schemas.openxmlformats.org/drawingml/2006/main" noGrp="1"/>
          </p:cNvSpPr>
          <p:nvPr/>
        </p:nvSpPr>
        <p:spPr>
          <a:xfrm xmlns:a="http://schemas.openxmlformats.org/drawingml/2006/main">
            <a:off x="4953000" y="2343150"/>
            <a:ext cx="381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350" b="1">
                <a:solidFill>
                  <a:srgbClr val="0B2E45"/>
                </a:solidFill>
              </a:defRPr>
            </a:pPr>
            <a:r>
              <a:rPr sz="1350" b="1">
                <a:solidFill>
                  <a:srgbClr val="0B2E45"/>
                </a:solidFill>
              </a:rPr>
              <a:t>3</a:t>
            </a:r>
          </a:p>
        </p:txBody>
      </p:sp>
      <p:sp>
        <p:nvSpPr>
          <p:cNvPr id="13" name="">
            <a:extLst xmlns:a="http://schemas.openxmlformats.org/drawingml/2006/main">
              <a:ext uri="{FF2B5EF4-FFF2-40B4-BE49-F238E27FC236}">
                <a16:creationId xmlns:a16="http://schemas.microsoft.com/office/drawing/2014/main" id="{F3DFAAB0-F962-4004-B1B8-91E77D363AF2}"/>
              </a:ext>
            </a:extLst>
          </p:cNvPr>
          <p:cNvSpPr>
            <a:spLocks xmlns:a="http://schemas.openxmlformats.org/drawingml/2006/main" noGrp="1"/>
          </p:cNvSpPr>
          <p:nvPr/>
        </p:nvSpPr>
        <p:spPr>
          <a:xfrm xmlns:a="http://schemas.openxmlformats.org/drawingml/2006/main">
            <a:off x="4953000" y="2800350"/>
            <a:ext cx="1466850" cy="704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575" b="1">
                <a:solidFill>
                  <a:srgbClr val="061A2B"/>
                </a:solidFill>
              </a:defRPr>
            </a:pPr>
            <a:r>
              <a:rPr sz="1575" b="1">
                <a:solidFill>
                  <a:srgbClr val="061A2B"/>
                </a:solidFill>
              </a:rPr>
              <a:t>Lead time</a:t>
            </a:r>
          </a:p>
        </p:txBody>
      </p:sp>
      <p:sp>
        <p:nvSpPr>
          <p:cNvPr id="14" name="">
            <a:extLst xmlns:a="http://schemas.openxmlformats.org/drawingml/2006/main">
              <a:ext uri="{FF2B5EF4-FFF2-40B4-BE49-F238E27FC236}">
                <a16:creationId xmlns:a16="http://schemas.microsoft.com/office/drawing/2014/main" id="{66B39771-66B6-450D-AF33-8988706D5D2B}"/>
              </a:ext>
            </a:extLst>
          </p:cNvPr>
          <p:cNvSpPr>
            <a:spLocks xmlns:a="http://schemas.openxmlformats.org/drawingml/2006/main" noGrp="1"/>
          </p:cNvSpPr>
          <p:nvPr/>
        </p:nvSpPr>
        <p:spPr>
          <a:xfrm xmlns:a="http://schemas.openxmlformats.org/drawingml/2006/main">
            <a:off x="6896100" y="2171700"/>
            <a:ext cx="1809750" cy="1619250"/>
          </a:xfrm>
          <a:prstGeom xmlns:a="http://schemas.openxmlformats.org/drawingml/2006/main" prst="rect">
            <a:avLst/>
          </a:prstGeom>
          <a:solidFill xmlns:a="http://schemas.openxmlformats.org/drawingml/2006/main">
            <a:srgbClr val="D9E9E5"/>
          </a:solidFill>
          <a:ln xmlns:a="http://schemas.openxmlformats.org/drawingml/2006/main" w="9525">
            <a:solidFill>
              <a:srgbClr val="B8BCC4"/>
            </a:solidFill>
            <a:prstDash val="solid"/>
          </a:ln>
        </p:spPr>
      </p:sp>
      <p:sp>
        <p:nvSpPr>
          <p:cNvPr id="15" name="">
            <a:extLst xmlns:a="http://schemas.openxmlformats.org/drawingml/2006/main">
              <a:ext uri="{FF2B5EF4-FFF2-40B4-BE49-F238E27FC236}">
                <a16:creationId xmlns:a16="http://schemas.microsoft.com/office/drawing/2014/main" id="{07DD09E7-E5EF-4EB6-9CAF-E2275B9A98A0}"/>
              </a:ext>
            </a:extLst>
          </p:cNvPr>
          <p:cNvSpPr>
            <a:spLocks xmlns:a="http://schemas.openxmlformats.org/drawingml/2006/main" noGrp="1"/>
          </p:cNvSpPr>
          <p:nvPr/>
        </p:nvSpPr>
        <p:spPr>
          <a:xfrm xmlns:a="http://schemas.openxmlformats.org/drawingml/2006/main">
            <a:off x="7067550" y="2343150"/>
            <a:ext cx="381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350" b="1">
                <a:solidFill>
                  <a:srgbClr val="0B2E45"/>
                </a:solidFill>
              </a:defRPr>
            </a:pPr>
            <a:r>
              <a:rPr sz="1350" b="1">
                <a:solidFill>
                  <a:srgbClr val="0B2E45"/>
                </a:solidFill>
              </a:rPr>
              <a:t>4</a:t>
            </a:r>
          </a:p>
        </p:txBody>
      </p:sp>
      <p:sp>
        <p:nvSpPr>
          <p:cNvPr id="16" name="">
            <a:extLst xmlns:a="http://schemas.openxmlformats.org/drawingml/2006/main">
              <a:ext uri="{FF2B5EF4-FFF2-40B4-BE49-F238E27FC236}">
                <a16:creationId xmlns:a16="http://schemas.microsoft.com/office/drawing/2014/main" id="{F919639A-D48A-40E3-962E-8189901D424A}"/>
              </a:ext>
            </a:extLst>
          </p:cNvPr>
          <p:cNvSpPr>
            <a:spLocks xmlns:a="http://schemas.openxmlformats.org/drawingml/2006/main" noGrp="1"/>
          </p:cNvSpPr>
          <p:nvPr/>
        </p:nvSpPr>
        <p:spPr>
          <a:xfrm xmlns:a="http://schemas.openxmlformats.org/drawingml/2006/main">
            <a:off x="7067550" y="2800350"/>
            <a:ext cx="1466850" cy="704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575" b="1">
                <a:solidFill>
                  <a:srgbClr val="061A2B"/>
                </a:solidFill>
              </a:defRPr>
            </a:pPr>
            <a:r>
              <a:rPr sz="1575" b="1">
                <a:solidFill>
                  <a:srgbClr val="061A2B"/>
                </a:solidFill>
              </a:rPr>
              <a:t>Cold chain</a:t>
            </a:r>
          </a:p>
        </p:txBody>
      </p:sp>
      <p:sp>
        <p:nvSpPr>
          <p:cNvPr id="17" name="">
            <a:extLst xmlns:a="http://schemas.openxmlformats.org/drawingml/2006/main">
              <a:ext uri="{FF2B5EF4-FFF2-40B4-BE49-F238E27FC236}">
                <a16:creationId xmlns:a16="http://schemas.microsoft.com/office/drawing/2014/main" id="{33614044-B2B5-4A81-851A-F2AEA6369A0E}"/>
              </a:ext>
            </a:extLst>
          </p:cNvPr>
          <p:cNvSpPr>
            <a:spLocks xmlns:a="http://schemas.openxmlformats.org/drawingml/2006/main" noGrp="1"/>
          </p:cNvSpPr>
          <p:nvPr/>
        </p:nvSpPr>
        <p:spPr>
          <a:xfrm xmlns:a="http://schemas.openxmlformats.org/drawingml/2006/main">
            <a:off x="9010650" y="2171700"/>
            <a:ext cx="1809750" cy="1619250"/>
          </a:xfrm>
          <a:prstGeom xmlns:a="http://schemas.openxmlformats.org/drawingml/2006/main" prst="rect">
            <a:avLst/>
          </a:prstGeom>
          <a:solidFill xmlns:a="http://schemas.openxmlformats.org/drawingml/2006/main">
            <a:srgbClr val="D9E9E5"/>
          </a:solidFill>
          <a:ln xmlns:a="http://schemas.openxmlformats.org/drawingml/2006/main" w="9525">
            <a:solidFill>
              <a:srgbClr val="B8BCC4"/>
            </a:solidFill>
            <a:prstDash val="solid"/>
          </a:ln>
        </p:spPr>
      </p:sp>
      <p:sp>
        <p:nvSpPr>
          <p:cNvPr id="18" name="">
            <a:extLst xmlns:a="http://schemas.openxmlformats.org/drawingml/2006/main">
              <a:ext uri="{FF2B5EF4-FFF2-40B4-BE49-F238E27FC236}">
                <a16:creationId xmlns:a16="http://schemas.microsoft.com/office/drawing/2014/main" id="{A1FC9E68-275D-470F-9499-94AFF71C131E}"/>
              </a:ext>
            </a:extLst>
          </p:cNvPr>
          <p:cNvSpPr>
            <a:spLocks xmlns:a="http://schemas.openxmlformats.org/drawingml/2006/main" noGrp="1"/>
          </p:cNvSpPr>
          <p:nvPr/>
        </p:nvSpPr>
        <p:spPr>
          <a:xfrm xmlns:a="http://schemas.openxmlformats.org/drawingml/2006/main">
            <a:off x="9182100" y="2343150"/>
            <a:ext cx="381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350" b="1">
                <a:solidFill>
                  <a:srgbClr val="0B2E45"/>
                </a:solidFill>
              </a:defRPr>
            </a:pPr>
            <a:r>
              <a:rPr sz="1350" b="1">
                <a:solidFill>
                  <a:srgbClr val="0B2E45"/>
                </a:solidFill>
              </a:rPr>
              <a:t>5</a:t>
            </a:r>
          </a:p>
        </p:txBody>
      </p:sp>
      <p:sp>
        <p:nvSpPr>
          <p:cNvPr id="19" name="">
            <a:extLst xmlns:a="http://schemas.openxmlformats.org/drawingml/2006/main">
              <a:ext uri="{FF2B5EF4-FFF2-40B4-BE49-F238E27FC236}">
                <a16:creationId xmlns:a16="http://schemas.microsoft.com/office/drawing/2014/main" id="{1605FDAA-0D39-4563-B499-FEA10DDD45F8}"/>
              </a:ext>
            </a:extLst>
          </p:cNvPr>
          <p:cNvSpPr>
            <a:spLocks xmlns:a="http://schemas.openxmlformats.org/drawingml/2006/main" noGrp="1"/>
          </p:cNvSpPr>
          <p:nvPr/>
        </p:nvSpPr>
        <p:spPr>
          <a:xfrm xmlns:a="http://schemas.openxmlformats.org/drawingml/2006/main">
            <a:off x="9182100" y="2800350"/>
            <a:ext cx="1466850" cy="704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575" b="1">
                <a:solidFill>
                  <a:srgbClr val="061A2B"/>
                </a:solidFill>
              </a:defRPr>
            </a:pPr>
            <a:r>
              <a:rPr sz="1575" b="1">
                <a:solidFill>
                  <a:srgbClr val="061A2B"/>
                </a:solidFill>
              </a:rPr>
              <a:t>Expiry risk</a:t>
            </a:r>
          </a:p>
        </p:txBody>
      </p:sp>
      <p:sp>
        <p:nvSpPr>
          <p:cNvPr id="20" name="">
            <a:extLst xmlns:a="http://schemas.openxmlformats.org/drawingml/2006/main">
              <a:ext uri="{FF2B5EF4-FFF2-40B4-BE49-F238E27FC236}">
                <a16:creationId xmlns:a16="http://schemas.microsoft.com/office/drawing/2014/main" id="{8F832C5C-395D-4FD5-9BB4-64D67844E519}"/>
              </a:ext>
            </a:extLst>
          </p:cNvPr>
          <p:cNvSpPr>
            <a:spLocks xmlns:a="http://schemas.openxmlformats.org/drawingml/2006/main" noGrp="1"/>
          </p:cNvSpPr>
          <p:nvPr/>
        </p:nvSpPr>
        <p:spPr>
          <a:xfrm xmlns:a="http://schemas.openxmlformats.org/drawingml/2006/main">
            <a:off x="552450" y="4476750"/>
            <a:ext cx="1047750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875" b="1">
                <a:solidFill>
                  <a:srgbClr val="102A3A"/>
                </a:solidFill>
              </a:defRPr>
            </a:pPr>
            <a:r>
              <a:rPr sz="1875" b="1">
                <a:solidFill>
                  <a:srgbClr val="102A3A"/>
                </a:solidFill>
              </a:rPr>
              <a:t>Each control must be explicit, reviewable, and owned.</a:t>
            </a:r>
          </a:p>
        </p:txBody>
      </p:sp>
    </p:spTree>
    <p:extLst>
      <p:ext uri="{BB962C8B-B14F-4D97-AF65-F5344CB8AC3E}">
        <p14:creationId xmlns:p14="http://schemas.microsoft.com/office/powerpoint/2010/main" val="288858944"/>
      </p:ext>
    </p:extLst>
  </p:cSld>
</p:sld>
</file>

<file path=ppt/slides/slide4.xml><?xml version="1.0" encoding="utf-8"?>
<p:sld xmlns:p="http://schemas.openxmlformats.org/presentationml/2006/main">
  <p:cSld>
    <p:bg>
      <p:bgPr>
        <a:solidFill xmlns:a="http://schemas.openxmlformats.org/drawingml/2006/main">
          <a:srgbClr val="061A2B"/>
        </a:solidFill>
      </p:bgPr>
    </p:bg>
    <p:spTree>
      <p:nvGrpSpPr>
        <p:cNvPr id="1" name=""/>
        <p:cNvGrpSpPr/>
        <p:nvPr/>
      </p:nvGrpSpPr>
      <p:grpSpPr>
        <a:xfrm xmlns:a="http://schemas.openxmlformats.org/drawingml/2006/main"/>
      </p:grpSpPr>
      <p:sp>
        <p:nvSpPr>
          <p:cNvPr id="12" name="">
            <a:extLst xmlns:a="http://schemas.openxmlformats.org/drawingml/2006/main">
              <a:ext uri="{FF2B5EF4-FFF2-40B4-BE49-F238E27FC236}">
                <a16:creationId xmlns:a16="http://schemas.microsoft.com/office/drawing/2014/main" id="{C53EE0F0-070C-4773-B19B-D6579A5E08F0}"/>
              </a:ext>
            </a:extLst>
          </p:cNvPr>
          <p:cNvSpPr>
            <a:spLocks xmlns:a="http://schemas.openxmlformats.org/drawingml/2006/main" noGrp="1"/>
          </p:cNvSpPr>
          <p:nvPr/>
        </p:nvSpPr>
        <p:spPr>
          <a:xfrm xmlns:a="http://schemas.openxmlformats.org/drawingml/2006/main">
            <a:off x="552450" y="266700"/>
            <a:ext cx="4953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900" b="1">
                <a:solidFill>
                  <a:srgbClr val="4E6472"/>
                </a:solidFill>
              </a:defRPr>
            </a:pPr>
            <a:r>
              <a:rPr sz="900" b="1">
                <a:solidFill>
                  <a:srgbClr val="4E6472"/>
                </a:solidFill>
              </a:rPr>
              <a:t>SRAI BOOK 7  |  V7_B_N05</a:t>
            </a:r>
          </a:p>
        </p:txBody>
      </p:sp>
      <p:sp>
        <p:nvSpPr>
          <p:cNvPr id="2" name="">
            <a:extLst xmlns:a="http://schemas.openxmlformats.org/drawingml/2006/main">
              <a:ext uri="{FF2B5EF4-FFF2-40B4-BE49-F238E27FC236}">
                <a16:creationId xmlns:a16="http://schemas.microsoft.com/office/drawing/2014/main" id="{9B139E3F-2D6E-4EC3-A172-2179F298FBC1}"/>
              </a:ext>
            </a:extLst>
          </p:cNvPr>
          <p:cNvSpPr>
            <a:spLocks xmlns:a="http://schemas.openxmlformats.org/drawingml/2006/main" noGrp="1"/>
          </p:cNvSpPr>
          <p:nvPr/>
        </p:nvSpPr>
        <p:spPr>
          <a:xfrm xmlns:a="http://schemas.openxmlformats.org/drawingml/2006/main">
            <a:off x="10953750" y="619125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defRPr sz="900" b="1">
                <a:solidFill>
                  <a:srgbClr val="4E6472"/>
                </a:solidFill>
              </a:defRPr>
            </a:pPr>
            <a:r>
              <a:rPr sz="900" b="1">
                <a:solidFill>
                  <a:srgbClr val="4E6472"/>
                </a:solidFill>
              </a:rPr>
              <a:t>04</a:t>
            </a:r>
          </a:p>
        </p:txBody>
      </p:sp>
      <p:sp>
        <p:nvSpPr>
          <p:cNvPr id="3" name="">
            <a:extLst xmlns:a="http://schemas.openxmlformats.org/drawingml/2006/main">
              <a:ext uri="{FF2B5EF4-FFF2-40B4-BE49-F238E27FC236}">
                <a16:creationId xmlns:a16="http://schemas.microsoft.com/office/drawing/2014/main" id="{3252AC6D-909D-4A24-96B9-3BA601E295A4}"/>
              </a:ext>
            </a:extLst>
          </p:cNvPr>
          <p:cNvSpPr>
            <a:spLocks xmlns:a="http://schemas.openxmlformats.org/drawingml/2006/main" noGrp="1"/>
          </p:cNvSpPr>
          <p:nvPr/>
        </p:nvSpPr>
        <p:spPr>
          <a:xfrm xmlns:a="http://schemas.openxmlformats.org/drawingml/2006/main">
            <a:off x="552450" y="609600"/>
            <a:ext cx="11087100" cy="9525"/>
          </a:xfrm>
          <a:prstGeom xmlns:a="http://schemas.openxmlformats.org/drawingml/2006/main" prst="rect">
            <a:avLst/>
          </a:prstGeom>
          <a:solidFill xmlns:a="http://schemas.openxmlformats.org/drawingml/2006/main">
            <a:srgbClr val="B8C3BD"/>
          </a:solidFill>
          <a:ln xmlns:a="http://schemas.openxmlformats.org/drawingml/2006/main" w="9525">
            <a:solidFill>
              <a:srgbClr val="B8C3BD"/>
            </a:solidFill>
            <a:prstDash val="solid"/>
          </a:ln>
        </p:spPr>
      </p:sp>
      <p:sp>
        <p:nvSpPr>
          <p:cNvPr id="4" name="">
            <a:extLst xmlns:a="http://schemas.openxmlformats.org/drawingml/2006/main">
              <a:ext uri="{FF2B5EF4-FFF2-40B4-BE49-F238E27FC236}">
                <a16:creationId xmlns:a16="http://schemas.microsoft.com/office/drawing/2014/main" id="{92762E5E-21EA-4598-9A3C-136D14CBF59C}"/>
              </a:ext>
            </a:extLst>
          </p:cNvPr>
          <p:cNvSpPr>
            <a:spLocks xmlns:a="http://schemas.openxmlformats.org/drawingml/2006/main" noGrp="1"/>
          </p:cNvSpPr>
          <p:nvPr/>
        </p:nvSpPr>
        <p:spPr>
          <a:xfrm xmlns:a="http://schemas.openxmlformats.org/drawingml/2006/main">
            <a:off x="552450" y="895350"/>
            <a:ext cx="1047750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2850" b="1">
                <a:solidFill>
                  <a:srgbClr val="F7F4EC"/>
                </a:solidFill>
              </a:defRPr>
            </a:pPr>
            <a:r>
              <a:rPr sz="2850" b="1">
                <a:solidFill>
                  <a:srgbClr val="F7F4EC"/>
                </a:solidFill>
              </a:rPr>
              <a:t>A worked example separates support from authority</a:t>
            </a:r>
          </a:p>
        </p:txBody>
      </p:sp>
      <p:sp>
        <p:nvSpPr>
          <p:cNvPr id="5" name="">
            <a:extLst xmlns:a="http://schemas.openxmlformats.org/drawingml/2006/main">
              <a:ext uri="{FF2B5EF4-FFF2-40B4-BE49-F238E27FC236}">
                <a16:creationId xmlns:a16="http://schemas.microsoft.com/office/drawing/2014/main" id="{83F3E047-B265-4639-AC6C-1C45AF4BE983}"/>
              </a:ext>
            </a:extLst>
          </p:cNvPr>
          <p:cNvSpPr>
            <a:spLocks xmlns:a="http://schemas.openxmlformats.org/drawingml/2006/main" noGrp="1"/>
          </p:cNvSpPr>
          <p:nvPr/>
        </p:nvSpPr>
        <p:spPr>
          <a:xfrm xmlns:a="http://schemas.openxmlformats.org/drawingml/2006/main">
            <a:off x="552450" y="1809750"/>
            <a:ext cx="6667500" cy="2476500"/>
          </a:xfrm>
          <a:prstGeom xmlns:a="http://schemas.openxmlformats.org/drawingml/2006/main" prst="rect">
            <a:avLst/>
          </a:prstGeom>
          <a:solidFill xmlns:a="http://schemas.openxmlformats.org/drawingml/2006/main">
            <a:srgbClr val="0B2E45"/>
          </a:solidFill>
          <a:ln xmlns:a="http://schemas.openxmlformats.org/drawingml/2006/main" w="9525">
            <a:solidFill>
              <a:srgbClr val="2AA79B"/>
            </a:solidFill>
            <a:prstDash val="solid"/>
          </a:ln>
        </p:spPr>
      </p:sp>
      <p:sp>
        <p:nvSpPr>
          <p:cNvPr id="6" name="">
            <a:extLst xmlns:a="http://schemas.openxmlformats.org/drawingml/2006/main">
              <a:ext uri="{FF2B5EF4-FFF2-40B4-BE49-F238E27FC236}">
                <a16:creationId xmlns:a16="http://schemas.microsoft.com/office/drawing/2014/main" id="{F46193DB-F3FF-4389-9319-395541EC4B19}"/>
              </a:ext>
            </a:extLst>
          </p:cNvPr>
          <p:cNvSpPr>
            <a:spLocks xmlns:a="http://schemas.openxmlformats.org/drawingml/2006/main" noGrp="1"/>
          </p:cNvSpPr>
          <p:nvPr/>
        </p:nvSpPr>
        <p:spPr>
          <a:xfrm xmlns:a="http://schemas.openxmlformats.org/drawingml/2006/main">
            <a:off x="838200" y="2095500"/>
            <a:ext cx="5905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050" b="1">
                <a:solidFill>
                  <a:srgbClr val="2AA79B"/>
                </a:solidFill>
              </a:defRPr>
            </a:pPr>
            <a:r>
              <a:rPr sz="1050" b="1">
                <a:solidFill>
                  <a:srgbClr val="2AA79B"/>
                </a:solidFill>
              </a:rPr>
              <a:t>ILLUSTRATIVE APPLICATION</a:t>
            </a:r>
          </a:p>
        </p:txBody>
      </p:sp>
      <p:sp>
        <p:nvSpPr>
          <p:cNvPr id="7" name="">
            <a:extLst xmlns:a="http://schemas.openxmlformats.org/drawingml/2006/main">
              <a:ext uri="{FF2B5EF4-FFF2-40B4-BE49-F238E27FC236}">
                <a16:creationId xmlns:a16="http://schemas.microsoft.com/office/drawing/2014/main" id="{4143035F-8BFE-4FA4-A2D0-03887E724B3D}"/>
              </a:ext>
            </a:extLst>
          </p:cNvPr>
          <p:cNvSpPr>
            <a:spLocks xmlns:a="http://schemas.openxmlformats.org/drawingml/2006/main" noGrp="1"/>
          </p:cNvSpPr>
          <p:nvPr/>
        </p:nvSpPr>
        <p:spPr>
          <a:xfrm xmlns:a="http://schemas.openxmlformats.org/drawingml/2006/main">
            <a:off x="838200" y="2667000"/>
            <a:ext cx="6000750" cy="1047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2025" b="1">
                <a:solidFill>
                  <a:srgbClr val="F7F4EC"/>
                </a:solidFill>
              </a:defRPr>
            </a:pPr>
            <a:r>
              <a:rPr sz="2025" b="1">
                <a:solidFill>
                  <a:srgbClr val="F7F4EC"/>
                </a:solidFill>
              </a:rPr>
              <a:t>A vaccine alert combines usable stock, wastage, lead time, storage, and expiry.</a:t>
            </a:r>
          </a:p>
        </p:txBody>
      </p:sp>
      <p:sp>
        <p:nvSpPr>
          <p:cNvPr id="8" name="">
            <a:extLst xmlns:a="http://schemas.openxmlformats.org/drawingml/2006/main">
              <a:ext uri="{FF2B5EF4-FFF2-40B4-BE49-F238E27FC236}">
                <a16:creationId xmlns:a16="http://schemas.microsoft.com/office/drawing/2014/main" id="{2226A11A-97D1-4492-9783-AA3E36A3122A}"/>
              </a:ext>
            </a:extLst>
          </p:cNvPr>
          <p:cNvSpPr>
            <a:spLocks xmlns:a="http://schemas.openxmlformats.org/drawingml/2006/main" noGrp="1"/>
          </p:cNvSpPr>
          <p:nvPr/>
        </p:nvSpPr>
        <p:spPr>
          <a:xfrm xmlns:a="http://schemas.openxmlformats.org/drawingml/2006/main">
            <a:off x="7858125" y="1809750"/>
            <a:ext cx="3190875" cy="2476500"/>
          </a:xfrm>
          <a:prstGeom xmlns:a="http://schemas.openxmlformats.org/drawingml/2006/main" prst="rect">
            <a:avLst/>
          </a:prstGeom>
          <a:solidFill xmlns:a="http://schemas.openxmlformats.org/drawingml/2006/main">
            <a:srgbClr val="FFFFFF"/>
          </a:solidFill>
          <a:ln xmlns:a="http://schemas.openxmlformats.org/drawingml/2006/main" w="9525">
            <a:solidFill>
              <a:srgbClr val="D4DEE9"/>
            </a:solidFill>
            <a:prstDash val="solid"/>
          </a:ln>
        </p:spPr>
      </p:sp>
      <p:sp>
        <p:nvSpPr>
          <p:cNvPr id="9" name="">
            <a:extLst xmlns:a="http://schemas.openxmlformats.org/drawingml/2006/main">
              <a:ext uri="{FF2B5EF4-FFF2-40B4-BE49-F238E27FC236}">
                <a16:creationId xmlns:a16="http://schemas.microsoft.com/office/drawing/2014/main" id="{C1A2AB1C-AEA4-4292-B55F-C6F1291253F1}"/>
              </a:ext>
            </a:extLst>
          </p:cNvPr>
          <p:cNvSpPr>
            <a:spLocks xmlns:a="http://schemas.openxmlformats.org/drawingml/2006/main" noGrp="1"/>
          </p:cNvSpPr>
          <p:nvPr/>
        </p:nvSpPr>
        <p:spPr>
          <a:xfrm xmlns:a="http://schemas.openxmlformats.org/drawingml/2006/main">
            <a:off x="8143875" y="2095500"/>
            <a:ext cx="2619375"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050" b="1">
                <a:solidFill>
                  <a:srgbClr val="DCA24A"/>
                </a:solidFill>
              </a:defRPr>
            </a:pPr>
            <a:r>
              <a:rPr sz="1050" b="1">
                <a:solidFill>
                  <a:srgbClr val="DCA24A"/>
                </a:solidFill>
              </a:rPr>
              <a:t>THE SYSTEM MAY</a:t>
            </a:r>
          </a:p>
        </p:txBody>
      </p:sp>
      <p:sp>
        <p:nvSpPr>
          <p:cNvPr id="10" name="">
            <a:extLst xmlns:a="http://schemas.openxmlformats.org/drawingml/2006/main">
              <a:ext uri="{FF2B5EF4-FFF2-40B4-BE49-F238E27FC236}">
                <a16:creationId xmlns:a16="http://schemas.microsoft.com/office/drawing/2014/main" id="{3BCC4707-0133-43CA-8074-C1AD39A0133D}"/>
              </a:ext>
            </a:extLst>
          </p:cNvPr>
          <p:cNvSpPr>
            <a:spLocks xmlns:a="http://schemas.openxmlformats.org/drawingml/2006/main" noGrp="1"/>
          </p:cNvSpPr>
          <p:nvPr/>
        </p:nvSpPr>
        <p:spPr>
          <a:xfrm xmlns:a="http://schemas.openxmlformats.org/drawingml/2006/main">
            <a:off x="8143875" y="2571750"/>
            <a:ext cx="2571750" cy="1000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725" b="0">
                <a:solidFill>
                  <a:srgbClr val="102A3A"/>
                </a:solidFill>
              </a:defRPr>
            </a:pPr>
            <a:r>
              <a:rPr sz="1725" b="0">
                <a:solidFill>
                  <a:srgbClr val="102A3A"/>
                </a:solidFill>
              </a:rPr>
              <a:t>Generate evidence</a:t>
            </a:r>
          </a:p>
          <a:p xmlns:a="http://schemas.openxmlformats.org/drawingml/2006/main">
            <a:pPr algn="l">
              <a:defRPr sz="1725" b="0">
                <a:solidFill>
                  <a:srgbClr val="102A3A"/>
                </a:solidFill>
              </a:defRPr>
            </a:pPr>
            <a:r>
              <a:rPr sz="1725" b="0">
                <a:solidFill>
                  <a:srgbClr val="102A3A"/>
                </a:solidFill>
              </a:rPr>
              <a:t>Flag uncertainty</a:t>
            </a:r>
          </a:p>
          <a:p xmlns:a="http://schemas.openxmlformats.org/drawingml/2006/main">
            <a:pPr algn="l">
              <a:defRPr sz="1725" b="0">
                <a:solidFill>
                  <a:srgbClr val="102A3A"/>
                </a:solidFill>
              </a:defRPr>
            </a:pPr>
            <a:r>
              <a:rPr sz="1725" b="0">
                <a:solidFill>
                  <a:srgbClr val="102A3A"/>
                </a:solidFill>
              </a:rPr>
              <a:t>Route authorized review</a:t>
            </a:r>
          </a:p>
        </p:txBody>
      </p:sp>
      <p:sp>
        <p:nvSpPr>
          <p:cNvPr id="11" name="">
            <a:extLst xmlns:a="http://schemas.openxmlformats.org/drawingml/2006/main">
              <a:ext uri="{FF2B5EF4-FFF2-40B4-BE49-F238E27FC236}">
                <a16:creationId xmlns:a16="http://schemas.microsoft.com/office/drawing/2014/main" id="{4CAD316C-3D93-4545-A51B-7146074EB516}"/>
              </a:ext>
            </a:extLst>
          </p:cNvPr>
          <p:cNvSpPr>
            <a:spLocks xmlns:a="http://schemas.openxmlformats.org/drawingml/2006/main" noGrp="1"/>
          </p:cNvSpPr>
          <p:nvPr/>
        </p:nvSpPr>
        <p:spPr>
          <a:xfrm xmlns:a="http://schemas.openxmlformats.org/drawingml/2006/main">
            <a:off x="8143875" y="3714750"/>
            <a:ext cx="257175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350" b="1">
                <a:solidFill>
                  <a:srgbClr val="8B1E1E"/>
                </a:solidFill>
              </a:defRPr>
            </a:pPr>
            <a:r>
              <a:rPr sz="1350" b="1">
                <a:solidFill>
                  <a:srgbClr val="8B1E1E"/>
                </a:solidFill>
              </a:rPr>
              <a:t>It may not authorize the consequential action.</a:t>
            </a:r>
          </a:p>
        </p:txBody>
      </p:sp>
    </p:spTree>
    <p:extLst>
      <p:ext uri="{BB962C8B-B14F-4D97-AF65-F5344CB8AC3E}">
        <p14:creationId xmlns:p14="http://schemas.microsoft.com/office/powerpoint/2010/main" val="1021713541"/>
      </p:ext>
    </p:extLst>
  </p:cSld>
</p:sld>
</file>

<file path=ppt/slides/slide5.xml><?xml version="1.0" encoding="utf-8"?>
<p:sld xmlns:p="http://schemas.openxmlformats.org/presentationml/2006/main">
  <p:cSld>
    <p:bg>
      <p:bgPr>
        <a:solidFill xmlns:a="http://schemas.openxmlformats.org/drawingml/2006/main">
          <a:srgbClr val="F4F0E6"/>
        </a:solidFill>
      </p:bgPr>
    </p:bg>
    <p:spTree>
      <p:nvGrpSpPr>
        <p:cNvPr id="1" name=""/>
        <p:cNvGrpSpPr/>
        <p:nvPr/>
      </p:nvGrpSpPr>
      <p:grpSpPr>
        <a:xfrm xmlns:a="http://schemas.openxmlformats.org/drawingml/2006/main"/>
      </p:grpSpPr>
      <p:sp>
        <p:nvSpPr>
          <p:cNvPr id="18" name="">
            <a:extLst xmlns:a="http://schemas.openxmlformats.org/drawingml/2006/main">
              <a:ext uri="{FF2B5EF4-FFF2-40B4-BE49-F238E27FC236}">
                <a16:creationId xmlns:a16="http://schemas.microsoft.com/office/drawing/2014/main" id="{BB288894-0F82-4556-897F-BCCB8F9F9640}"/>
              </a:ext>
            </a:extLst>
          </p:cNvPr>
          <p:cNvSpPr>
            <a:spLocks xmlns:a="http://schemas.openxmlformats.org/drawingml/2006/main" noGrp="1"/>
          </p:cNvSpPr>
          <p:nvPr/>
        </p:nvSpPr>
        <p:spPr>
          <a:xfrm xmlns:a="http://schemas.openxmlformats.org/drawingml/2006/main">
            <a:off x="552450" y="266700"/>
            <a:ext cx="4953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900" b="1">
                <a:solidFill>
                  <a:srgbClr val="4E6472"/>
                </a:solidFill>
              </a:defRPr>
            </a:pPr>
            <a:r>
              <a:rPr sz="900" b="1">
                <a:solidFill>
                  <a:srgbClr val="4E6472"/>
                </a:solidFill>
              </a:rPr>
              <a:t>SRAI BOOK 7  |  V7_B_N05</a:t>
            </a:r>
          </a:p>
        </p:txBody>
      </p:sp>
      <p:sp>
        <p:nvSpPr>
          <p:cNvPr id="2" name="">
            <a:extLst xmlns:a="http://schemas.openxmlformats.org/drawingml/2006/main">
              <a:ext uri="{FF2B5EF4-FFF2-40B4-BE49-F238E27FC236}">
                <a16:creationId xmlns:a16="http://schemas.microsoft.com/office/drawing/2014/main" id="{FCE02230-E412-4FE3-A09E-43BF8032F1AF}"/>
              </a:ext>
            </a:extLst>
          </p:cNvPr>
          <p:cNvSpPr>
            <a:spLocks xmlns:a="http://schemas.openxmlformats.org/drawingml/2006/main" noGrp="1"/>
          </p:cNvSpPr>
          <p:nvPr/>
        </p:nvSpPr>
        <p:spPr>
          <a:xfrm xmlns:a="http://schemas.openxmlformats.org/drawingml/2006/main">
            <a:off x="10953750" y="619125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defRPr sz="900" b="1">
                <a:solidFill>
                  <a:srgbClr val="4E6472"/>
                </a:solidFill>
              </a:defRPr>
            </a:pPr>
            <a:r>
              <a:rPr sz="900" b="1">
                <a:solidFill>
                  <a:srgbClr val="4E6472"/>
                </a:solidFill>
              </a:rPr>
              <a:t>05</a:t>
            </a:r>
          </a:p>
        </p:txBody>
      </p:sp>
      <p:sp>
        <p:nvSpPr>
          <p:cNvPr id="3" name="">
            <a:extLst xmlns:a="http://schemas.openxmlformats.org/drawingml/2006/main">
              <a:ext uri="{FF2B5EF4-FFF2-40B4-BE49-F238E27FC236}">
                <a16:creationId xmlns:a16="http://schemas.microsoft.com/office/drawing/2014/main" id="{2C7569BD-9EB5-44E6-B72A-42782A70739E}"/>
              </a:ext>
            </a:extLst>
          </p:cNvPr>
          <p:cNvSpPr>
            <a:spLocks xmlns:a="http://schemas.openxmlformats.org/drawingml/2006/main" noGrp="1"/>
          </p:cNvSpPr>
          <p:nvPr/>
        </p:nvSpPr>
        <p:spPr>
          <a:xfrm xmlns:a="http://schemas.openxmlformats.org/drawingml/2006/main">
            <a:off x="552450" y="609600"/>
            <a:ext cx="11087100" cy="9525"/>
          </a:xfrm>
          <a:prstGeom xmlns:a="http://schemas.openxmlformats.org/drawingml/2006/main" prst="rect">
            <a:avLst/>
          </a:prstGeom>
          <a:solidFill xmlns:a="http://schemas.openxmlformats.org/drawingml/2006/main">
            <a:srgbClr val="B8C3BD"/>
          </a:solidFill>
          <a:ln xmlns:a="http://schemas.openxmlformats.org/drawingml/2006/main" w="9525">
            <a:solidFill>
              <a:srgbClr val="B8C3BD"/>
            </a:solidFill>
            <a:prstDash val="solid"/>
          </a:ln>
        </p:spPr>
      </p:sp>
      <p:sp>
        <p:nvSpPr>
          <p:cNvPr id="4" name="">
            <a:extLst xmlns:a="http://schemas.openxmlformats.org/drawingml/2006/main">
              <a:ext uri="{FF2B5EF4-FFF2-40B4-BE49-F238E27FC236}">
                <a16:creationId xmlns:a16="http://schemas.microsoft.com/office/drawing/2014/main" id="{0994FCE9-AD51-4E63-BABA-0D026E322611}"/>
              </a:ext>
            </a:extLst>
          </p:cNvPr>
          <p:cNvSpPr>
            <a:spLocks xmlns:a="http://schemas.openxmlformats.org/drawingml/2006/main" noGrp="1"/>
          </p:cNvSpPr>
          <p:nvPr/>
        </p:nvSpPr>
        <p:spPr>
          <a:xfrm xmlns:a="http://schemas.openxmlformats.org/drawingml/2006/main">
            <a:off x="552450" y="895350"/>
            <a:ext cx="1047750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2850" b="1">
                <a:solidFill>
                  <a:srgbClr val="061A2B"/>
                </a:solidFill>
              </a:defRPr>
            </a:pPr>
            <a:r>
              <a:rPr sz="2850" b="1">
                <a:solidFill>
                  <a:srgbClr val="061A2B"/>
                </a:solidFill>
              </a:rPr>
              <a:t>The notebook turns governance into executable checks</a:t>
            </a:r>
          </a:p>
        </p:txBody>
      </p:sp>
      <p:sp>
        <p:nvSpPr>
          <p:cNvPr id="5" name="">
            <a:extLst xmlns:a="http://schemas.openxmlformats.org/drawingml/2006/main">
              <a:ext uri="{FF2B5EF4-FFF2-40B4-BE49-F238E27FC236}">
                <a16:creationId xmlns:a16="http://schemas.microsoft.com/office/drawing/2014/main" id="{CA9F562C-AD45-45E3-B89E-8791F5A53F0F}"/>
              </a:ext>
            </a:extLst>
          </p:cNvPr>
          <p:cNvSpPr>
            <a:spLocks xmlns:a="http://schemas.openxmlformats.org/drawingml/2006/main" noGrp="1"/>
          </p:cNvSpPr>
          <p:nvPr/>
        </p:nvSpPr>
        <p:spPr>
          <a:xfrm xmlns:a="http://schemas.openxmlformats.org/drawingml/2006/main">
            <a:off x="552450" y="1790700"/>
            <a:ext cx="10001250" cy="619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2025" b="1">
                <a:solidFill>
                  <a:srgbClr val="102A3A"/>
                </a:solidFill>
              </a:defRPr>
            </a:pPr>
            <a:r>
              <a:rPr sz="2025" b="1">
                <a:solidFill>
                  <a:srgbClr val="102A3A"/>
                </a:solidFill>
              </a:rPr>
              <a:t>Forecast stock risk and test replenishment and abstention rules.</a:t>
            </a:r>
          </a:p>
        </p:txBody>
      </p:sp>
      <p:sp>
        <p:nvSpPr>
          <p:cNvPr id="6" name="">
            <a:extLst xmlns:a="http://schemas.openxmlformats.org/drawingml/2006/main">
              <a:ext uri="{FF2B5EF4-FFF2-40B4-BE49-F238E27FC236}">
                <a16:creationId xmlns:a16="http://schemas.microsoft.com/office/drawing/2014/main" id="{3C05A58B-F6E9-48F4-A9DD-BD126EC311E6}"/>
              </a:ext>
            </a:extLst>
          </p:cNvPr>
          <p:cNvSpPr>
            <a:spLocks xmlns:a="http://schemas.openxmlformats.org/drawingml/2006/main" noGrp="1"/>
          </p:cNvSpPr>
          <p:nvPr/>
        </p:nvSpPr>
        <p:spPr>
          <a:xfrm xmlns:a="http://schemas.openxmlformats.org/drawingml/2006/main">
            <a:off x="552450" y="3048000"/>
            <a:ext cx="2333625" cy="1428750"/>
          </a:xfrm>
          <a:prstGeom xmlns:a="http://schemas.openxmlformats.org/drawingml/2006/main" prst="rect">
            <a:avLst/>
          </a:prstGeom>
          <a:solidFill xmlns:a="http://schemas.openxmlformats.org/drawingml/2006/main">
            <a:srgbClr val="D9E9E5"/>
          </a:solidFill>
          <a:ln xmlns:a="http://schemas.openxmlformats.org/drawingml/2006/main" w="9525">
            <a:solidFill>
              <a:srgbClr val="B8BCC4"/>
            </a:solidFill>
            <a:prstDash val="solid"/>
          </a:ln>
        </p:spPr>
      </p:sp>
      <p:sp>
        <p:nvSpPr>
          <p:cNvPr id="7" name="">
            <a:extLst xmlns:a="http://schemas.openxmlformats.org/drawingml/2006/main">
              <a:ext uri="{FF2B5EF4-FFF2-40B4-BE49-F238E27FC236}">
                <a16:creationId xmlns:a16="http://schemas.microsoft.com/office/drawing/2014/main" id="{9D7E0EA7-E142-4FD3-8E07-CFBC62CC7BD1}"/>
              </a:ext>
            </a:extLst>
          </p:cNvPr>
          <p:cNvSpPr>
            <a:spLocks xmlns:a="http://schemas.openxmlformats.org/drawingml/2006/main" noGrp="1"/>
          </p:cNvSpPr>
          <p:nvPr/>
        </p:nvSpPr>
        <p:spPr>
          <a:xfrm xmlns:a="http://schemas.openxmlformats.org/drawingml/2006/main">
            <a:off x="723900" y="3238500"/>
            <a:ext cx="381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350" b="1">
                <a:solidFill>
                  <a:srgbClr val="0B2E45"/>
                </a:solidFill>
              </a:defRPr>
            </a:pPr>
            <a:r>
              <a:rPr sz="1350" b="1">
                <a:solidFill>
                  <a:srgbClr val="0B2E45"/>
                </a:solidFill>
              </a:rPr>
              <a:t>1</a:t>
            </a:r>
          </a:p>
        </p:txBody>
      </p:sp>
      <p:sp>
        <p:nvSpPr>
          <p:cNvPr id="8" name="">
            <a:extLst xmlns:a="http://schemas.openxmlformats.org/drawingml/2006/main">
              <a:ext uri="{FF2B5EF4-FFF2-40B4-BE49-F238E27FC236}">
                <a16:creationId xmlns:a16="http://schemas.microsoft.com/office/drawing/2014/main" id="{9B142970-1223-43C1-BAAE-30E662F35508}"/>
              </a:ext>
            </a:extLst>
          </p:cNvPr>
          <p:cNvSpPr>
            <a:spLocks xmlns:a="http://schemas.openxmlformats.org/drawingml/2006/main" noGrp="1"/>
          </p:cNvSpPr>
          <p:nvPr/>
        </p:nvSpPr>
        <p:spPr>
          <a:xfrm xmlns:a="http://schemas.openxmlformats.org/drawingml/2006/main">
            <a:off x="723900" y="3676650"/>
            <a:ext cx="1952625"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575" b="1">
                <a:solidFill>
                  <a:srgbClr val="061A2B"/>
                </a:solidFill>
              </a:defRPr>
            </a:pPr>
            <a:r>
              <a:rPr sz="1575" b="1">
                <a:solidFill>
                  <a:srgbClr val="061A2B"/>
                </a:solidFill>
              </a:rPr>
              <a:t>Inspect synthetic evidence</a:t>
            </a:r>
          </a:p>
        </p:txBody>
      </p:sp>
      <p:sp>
        <p:nvSpPr>
          <p:cNvPr id="9" name="">
            <a:extLst xmlns:a="http://schemas.openxmlformats.org/drawingml/2006/main">
              <a:ext uri="{FF2B5EF4-FFF2-40B4-BE49-F238E27FC236}">
                <a16:creationId xmlns:a16="http://schemas.microsoft.com/office/drawing/2014/main" id="{96A1B4E3-175F-4773-9BAB-A85CE052BB5B}"/>
              </a:ext>
            </a:extLst>
          </p:cNvPr>
          <p:cNvSpPr>
            <a:spLocks xmlns:a="http://schemas.openxmlformats.org/drawingml/2006/main" noGrp="1"/>
          </p:cNvSpPr>
          <p:nvPr/>
        </p:nvSpPr>
        <p:spPr>
          <a:xfrm xmlns:a="http://schemas.openxmlformats.org/drawingml/2006/main">
            <a:off x="3219450" y="3048000"/>
            <a:ext cx="2333625" cy="1428750"/>
          </a:xfrm>
          <a:prstGeom xmlns:a="http://schemas.openxmlformats.org/drawingml/2006/main" prst="rect">
            <a:avLst/>
          </a:prstGeom>
          <a:solidFill xmlns:a="http://schemas.openxmlformats.org/drawingml/2006/main">
            <a:srgbClr val="D0EDFA"/>
          </a:solidFill>
          <a:ln xmlns:a="http://schemas.openxmlformats.org/drawingml/2006/main" w="9525">
            <a:solidFill>
              <a:srgbClr val="B8BCC4"/>
            </a:solidFill>
            <a:prstDash val="solid"/>
          </a:ln>
        </p:spPr>
      </p:sp>
      <p:sp>
        <p:nvSpPr>
          <p:cNvPr id="10" name="">
            <a:extLst xmlns:a="http://schemas.openxmlformats.org/drawingml/2006/main">
              <a:ext uri="{FF2B5EF4-FFF2-40B4-BE49-F238E27FC236}">
                <a16:creationId xmlns:a16="http://schemas.microsoft.com/office/drawing/2014/main" id="{088C0C90-8E5E-432B-B540-4F1B630A16BF}"/>
              </a:ext>
            </a:extLst>
          </p:cNvPr>
          <p:cNvSpPr>
            <a:spLocks xmlns:a="http://schemas.openxmlformats.org/drawingml/2006/main" noGrp="1"/>
          </p:cNvSpPr>
          <p:nvPr/>
        </p:nvSpPr>
        <p:spPr>
          <a:xfrm xmlns:a="http://schemas.openxmlformats.org/drawingml/2006/main">
            <a:off x="3390900" y="3238500"/>
            <a:ext cx="381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350" b="1">
                <a:solidFill>
                  <a:srgbClr val="0B2E45"/>
                </a:solidFill>
              </a:defRPr>
            </a:pPr>
            <a:r>
              <a:rPr sz="1350" b="1">
                <a:solidFill>
                  <a:srgbClr val="0B2E45"/>
                </a:solidFill>
              </a:rPr>
              <a:t>2</a:t>
            </a:r>
          </a:p>
        </p:txBody>
      </p:sp>
      <p:sp>
        <p:nvSpPr>
          <p:cNvPr id="11" name="">
            <a:extLst xmlns:a="http://schemas.openxmlformats.org/drawingml/2006/main">
              <a:ext uri="{FF2B5EF4-FFF2-40B4-BE49-F238E27FC236}">
                <a16:creationId xmlns:a16="http://schemas.microsoft.com/office/drawing/2014/main" id="{C0808A6B-FE17-4AEA-AA16-32F7ACDDEA6D}"/>
              </a:ext>
            </a:extLst>
          </p:cNvPr>
          <p:cNvSpPr>
            <a:spLocks xmlns:a="http://schemas.openxmlformats.org/drawingml/2006/main" noGrp="1"/>
          </p:cNvSpPr>
          <p:nvPr/>
        </p:nvSpPr>
        <p:spPr>
          <a:xfrm xmlns:a="http://schemas.openxmlformats.org/drawingml/2006/main">
            <a:off x="3390900" y="3676650"/>
            <a:ext cx="1952625"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575" b="1">
                <a:solidFill>
                  <a:srgbClr val="061A2B"/>
                </a:solidFill>
              </a:defRPr>
            </a:pPr>
            <a:r>
              <a:rPr sz="1575" b="1">
                <a:solidFill>
                  <a:srgbClr val="061A2B"/>
                </a:solidFill>
              </a:rPr>
              <a:t>Run the contract or gate</a:t>
            </a:r>
          </a:p>
        </p:txBody>
      </p:sp>
      <p:sp>
        <p:nvSpPr>
          <p:cNvPr id="12" name="">
            <a:extLst xmlns:a="http://schemas.openxmlformats.org/drawingml/2006/main">
              <a:ext uri="{FF2B5EF4-FFF2-40B4-BE49-F238E27FC236}">
                <a16:creationId xmlns:a16="http://schemas.microsoft.com/office/drawing/2014/main" id="{9EC7A645-765D-4D17-BB97-CD9F0628FF6D}"/>
              </a:ext>
            </a:extLst>
          </p:cNvPr>
          <p:cNvSpPr>
            <a:spLocks xmlns:a="http://schemas.openxmlformats.org/drawingml/2006/main" noGrp="1"/>
          </p:cNvSpPr>
          <p:nvPr/>
        </p:nvSpPr>
        <p:spPr>
          <a:xfrm xmlns:a="http://schemas.openxmlformats.org/drawingml/2006/main">
            <a:off x="5886450" y="3048000"/>
            <a:ext cx="2333625" cy="1428750"/>
          </a:xfrm>
          <a:prstGeom xmlns:a="http://schemas.openxmlformats.org/drawingml/2006/main" prst="rect">
            <a:avLst/>
          </a:prstGeom>
          <a:solidFill xmlns:a="http://schemas.openxmlformats.org/drawingml/2006/main">
            <a:srgbClr val="D9E9E5"/>
          </a:solidFill>
          <a:ln xmlns:a="http://schemas.openxmlformats.org/drawingml/2006/main" w="9525">
            <a:solidFill>
              <a:srgbClr val="B8BCC4"/>
            </a:solidFill>
            <a:prstDash val="solid"/>
          </a:ln>
        </p:spPr>
      </p:sp>
      <p:sp>
        <p:nvSpPr>
          <p:cNvPr id="13" name="">
            <a:extLst xmlns:a="http://schemas.openxmlformats.org/drawingml/2006/main">
              <a:ext uri="{FF2B5EF4-FFF2-40B4-BE49-F238E27FC236}">
                <a16:creationId xmlns:a16="http://schemas.microsoft.com/office/drawing/2014/main" id="{F0BC4623-8922-40CA-ADBB-5A01898DDA73}"/>
              </a:ext>
            </a:extLst>
          </p:cNvPr>
          <p:cNvSpPr>
            <a:spLocks xmlns:a="http://schemas.openxmlformats.org/drawingml/2006/main" noGrp="1"/>
          </p:cNvSpPr>
          <p:nvPr/>
        </p:nvSpPr>
        <p:spPr>
          <a:xfrm xmlns:a="http://schemas.openxmlformats.org/drawingml/2006/main">
            <a:off x="6057900" y="3238500"/>
            <a:ext cx="381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350" b="1">
                <a:solidFill>
                  <a:srgbClr val="0B2E45"/>
                </a:solidFill>
              </a:defRPr>
            </a:pPr>
            <a:r>
              <a:rPr sz="1350" b="1">
                <a:solidFill>
                  <a:srgbClr val="0B2E45"/>
                </a:solidFill>
              </a:rPr>
              <a:t>3</a:t>
            </a:r>
          </a:p>
        </p:txBody>
      </p:sp>
      <p:sp>
        <p:nvSpPr>
          <p:cNvPr id="14" name="">
            <a:extLst xmlns:a="http://schemas.openxmlformats.org/drawingml/2006/main">
              <a:ext uri="{FF2B5EF4-FFF2-40B4-BE49-F238E27FC236}">
                <a16:creationId xmlns:a16="http://schemas.microsoft.com/office/drawing/2014/main" id="{1CEE2CB7-B1CA-4991-B32B-4B78470CAEA7}"/>
              </a:ext>
            </a:extLst>
          </p:cNvPr>
          <p:cNvSpPr>
            <a:spLocks xmlns:a="http://schemas.openxmlformats.org/drawingml/2006/main" noGrp="1"/>
          </p:cNvSpPr>
          <p:nvPr/>
        </p:nvSpPr>
        <p:spPr>
          <a:xfrm xmlns:a="http://schemas.openxmlformats.org/drawingml/2006/main">
            <a:off x="6057900" y="3676650"/>
            <a:ext cx="1952625"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575" b="1">
                <a:solidFill>
                  <a:srgbClr val="061A2B"/>
                </a:solidFill>
              </a:defRPr>
            </a:pPr>
            <a:r>
              <a:rPr sz="1575" b="1">
                <a:solidFill>
                  <a:srgbClr val="061A2B"/>
                </a:solidFill>
              </a:rPr>
              <a:t>Interpret uncertainty</a:t>
            </a:r>
          </a:p>
        </p:txBody>
      </p:sp>
      <p:sp>
        <p:nvSpPr>
          <p:cNvPr id="15" name="">
            <a:extLst xmlns:a="http://schemas.openxmlformats.org/drawingml/2006/main">
              <a:ext uri="{FF2B5EF4-FFF2-40B4-BE49-F238E27FC236}">
                <a16:creationId xmlns:a16="http://schemas.microsoft.com/office/drawing/2014/main" id="{BEC437E1-447B-4695-A73B-A2704BFDC822}"/>
              </a:ext>
            </a:extLst>
          </p:cNvPr>
          <p:cNvSpPr>
            <a:spLocks xmlns:a="http://schemas.openxmlformats.org/drawingml/2006/main" noGrp="1"/>
          </p:cNvSpPr>
          <p:nvPr/>
        </p:nvSpPr>
        <p:spPr>
          <a:xfrm xmlns:a="http://schemas.openxmlformats.org/drawingml/2006/main">
            <a:off x="8553450" y="3048000"/>
            <a:ext cx="2333625" cy="1428750"/>
          </a:xfrm>
          <a:prstGeom xmlns:a="http://schemas.openxmlformats.org/drawingml/2006/main" prst="rect">
            <a:avLst/>
          </a:prstGeom>
          <a:solidFill xmlns:a="http://schemas.openxmlformats.org/drawingml/2006/main">
            <a:srgbClr val="D9E9E5"/>
          </a:solidFill>
          <a:ln xmlns:a="http://schemas.openxmlformats.org/drawingml/2006/main" w="9525">
            <a:solidFill>
              <a:srgbClr val="B8BCC4"/>
            </a:solidFill>
            <a:prstDash val="solid"/>
          </a:ln>
        </p:spPr>
      </p:sp>
      <p:sp>
        <p:nvSpPr>
          <p:cNvPr id="16" name="">
            <a:extLst xmlns:a="http://schemas.openxmlformats.org/drawingml/2006/main">
              <a:ext uri="{FF2B5EF4-FFF2-40B4-BE49-F238E27FC236}">
                <a16:creationId xmlns:a16="http://schemas.microsoft.com/office/drawing/2014/main" id="{1F2BDB24-7057-492D-8D90-4E2C963C8827}"/>
              </a:ext>
            </a:extLst>
          </p:cNvPr>
          <p:cNvSpPr>
            <a:spLocks xmlns:a="http://schemas.openxmlformats.org/drawingml/2006/main" noGrp="1"/>
          </p:cNvSpPr>
          <p:nvPr/>
        </p:nvSpPr>
        <p:spPr>
          <a:xfrm xmlns:a="http://schemas.openxmlformats.org/drawingml/2006/main">
            <a:off x="8724900" y="3238500"/>
            <a:ext cx="381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350" b="1">
                <a:solidFill>
                  <a:srgbClr val="0B2E45"/>
                </a:solidFill>
              </a:defRPr>
            </a:pPr>
            <a:r>
              <a:rPr sz="1350" b="1">
                <a:solidFill>
                  <a:srgbClr val="0B2E45"/>
                </a:solidFill>
              </a:rPr>
              <a:t>4</a:t>
            </a:r>
          </a:p>
        </p:txBody>
      </p:sp>
      <p:sp>
        <p:nvSpPr>
          <p:cNvPr id="17" name="">
            <a:extLst xmlns:a="http://schemas.openxmlformats.org/drawingml/2006/main">
              <a:ext uri="{FF2B5EF4-FFF2-40B4-BE49-F238E27FC236}">
                <a16:creationId xmlns:a16="http://schemas.microsoft.com/office/drawing/2014/main" id="{D3AAFE30-82DC-4F79-A0E0-F4028F925112}"/>
              </a:ext>
            </a:extLst>
          </p:cNvPr>
          <p:cNvSpPr>
            <a:spLocks xmlns:a="http://schemas.openxmlformats.org/drawingml/2006/main" noGrp="1"/>
          </p:cNvSpPr>
          <p:nvPr/>
        </p:nvSpPr>
        <p:spPr>
          <a:xfrm xmlns:a="http://schemas.openxmlformats.org/drawingml/2006/main">
            <a:off x="8724900" y="3676650"/>
            <a:ext cx="1952625"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575" b="1">
                <a:solidFill>
                  <a:srgbClr val="061A2B"/>
                </a:solidFill>
              </a:defRPr>
            </a:pPr>
            <a:r>
              <a:rPr sz="1575" b="1">
                <a:solidFill>
                  <a:srgbClr val="061A2B"/>
                </a:solidFill>
              </a:rPr>
              <a:t>Write an abstention case</a:t>
            </a:r>
          </a:p>
        </p:txBody>
      </p:sp>
    </p:spTree>
    <p:extLst>
      <p:ext uri="{BB962C8B-B14F-4D97-AF65-F5344CB8AC3E}">
        <p14:creationId xmlns:p14="http://schemas.microsoft.com/office/powerpoint/2010/main" val="283674746"/>
      </p:ext>
    </p:extLst>
  </p:cSld>
</p:sld>
</file>

<file path=ppt/slides/slide6.xml><?xml version="1.0" encoding="utf-8"?>
<p:sld xmlns:p="http://schemas.openxmlformats.org/presentationml/2006/main">
  <p:cSld>
    <p:bg>
      <p:bgPr>
        <a:solidFill xmlns:a="http://schemas.openxmlformats.org/drawingml/2006/main">
          <a:srgbClr val="F4F0E6"/>
        </a:solidFill>
      </p:bgPr>
    </p:bg>
    <p:spTree>
      <p:nvGrpSpPr>
        <p:cNvPr id="1" name=""/>
        <p:cNvGrpSpPr/>
        <p:nvPr/>
      </p:nvGrpSpPr>
      <p:grpSpPr>
        <a:xfrm xmlns:a="http://schemas.openxmlformats.org/drawingml/2006/main"/>
      </p:grpSpPr>
      <p:sp>
        <p:nvSpPr>
          <p:cNvPr id="15" name="">
            <a:extLst xmlns:a="http://schemas.openxmlformats.org/drawingml/2006/main">
              <a:ext uri="{FF2B5EF4-FFF2-40B4-BE49-F238E27FC236}">
                <a16:creationId xmlns:a16="http://schemas.microsoft.com/office/drawing/2014/main" id="{6DF4C884-BA42-4C83-A7EF-A821C547C4A1}"/>
              </a:ext>
            </a:extLst>
          </p:cNvPr>
          <p:cNvSpPr>
            <a:spLocks xmlns:a="http://schemas.openxmlformats.org/drawingml/2006/main" noGrp="1"/>
          </p:cNvSpPr>
          <p:nvPr/>
        </p:nvSpPr>
        <p:spPr>
          <a:xfrm xmlns:a="http://schemas.openxmlformats.org/drawingml/2006/main">
            <a:off x="552450" y="266700"/>
            <a:ext cx="4953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900" b="1">
                <a:solidFill>
                  <a:srgbClr val="4E6472"/>
                </a:solidFill>
              </a:defRPr>
            </a:pPr>
            <a:r>
              <a:rPr sz="900" b="1">
                <a:solidFill>
                  <a:srgbClr val="4E6472"/>
                </a:solidFill>
              </a:rPr>
              <a:t>SRAI BOOK 7  |  V7_B_N05</a:t>
            </a:r>
          </a:p>
        </p:txBody>
      </p:sp>
      <p:sp>
        <p:nvSpPr>
          <p:cNvPr id="2" name="">
            <a:extLst xmlns:a="http://schemas.openxmlformats.org/drawingml/2006/main">
              <a:ext uri="{FF2B5EF4-FFF2-40B4-BE49-F238E27FC236}">
                <a16:creationId xmlns:a16="http://schemas.microsoft.com/office/drawing/2014/main" id="{E9904E06-6596-47C2-AD01-2A7F2D20BC72}"/>
              </a:ext>
            </a:extLst>
          </p:cNvPr>
          <p:cNvSpPr>
            <a:spLocks xmlns:a="http://schemas.openxmlformats.org/drawingml/2006/main" noGrp="1"/>
          </p:cNvSpPr>
          <p:nvPr/>
        </p:nvSpPr>
        <p:spPr>
          <a:xfrm xmlns:a="http://schemas.openxmlformats.org/drawingml/2006/main">
            <a:off x="10953750" y="619125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defRPr sz="900" b="1">
                <a:solidFill>
                  <a:srgbClr val="4E6472"/>
                </a:solidFill>
              </a:defRPr>
            </a:pPr>
            <a:r>
              <a:rPr sz="900" b="1">
                <a:solidFill>
                  <a:srgbClr val="4E6472"/>
                </a:solidFill>
              </a:rPr>
              <a:t>06</a:t>
            </a:r>
          </a:p>
        </p:txBody>
      </p:sp>
      <p:sp>
        <p:nvSpPr>
          <p:cNvPr id="3" name="">
            <a:extLst xmlns:a="http://schemas.openxmlformats.org/drawingml/2006/main">
              <a:ext uri="{FF2B5EF4-FFF2-40B4-BE49-F238E27FC236}">
                <a16:creationId xmlns:a16="http://schemas.microsoft.com/office/drawing/2014/main" id="{CBB8B3C0-42F8-4600-B12F-D5F5198616E3}"/>
              </a:ext>
            </a:extLst>
          </p:cNvPr>
          <p:cNvSpPr>
            <a:spLocks xmlns:a="http://schemas.openxmlformats.org/drawingml/2006/main" noGrp="1"/>
          </p:cNvSpPr>
          <p:nvPr/>
        </p:nvSpPr>
        <p:spPr>
          <a:xfrm xmlns:a="http://schemas.openxmlformats.org/drawingml/2006/main">
            <a:off x="552450" y="609600"/>
            <a:ext cx="11087100" cy="9525"/>
          </a:xfrm>
          <a:prstGeom xmlns:a="http://schemas.openxmlformats.org/drawingml/2006/main" prst="rect">
            <a:avLst/>
          </a:prstGeom>
          <a:solidFill xmlns:a="http://schemas.openxmlformats.org/drawingml/2006/main">
            <a:srgbClr val="B8C3BD"/>
          </a:solidFill>
          <a:ln xmlns:a="http://schemas.openxmlformats.org/drawingml/2006/main" w="9525">
            <a:solidFill>
              <a:srgbClr val="B8C3BD"/>
            </a:solidFill>
            <a:prstDash val="solid"/>
          </a:ln>
        </p:spPr>
      </p:sp>
      <p:sp>
        <p:nvSpPr>
          <p:cNvPr id="4" name="">
            <a:extLst xmlns:a="http://schemas.openxmlformats.org/drawingml/2006/main">
              <a:ext uri="{FF2B5EF4-FFF2-40B4-BE49-F238E27FC236}">
                <a16:creationId xmlns:a16="http://schemas.microsoft.com/office/drawing/2014/main" id="{7A1A3E31-0713-4950-843B-0BECEF1B196E}"/>
              </a:ext>
            </a:extLst>
          </p:cNvPr>
          <p:cNvSpPr>
            <a:spLocks xmlns:a="http://schemas.openxmlformats.org/drawingml/2006/main" noGrp="1"/>
          </p:cNvSpPr>
          <p:nvPr/>
        </p:nvSpPr>
        <p:spPr>
          <a:xfrm xmlns:a="http://schemas.openxmlformats.org/drawingml/2006/main">
            <a:off x="552450" y="895350"/>
            <a:ext cx="1047750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2850" b="1">
                <a:solidFill>
                  <a:srgbClr val="061A2B"/>
                </a:solidFill>
              </a:defRPr>
            </a:pPr>
            <a:r>
              <a:rPr sz="2850" b="1">
                <a:solidFill>
                  <a:srgbClr val="061A2B"/>
                </a:solidFill>
              </a:rPr>
              <a:t>Transfer the contract to another sector</a:t>
            </a:r>
          </a:p>
        </p:txBody>
      </p:sp>
      <p:sp>
        <p:nvSpPr>
          <p:cNvPr id="5" name="">
            <a:extLst xmlns:a="http://schemas.openxmlformats.org/drawingml/2006/main">
              <a:ext uri="{FF2B5EF4-FFF2-40B4-BE49-F238E27FC236}">
                <a16:creationId xmlns:a16="http://schemas.microsoft.com/office/drawing/2014/main" id="{B2811BC4-25F6-4B5A-8ED0-7C2759ED8910}"/>
              </a:ext>
            </a:extLst>
          </p:cNvPr>
          <p:cNvSpPr>
            <a:spLocks xmlns:a="http://schemas.openxmlformats.org/drawingml/2006/main" noGrp="1"/>
          </p:cNvSpPr>
          <p:nvPr/>
        </p:nvSpPr>
        <p:spPr>
          <a:xfrm xmlns:a="http://schemas.openxmlformats.org/drawingml/2006/main">
            <a:off x="552450" y="1809750"/>
            <a:ext cx="1000125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950" b="1">
                <a:solidFill>
                  <a:srgbClr val="102A3A"/>
                </a:solidFill>
              </a:defRPr>
            </a:pPr>
            <a:r>
              <a:rPr sz="1950" b="1">
                <a:solidFill>
                  <a:srgbClr val="102A3A"/>
                </a:solidFill>
              </a:rPr>
              <a:t>Choose health, education, agriculture, or habitat.</a:t>
            </a:r>
          </a:p>
        </p:txBody>
      </p:sp>
      <p:sp>
        <p:nvSpPr>
          <p:cNvPr id="6" name="">
            <a:extLst xmlns:a="http://schemas.openxmlformats.org/drawingml/2006/main">
              <a:ext uri="{FF2B5EF4-FFF2-40B4-BE49-F238E27FC236}">
                <a16:creationId xmlns:a16="http://schemas.microsoft.com/office/drawing/2014/main" id="{755E4717-E1C2-48E0-BCC9-6D2C7AD76E3E}"/>
              </a:ext>
            </a:extLst>
          </p:cNvPr>
          <p:cNvSpPr>
            <a:spLocks xmlns:a="http://schemas.openxmlformats.org/drawingml/2006/main" noGrp="1"/>
          </p:cNvSpPr>
          <p:nvPr/>
        </p:nvSpPr>
        <p:spPr>
          <a:xfrm xmlns:a="http://schemas.openxmlformats.org/drawingml/2006/main">
            <a:off x="552450" y="2619375"/>
            <a:ext cx="428625"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650" b="1">
                <a:solidFill>
                  <a:srgbClr val="0B2E45"/>
                </a:solidFill>
              </a:defRPr>
            </a:pPr>
            <a:r>
              <a:rPr sz="1650" b="1">
                <a:solidFill>
                  <a:srgbClr val="0B2E45"/>
                </a:solidFill>
              </a:rPr>
              <a:t>1</a:t>
            </a:r>
          </a:p>
        </p:txBody>
      </p:sp>
      <p:sp>
        <p:nvSpPr>
          <p:cNvPr id="7" name="">
            <a:extLst xmlns:a="http://schemas.openxmlformats.org/drawingml/2006/main">
              <a:ext uri="{FF2B5EF4-FFF2-40B4-BE49-F238E27FC236}">
                <a16:creationId xmlns:a16="http://schemas.microsoft.com/office/drawing/2014/main" id="{704395EF-517F-4F86-8EF4-8C6A3EB90C6E}"/>
              </a:ext>
            </a:extLst>
          </p:cNvPr>
          <p:cNvSpPr>
            <a:spLocks xmlns:a="http://schemas.openxmlformats.org/drawingml/2006/main" noGrp="1"/>
          </p:cNvSpPr>
          <p:nvPr/>
        </p:nvSpPr>
        <p:spPr>
          <a:xfrm xmlns:a="http://schemas.openxmlformats.org/drawingml/2006/main">
            <a:off x="1104900" y="2590800"/>
            <a:ext cx="76200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800" b="0">
                <a:solidFill>
                  <a:srgbClr val="102A3A"/>
                </a:solidFill>
              </a:defRPr>
            </a:pPr>
            <a:r>
              <a:rPr sz="1800" b="0">
                <a:solidFill>
                  <a:srgbClr val="102A3A"/>
                </a:solidFill>
              </a:rPr>
              <a:t>Name the decision owner and lawful action.</a:t>
            </a:r>
          </a:p>
        </p:txBody>
      </p:sp>
      <p:sp>
        <p:nvSpPr>
          <p:cNvPr id="8" name="">
            <a:extLst xmlns:a="http://schemas.openxmlformats.org/drawingml/2006/main">
              <a:ext uri="{FF2B5EF4-FFF2-40B4-BE49-F238E27FC236}">
                <a16:creationId xmlns:a16="http://schemas.microsoft.com/office/drawing/2014/main" id="{C8570E6F-3D24-402B-AFFB-E77C1277CA17}"/>
              </a:ext>
            </a:extLst>
          </p:cNvPr>
          <p:cNvSpPr>
            <a:spLocks xmlns:a="http://schemas.openxmlformats.org/drawingml/2006/main" noGrp="1"/>
          </p:cNvSpPr>
          <p:nvPr/>
        </p:nvSpPr>
        <p:spPr>
          <a:xfrm xmlns:a="http://schemas.openxmlformats.org/drawingml/2006/main">
            <a:off x="552450" y="3286125"/>
            <a:ext cx="428625"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650" b="1">
                <a:solidFill>
                  <a:srgbClr val="0B2E45"/>
                </a:solidFill>
              </a:defRPr>
            </a:pPr>
            <a:r>
              <a:rPr sz="1650" b="1">
                <a:solidFill>
                  <a:srgbClr val="0B2E45"/>
                </a:solidFill>
              </a:rPr>
              <a:t>2</a:t>
            </a:r>
          </a:p>
        </p:txBody>
      </p:sp>
      <p:sp>
        <p:nvSpPr>
          <p:cNvPr id="9" name="">
            <a:extLst xmlns:a="http://schemas.openxmlformats.org/drawingml/2006/main">
              <a:ext uri="{FF2B5EF4-FFF2-40B4-BE49-F238E27FC236}">
                <a16:creationId xmlns:a16="http://schemas.microsoft.com/office/drawing/2014/main" id="{EF75748D-54DB-4EDA-9ABB-2AEA3C0D8BFE}"/>
              </a:ext>
            </a:extLst>
          </p:cNvPr>
          <p:cNvSpPr>
            <a:spLocks xmlns:a="http://schemas.openxmlformats.org/drawingml/2006/main" noGrp="1"/>
          </p:cNvSpPr>
          <p:nvPr/>
        </p:nvSpPr>
        <p:spPr>
          <a:xfrm xmlns:a="http://schemas.openxmlformats.org/drawingml/2006/main">
            <a:off x="1104900" y="3257550"/>
            <a:ext cx="76200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800" b="0">
                <a:solidFill>
                  <a:srgbClr val="102A3A"/>
                </a:solidFill>
              </a:defRPr>
            </a:pPr>
            <a:r>
              <a:rPr sz="1800" b="0">
                <a:solidFill>
                  <a:srgbClr val="102A3A"/>
                </a:solidFill>
              </a:rPr>
              <a:t>Define the evidence, horizon, and failure conditions.</a:t>
            </a:r>
          </a:p>
        </p:txBody>
      </p:sp>
      <p:sp>
        <p:nvSpPr>
          <p:cNvPr id="10" name="">
            <a:extLst xmlns:a="http://schemas.openxmlformats.org/drawingml/2006/main">
              <a:ext uri="{FF2B5EF4-FFF2-40B4-BE49-F238E27FC236}">
                <a16:creationId xmlns:a16="http://schemas.microsoft.com/office/drawing/2014/main" id="{159AB264-77BD-4A29-AD51-F33CBA62C993}"/>
              </a:ext>
            </a:extLst>
          </p:cNvPr>
          <p:cNvSpPr>
            <a:spLocks xmlns:a="http://schemas.openxmlformats.org/drawingml/2006/main" noGrp="1"/>
          </p:cNvSpPr>
          <p:nvPr/>
        </p:nvSpPr>
        <p:spPr>
          <a:xfrm xmlns:a="http://schemas.openxmlformats.org/drawingml/2006/main">
            <a:off x="552450" y="3952875"/>
            <a:ext cx="428625"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650" b="1">
                <a:solidFill>
                  <a:srgbClr val="0B2E45"/>
                </a:solidFill>
              </a:defRPr>
            </a:pPr>
            <a:r>
              <a:rPr sz="1650" b="1">
                <a:solidFill>
                  <a:srgbClr val="0B2E45"/>
                </a:solidFill>
              </a:rPr>
              <a:t>3</a:t>
            </a:r>
          </a:p>
        </p:txBody>
      </p:sp>
      <p:sp>
        <p:nvSpPr>
          <p:cNvPr id="11" name="">
            <a:extLst xmlns:a="http://schemas.openxmlformats.org/drawingml/2006/main">
              <a:ext uri="{FF2B5EF4-FFF2-40B4-BE49-F238E27FC236}">
                <a16:creationId xmlns:a16="http://schemas.microsoft.com/office/drawing/2014/main" id="{A1D4A01E-A364-439A-BD6B-1C97FE754BBF}"/>
              </a:ext>
            </a:extLst>
          </p:cNvPr>
          <p:cNvSpPr>
            <a:spLocks xmlns:a="http://schemas.openxmlformats.org/drawingml/2006/main" noGrp="1"/>
          </p:cNvSpPr>
          <p:nvPr/>
        </p:nvSpPr>
        <p:spPr>
          <a:xfrm xmlns:a="http://schemas.openxmlformats.org/drawingml/2006/main">
            <a:off x="1104900" y="3924300"/>
            <a:ext cx="76200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800" b="0">
                <a:solidFill>
                  <a:srgbClr val="102A3A"/>
                </a:solidFill>
              </a:defRPr>
            </a:pPr>
            <a:r>
              <a:rPr sz="1800" b="0">
                <a:solidFill>
                  <a:srgbClr val="102A3A"/>
                </a:solidFill>
              </a:rPr>
              <a:t>State when to abstain, escalate, monitor, and retire.</a:t>
            </a:r>
          </a:p>
        </p:txBody>
      </p:sp>
      <p:sp>
        <p:nvSpPr>
          <p:cNvPr id="12" name="">
            <a:extLst xmlns:a="http://schemas.openxmlformats.org/drawingml/2006/main">
              <a:ext uri="{FF2B5EF4-FFF2-40B4-BE49-F238E27FC236}">
                <a16:creationId xmlns:a16="http://schemas.microsoft.com/office/drawing/2014/main" id="{4DEA4AFE-E66A-4D85-A718-099BAFFD9414}"/>
              </a:ext>
            </a:extLst>
          </p:cNvPr>
          <p:cNvSpPr>
            <a:spLocks xmlns:a="http://schemas.openxmlformats.org/drawingml/2006/main" noGrp="1"/>
          </p:cNvSpPr>
          <p:nvPr/>
        </p:nvSpPr>
        <p:spPr>
          <a:xfrm xmlns:a="http://schemas.openxmlformats.org/drawingml/2006/main">
            <a:off x="8858250" y="2400300"/>
            <a:ext cx="2190750" cy="2190750"/>
          </a:xfrm>
          <a:prstGeom xmlns:a="http://schemas.openxmlformats.org/drawingml/2006/main" prst="rect">
            <a:avLst/>
          </a:prstGeom>
          <a:solidFill xmlns:a="http://schemas.openxmlformats.org/drawingml/2006/main">
            <a:srgbClr val="D9E9E5"/>
          </a:solidFill>
          <a:ln xmlns:a="http://schemas.openxmlformats.org/drawingml/2006/main" w="9525">
            <a:solidFill>
              <a:srgbClr val="D4DEE9"/>
            </a:solidFill>
            <a:prstDash val="solid"/>
          </a:ln>
        </p:spPr>
      </p:sp>
      <p:sp>
        <p:nvSpPr>
          <p:cNvPr id="13" name="">
            <a:extLst xmlns:a="http://schemas.openxmlformats.org/drawingml/2006/main">
              <a:ext uri="{FF2B5EF4-FFF2-40B4-BE49-F238E27FC236}">
                <a16:creationId xmlns:a16="http://schemas.microsoft.com/office/drawing/2014/main" id="{37AD34B0-1BAE-4FA2-ACCD-7BFC5CFF25E8}"/>
              </a:ext>
            </a:extLst>
          </p:cNvPr>
          <p:cNvSpPr>
            <a:spLocks xmlns:a="http://schemas.openxmlformats.org/drawingml/2006/main" noGrp="1"/>
          </p:cNvSpPr>
          <p:nvPr/>
        </p:nvSpPr>
        <p:spPr>
          <a:xfrm xmlns:a="http://schemas.openxmlformats.org/drawingml/2006/main">
            <a:off x="9144000" y="2667000"/>
            <a:ext cx="16192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125" b="1">
                <a:solidFill>
                  <a:srgbClr val="DCA24A"/>
                </a:solidFill>
              </a:defRPr>
            </a:pPr>
            <a:r>
              <a:rPr sz="1125" b="1">
                <a:solidFill>
                  <a:srgbClr val="DCA24A"/>
                </a:solidFill>
              </a:rPr>
              <a:t>SUCCESS</a:t>
            </a:r>
          </a:p>
        </p:txBody>
      </p:sp>
      <p:sp>
        <p:nvSpPr>
          <p:cNvPr id="14" name="">
            <a:extLst xmlns:a="http://schemas.openxmlformats.org/drawingml/2006/main">
              <a:ext uri="{FF2B5EF4-FFF2-40B4-BE49-F238E27FC236}">
                <a16:creationId xmlns:a16="http://schemas.microsoft.com/office/drawing/2014/main" id="{1ADC0D58-BD38-4703-8177-73B743E5E9A6}"/>
              </a:ext>
            </a:extLst>
          </p:cNvPr>
          <p:cNvSpPr>
            <a:spLocks xmlns:a="http://schemas.openxmlformats.org/drawingml/2006/main" noGrp="1"/>
          </p:cNvSpPr>
          <p:nvPr/>
        </p:nvSpPr>
        <p:spPr>
          <a:xfrm xmlns:a="http://schemas.openxmlformats.org/drawingml/2006/main">
            <a:off x="9124950" y="3143250"/>
            <a:ext cx="1666875" cy="1143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500" b="1">
                <a:solidFill>
                  <a:srgbClr val="061A2B"/>
                </a:solidFill>
              </a:defRPr>
            </a:pPr>
            <a:r>
              <a:rPr sz="1500" b="1">
                <a:solidFill>
                  <a:srgbClr val="061A2B"/>
                </a:solidFill>
              </a:rPr>
              <a:t>A reviewer can see</a:t>
            </a:r>
          </a:p>
          <a:p xmlns:a="http://schemas.openxmlformats.org/drawingml/2006/main">
            <a:pPr algn="ctr">
              <a:defRPr sz="1500" b="1">
                <a:solidFill>
                  <a:srgbClr val="061A2B"/>
                </a:solidFill>
              </a:defRPr>
            </a:pPr>
            <a:r>
              <a:rPr sz="1500" b="1">
                <a:solidFill>
                  <a:srgbClr val="061A2B"/>
                </a:solidFill>
              </a:rPr>
              <a:t>what the system knows,</a:t>
            </a:r>
          </a:p>
          <a:p xmlns:a="http://schemas.openxmlformats.org/drawingml/2006/main">
            <a:pPr algn="ctr">
              <a:defRPr sz="1500" b="1">
                <a:solidFill>
                  <a:srgbClr val="061A2B"/>
                </a:solidFill>
              </a:defRPr>
            </a:pPr>
            <a:r>
              <a:rPr sz="1500" b="1">
                <a:solidFill>
                  <a:srgbClr val="061A2B"/>
                </a:solidFill>
              </a:rPr>
              <a:t>what it cannot decide,</a:t>
            </a:r>
          </a:p>
          <a:p xmlns:a="http://schemas.openxmlformats.org/drawingml/2006/main">
            <a:pPr algn="ctr">
              <a:defRPr sz="1500" b="1">
                <a:solidFill>
                  <a:srgbClr val="061A2B"/>
                </a:solidFill>
              </a:defRPr>
            </a:pPr>
            <a:r>
              <a:rPr sz="1500" b="1">
                <a:solidFill>
                  <a:srgbClr val="061A2B"/>
                </a:solidFill>
              </a:rPr>
              <a:t>and who remains accountable.</a:t>
            </a:r>
          </a:p>
        </p:txBody>
      </p:sp>
    </p:spTree>
    <p:extLst>
      <p:ext uri="{BB962C8B-B14F-4D97-AF65-F5344CB8AC3E}">
        <p14:creationId xmlns:p14="http://schemas.microsoft.com/office/powerpoint/2010/main" val="806734135"/>
      </p:ext>
    </p:extLst>
  </p:cSld>
</p:sld>
</file>

<file path=ppt/slides/slide7.xml><?xml version="1.0" encoding="utf-8"?>
<p:sld xmlns:p="http://schemas.openxmlformats.org/presentationml/2006/main">
  <p:cSld>
    <p:bg>
      <p:bgPr>
        <a:solidFill xmlns:a="http://schemas.openxmlformats.org/drawingml/2006/main">
          <a:srgbClr val="061A2B"/>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0543A29C-78F7-4E6B-B7DF-6207E6D5F7B5}"/>
              </a:ext>
            </a:extLst>
          </p:cNvPr>
          <p:cNvSpPr>
            <a:spLocks xmlns:a="http://schemas.openxmlformats.org/drawingml/2006/main" noGrp="1"/>
          </p:cNvSpPr>
          <p:nvPr/>
        </p:nvSpPr>
        <p:spPr>
          <a:xfrm xmlns:a="http://schemas.openxmlformats.org/drawingml/2006/main">
            <a:off x="552450" y="266700"/>
            <a:ext cx="4953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900" b="1">
                <a:solidFill>
                  <a:srgbClr val="4E6472"/>
                </a:solidFill>
              </a:defRPr>
            </a:pPr>
            <a:r>
              <a:rPr sz="900" b="1">
                <a:solidFill>
                  <a:srgbClr val="4E6472"/>
                </a:solidFill>
              </a:rPr>
              <a:t>SRAI BOOK 7  |  V7_B_N05</a:t>
            </a:r>
          </a:p>
        </p:txBody>
      </p:sp>
      <p:sp>
        <p:nvSpPr>
          <p:cNvPr id="2" name="">
            <a:extLst xmlns:a="http://schemas.openxmlformats.org/drawingml/2006/main">
              <a:ext uri="{FF2B5EF4-FFF2-40B4-BE49-F238E27FC236}">
                <a16:creationId xmlns:a16="http://schemas.microsoft.com/office/drawing/2014/main" id="{FE6BD67C-D98B-480D-A935-1938CC7EA1A1}"/>
              </a:ext>
            </a:extLst>
          </p:cNvPr>
          <p:cNvSpPr>
            <a:spLocks xmlns:a="http://schemas.openxmlformats.org/drawingml/2006/main" noGrp="1"/>
          </p:cNvSpPr>
          <p:nvPr/>
        </p:nvSpPr>
        <p:spPr>
          <a:xfrm xmlns:a="http://schemas.openxmlformats.org/drawingml/2006/main">
            <a:off x="10953750" y="619125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defRPr sz="900" b="1">
                <a:solidFill>
                  <a:srgbClr val="4E6472"/>
                </a:solidFill>
              </a:defRPr>
            </a:pPr>
            <a:r>
              <a:rPr sz="900" b="1">
                <a:solidFill>
                  <a:srgbClr val="4E6472"/>
                </a:solidFill>
              </a:rPr>
              <a:t>07</a:t>
            </a:r>
          </a:p>
        </p:txBody>
      </p:sp>
      <p:sp>
        <p:nvSpPr>
          <p:cNvPr id="3" name="">
            <a:extLst xmlns:a="http://schemas.openxmlformats.org/drawingml/2006/main">
              <a:ext uri="{FF2B5EF4-FFF2-40B4-BE49-F238E27FC236}">
                <a16:creationId xmlns:a16="http://schemas.microsoft.com/office/drawing/2014/main" id="{0DB7A13A-9E13-41E9-9A59-76A15B55DC75}"/>
              </a:ext>
            </a:extLst>
          </p:cNvPr>
          <p:cNvSpPr>
            <a:spLocks xmlns:a="http://schemas.openxmlformats.org/drawingml/2006/main" noGrp="1"/>
          </p:cNvSpPr>
          <p:nvPr/>
        </p:nvSpPr>
        <p:spPr>
          <a:xfrm xmlns:a="http://schemas.openxmlformats.org/drawingml/2006/main">
            <a:off x="552450" y="609600"/>
            <a:ext cx="11087100" cy="9525"/>
          </a:xfrm>
          <a:prstGeom xmlns:a="http://schemas.openxmlformats.org/drawingml/2006/main" prst="rect">
            <a:avLst/>
          </a:prstGeom>
          <a:solidFill xmlns:a="http://schemas.openxmlformats.org/drawingml/2006/main">
            <a:srgbClr val="B8C3BD"/>
          </a:solidFill>
          <a:ln xmlns:a="http://schemas.openxmlformats.org/drawingml/2006/main" w="9525">
            <a:solidFill>
              <a:srgbClr val="B8C3BD"/>
            </a:solidFill>
            <a:prstDash val="solid"/>
          </a:ln>
        </p:spPr>
      </p:sp>
      <p:sp>
        <p:nvSpPr>
          <p:cNvPr id="4" name="">
            <a:extLst xmlns:a="http://schemas.openxmlformats.org/drawingml/2006/main">
              <a:ext uri="{FF2B5EF4-FFF2-40B4-BE49-F238E27FC236}">
                <a16:creationId xmlns:a16="http://schemas.microsoft.com/office/drawing/2014/main" id="{6C2AD991-49DB-4519-860D-B3F728A07AC1}"/>
              </a:ext>
            </a:extLst>
          </p:cNvPr>
          <p:cNvSpPr>
            <a:spLocks xmlns:a="http://schemas.openxmlformats.org/drawingml/2006/main" noGrp="1"/>
          </p:cNvSpPr>
          <p:nvPr/>
        </p:nvSpPr>
        <p:spPr>
          <a:xfrm xmlns:a="http://schemas.openxmlformats.org/drawingml/2006/main">
            <a:off x="552450" y="895350"/>
            <a:ext cx="1047750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2850" b="1">
                <a:solidFill>
                  <a:srgbClr val="F7F4EC"/>
                </a:solidFill>
              </a:defRPr>
            </a:pPr>
            <a:r>
              <a:rPr sz="2850" b="1">
                <a:solidFill>
                  <a:srgbClr val="F7F4EC"/>
                </a:solidFill>
              </a:rPr>
              <a:t>Guardrails are part of the analytical specification</a:t>
            </a:r>
          </a:p>
        </p:txBody>
      </p:sp>
      <p:sp>
        <p:nvSpPr>
          <p:cNvPr id="5" name="">
            <a:extLst xmlns:a="http://schemas.openxmlformats.org/drawingml/2006/main">
              <a:ext uri="{FF2B5EF4-FFF2-40B4-BE49-F238E27FC236}">
                <a16:creationId xmlns:a16="http://schemas.microsoft.com/office/drawing/2014/main" id="{17F5A03D-104D-42D3-8106-1C30824C1CA3}"/>
              </a:ext>
            </a:extLst>
          </p:cNvPr>
          <p:cNvSpPr>
            <a:spLocks xmlns:a="http://schemas.openxmlformats.org/drawingml/2006/main" noGrp="1"/>
          </p:cNvSpPr>
          <p:nvPr/>
        </p:nvSpPr>
        <p:spPr>
          <a:xfrm xmlns:a="http://schemas.openxmlformats.org/drawingml/2006/main">
            <a:off x="552450" y="1809750"/>
            <a:ext cx="4762500" cy="2857500"/>
          </a:xfrm>
          <a:prstGeom xmlns:a="http://schemas.openxmlformats.org/drawingml/2006/main" prst="rect">
            <a:avLst/>
          </a:prstGeom>
          <a:solidFill xmlns:a="http://schemas.openxmlformats.org/drawingml/2006/main">
            <a:srgbClr val="F6F8FA"/>
          </a:solidFill>
          <a:ln xmlns:a="http://schemas.openxmlformats.org/drawingml/2006/main" w="9525">
            <a:solidFill>
              <a:srgbClr val="D4DEE9"/>
            </a:solidFill>
            <a:prstDash val="solid"/>
          </a:ln>
        </p:spPr>
      </p:sp>
      <p:sp>
        <p:nvSpPr>
          <p:cNvPr id="6" name="">
            <a:extLst xmlns:a="http://schemas.openxmlformats.org/drawingml/2006/main">
              <a:ext uri="{FF2B5EF4-FFF2-40B4-BE49-F238E27FC236}">
                <a16:creationId xmlns:a16="http://schemas.microsoft.com/office/drawing/2014/main" id="{A9B72F0D-7417-48DB-B8F4-28569C2B5661}"/>
              </a:ext>
            </a:extLst>
          </p:cNvPr>
          <p:cNvSpPr>
            <a:spLocks xmlns:a="http://schemas.openxmlformats.org/drawingml/2006/main" noGrp="1"/>
          </p:cNvSpPr>
          <p:nvPr/>
        </p:nvSpPr>
        <p:spPr>
          <a:xfrm xmlns:a="http://schemas.openxmlformats.org/drawingml/2006/main">
            <a:off x="819150" y="2095500"/>
            <a:ext cx="41910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125" b="1">
                <a:solidFill>
                  <a:srgbClr val="0B2E45"/>
                </a:solidFill>
              </a:defRPr>
            </a:pPr>
            <a:r>
              <a:rPr sz="1125" b="1">
                <a:solidFill>
                  <a:srgbClr val="0B2E45"/>
                </a:solidFill>
              </a:rPr>
              <a:t>REQUIRED</a:t>
            </a:r>
          </a:p>
        </p:txBody>
      </p:sp>
      <p:sp>
        <p:nvSpPr>
          <p:cNvPr id="7" name="">
            <a:extLst xmlns:a="http://schemas.openxmlformats.org/drawingml/2006/main">
              <a:ext uri="{FF2B5EF4-FFF2-40B4-BE49-F238E27FC236}">
                <a16:creationId xmlns:a16="http://schemas.microsoft.com/office/drawing/2014/main" id="{98D2DF34-C9CC-4192-8ED5-F240D56B57B1}"/>
              </a:ext>
            </a:extLst>
          </p:cNvPr>
          <p:cNvSpPr>
            <a:spLocks xmlns:a="http://schemas.openxmlformats.org/drawingml/2006/main" noGrp="1"/>
          </p:cNvSpPr>
          <p:nvPr/>
        </p:nvSpPr>
        <p:spPr>
          <a:xfrm xmlns:a="http://schemas.openxmlformats.org/drawingml/2006/main">
            <a:off x="819150" y="2609850"/>
            <a:ext cx="4000500" cy="1476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875" b="1">
                <a:solidFill>
                  <a:srgbClr val="061A2B"/>
                </a:solidFill>
              </a:defRPr>
            </a:pPr>
            <a:r>
              <a:rPr sz="1875" b="1">
                <a:solidFill>
                  <a:srgbClr val="061A2B"/>
                </a:solidFill>
              </a:rPr>
              <a:t>Evidence provenance</a:t>
            </a:r>
          </a:p>
          <a:p xmlns:a="http://schemas.openxmlformats.org/drawingml/2006/main">
            <a:pPr algn="l">
              <a:defRPr sz="1875" b="1">
                <a:solidFill>
                  <a:srgbClr val="061A2B"/>
                </a:solidFill>
              </a:defRPr>
            </a:pPr>
            <a:r>
              <a:rPr sz="1875" b="1">
                <a:solidFill>
                  <a:srgbClr val="061A2B"/>
                </a:solidFill>
              </a:rPr>
              <a:t>Visible uncertainty</a:t>
            </a:r>
          </a:p>
          <a:p xmlns:a="http://schemas.openxmlformats.org/drawingml/2006/main">
            <a:pPr algn="l">
              <a:defRPr sz="1875" b="1">
                <a:solidFill>
                  <a:srgbClr val="061A2B"/>
                </a:solidFill>
              </a:defRPr>
            </a:pPr>
            <a:r>
              <a:rPr sz="1875" b="1">
                <a:solidFill>
                  <a:srgbClr val="061A2B"/>
                </a:solidFill>
              </a:rPr>
              <a:t>Human review and override</a:t>
            </a:r>
          </a:p>
          <a:p xmlns:a="http://schemas.openxmlformats.org/drawingml/2006/main">
            <a:pPr algn="l">
              <a:defRPr sz="1875" b="1">
                <a:solidFill>
                  <a:srgbClr val="061A2B"/>
                </a:solidFill>
              </a:defRPr>
            </a:pPr>
            <a:r>
              <a:rPr sz="1875" b="1">
                <a:solidFill>
                  <a:srgbClr val="061A2B"/>
                </a:solidFill>
              </a:rPr>
              <a:t>Incident and retirement path</a:t>
            </a:r>
          </a:p>
        </p:txBody>
      </p:sp>
      <p:sp>
        <p:nvSpPr>
          <p:cNvPr id="8" name="">
            <a:extLst xmlns:a="http://schemas.openxmlformats.org/drawingml/2006/main">
              <a:ext uri="{FF2B5EF4-FFF2-40B4-BE49-F238E27FC236}">
                <a16:creationId xmlns:a16="http://schemas.microsoft.com/office/drawing/2014/main" id="{8EA02D2E-AD45-4877-8F26-EE30A7227A74}"/>
              </a:ext>
            </a:extLst>
          </p:cNvPr>
          <p:cNvSpPr>
            <a:spLocks xmlns:a="http://schemas.openxmlformats.org/drawingml/2006/main" noGrp="1"/>
          </p:cNvSpPr>
          <p:nvPr/>
        </p:nvSpPr>
        <p:spPr>
          <a:xfrm xmlns:a="http://schemas.openxmlformats.org/drawingml/2006/main">
            <a:off x="6286500" y="1809750"/>
            <a:ext cx="4762500" cy="2857500"/>
          </a:xfrm>
          <a:prstGeom xmlns:a="http://schemas.openxmlformats.org/drawingml/2006/main" prst="rect">
            <a:avLst/>
          </a:prstGeom>
          <a:solidFill xmlns:a="http://schemas.openxmlformats.org/drawingml/2006/main">
            <a:srgbClr val="FFF4F1"/>
          </a:solidFill>
          <a:ln xmlns:a="http://schemas.openxmlformats.org/drawingml/2006/main" w="9525">
            <a:solidFill>
              <a:srgbClr val="E5B9AF"/>
            </a:solidFill>
            <a:prstDash val="solid"/>
          </a:ln>
        </p:spPr>
      </p:sp>
      <p:sp>
        <p:nvSpPr>
          <p:cNvPr id="9" name="">
            <a:extLst xmlns:a="http://schemas.openxmlformats.org/drawingml/2006/main">
              <a:ext uri="{FF2B5EF4-FFF2-40B4-BE49-F238E27FC236}">
                <a16:creationId xmlns:a16="http://schemas.microsoft.com/office/drawing/2014/main" id="{99820440-ECE8-43CE-8676-B758808971C7}"/>
              </a:ext>
            </a:extLst>
          </p:cNvPr>
          <p:cNvSpPr>
            <a:spLocks xmlns:a="http://schemas.openxmlformats.org/drawingml/2006/main" noGrp="1"/>
          </p:cNvSpPr>
          <p:nvPr/>
        </p:nvSpPr>
        <p:spPr>
          <a:xfrm xmlns:a="http://schemas.openxmlformats.org/drawingml/2006/main">
            <a:off x="6553200" y="2095500"/>
            <a:ext cx="41910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125" b="1">
                <a:solidFill>
                  <a:srgbClr val="8B1E1E"/>
                </a:solidFill>
              </a:defRPr>
            </a:pPr>
            <a:r>
              <a:rPr sz="1125" b="1">
                <a:solidFill>
                  <a:srgbClr val="8B1E1E"/>
                </a:solidFill>
              </a:rPr>
              <a:t>PROHIBITED</a:t>
            </a:r>
          </a:p>
        </p:txBody>
      </p:sp>
      <p:sp>
        <p:nvSpPr>
          <p:cNvPr id="10" name="">
            <a:extLst xmlns:a="http://schemas.openxmlformats.org/drawingml/2006/main">
              <a:ext uri="{FF2B5EF4-FFF2-40B4-BE49-F238E27FC236}">
                <a16:creationId xmlns:a16="http://schemas.microsoft.com/office/drawing/2014/main" id="{51224D55-0B5D-40A2-8BDF-94F50836E572}"/>
              </a:ext>
            </a:extLst>
          </p:cNvPr>
          <p:cNvSpPr>
            <a:spLocks xmlns:a="http://schemas.openxmlformats.org/drawingml/2006/main" noGrp="1"/>
          </p:cNvSpPr>
          <p:nvPr/>
        </p:nvSpPr>
        <p:spPr>
          <a:xfrm xmlns:a="http://schemas.openxmlformats.org/drawingml/2006/main">
            <a:off x="6553200" y="2609850"/>
            <a:ext cx="4000500" cy="1476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875" b="1">
                <a:solidFill>
                  <a:srgbClr val="102A3A"/>
                </a:solidFill>
              </a:defRPr>
            </a:pPr>
            <a:r>
              <a:rPr sz="1875" b="1">
                <a:solidFill>
                  <a:srgbClr val="102A3A"/>
                </a:solidFill>
              </a:rPr>
              <a:t>Silent delegation of authority</a:t>
            </a:r>
          </a:p>
          <a:p xmlns:a="http://schemas.openxmlformats.org/drawingml/2006/main">
            <a:pPr algn="l">
              <a:defRPr sz="1875" b="1">
                <a:solidFill>
                  <a:srgbClr val="102A3A"/>
                </a:solidFill>
              </a:defRPr>
            </a:pPr>
            <a:r>
              <a:rPr sz="1875" b="1">
                <a:solidFill>
                  <a:srgbClr val="102A3A"/>
                </a:solidFill>
              </a:rPr>
              <a:t>Automatic consequential action</a:t>
            </a:r>
          </a:p>
          <a:p xmlns:a="http://schemas.openxmlformats.org/drawingml/2006/main">
            <a:pPr algn="l">
              <a:defRPr sz="1875" b="1">
                <a:solidFill>
                  <a:srgbClr val="102A3A"/>
                </a:solidFill>
              </a:defRPr>
            </a:pPr>
            <a:r>
              <a:rPr sz="1875" b="1">
                <a:solidFill>
                  <a:srgbClr val="102A3A"/>
                </a:solidFill>
              </a:rPr>
              <a:t>Unknown-code coercion</a:t>
            </a:r>
          </a:p>
          <a:p xmlns:a="http://schemas.openxmlformats.org/drawingml/2006/main">
            <a:pPr algn="l">
              <a:defRPr sz="1875" b="1">
                <a:solidFill>
                  <a:srgbClr val="102A3A"/>
                </a:solidFill>
              </a:defRPr>
            </a:pPr>
            <a:r>
              <a:rPr sz="1875" b="1">
                <a:solidFill>
                  <a:srgbClr val="102A3A"/>
                </a:solidFill>
              </a:rPr>
              <a:t>False precision when evidence fails</a:t>
            </a:r>
          </a:p>
        </p:txBody>
      </p:sp>
    </p:spTree>
    <p:extLst>
      <p:ext uri="{BB962C8B-B14F-4D97-AF65-F5344CB8AC3E}">
        <p14:creationId xmlns:p14="http://schemas.microsoft.com/office/powerpoint/2010/main" val="2015547056"/>
      </p:ext>
    </p:extLst>
  </p:cSld>
</p:sld>
</file>

<file path=ppt/slides/slide8.xml><?xml version="1.0" encoding="utf-8"?>
<p:sld xmlns:p="http://schemas.openxmlformats.org/presentationml/2006/main">
  <p:cSld>
    <p:bg>
      <p:bgPr>
        <a:solidFill xmlns:a="http://schemas.openxmlformats.org/drawingml/2006/main">
          <a:srgbClr val="061A2B"/>
        </a:solidFill>
      </p:bgPr>
    </p:bg>
    <p:spTree>
      <p:nvGrpSpPr>
        <p:cNvPr id="1" name=""/>
        <p:cNvGrpSpPr/>
        <p:nvPr/>
      </p:nvGrpSpPr>
      <p:grpSpPr>
        <a:xfrm xmlns:a="http://schemas.openxmlformats.org/drawingml/2006/main"/>
      </p:grpSpPr>
      <p:sp>
        <p:nvSpPr>
          <p:cNvPr id="13" name="">
            <a:extLst xmlns:a="http://schemas.openxmlformats.org/drawingml/2006/main">
              <a:ext uri="{FF2B5EF4-FFF2-40B4-BE49-F238E27FC236}">
                <a16:creationId xmlns:a16="http://schemas.microsoft.com/office/drawing/2014/main" id="{AEA8EA14-6C53-4D64-8C3B-DA269C932AA4}"/>
              </a:ext>
            </a:extLst>
          </p:cNvPr>
          <p:cNvSpPr>
            <a:spLocks xmlns:a="http://schemas.openxmlformats.org/drawingml/2006/main" noGrp="1"/>
          </p:cNvSpPr>
          <p:nvPr/>
        </p:nvSpPr>
        <p:spPr>
          <a:xfrm xmlns:a="http://schemas.openxmlformats.org/drawingml/2006/main">
            <a:off x="552450" y="819150"/>
            <a:ext cx="1047750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3150" b="1">
                <a:solidFill>
                  <a:srgbClr val="FFFFFF"/>
                </a:solidFill>
              </a:defRPr>
            </a:pPr>
            <a:r>
              <a:rPr sz="3150" b="1">
                <a:solidFill>
                  <a:srgbClr val="FFFFFF"/>
                </a:solidFill>
              </a:rPr>
              <a:t>Before deployment, ask five questions</a:t>
            </a:r>
          </a:p>
        </p:txBody>
      </p:sp>
      <p:sp>
        <p:nvSpPr>
          <p:cNvPr id="2" name="">
            <a:extLst xmlns:a="http://schemas.openxmlformats.org/drawingml/2006/main">
              <a:ext uri="{FF2B5EF4-FFF2-40B4-BE49-F238E27FC236}">
                <a16:creationId xmlns:a16="http://schemas.microsoft.com/office/drawing/2014/main" id="{DE642B79-CB36-41B3-91EB-6F38F6791A4C}"/>
              </a:ext>
            </a:extLst>
          </p:cNvPr>
          <p:cNvSpPr>
            <a:spLocks xmlns:a="http://schemas.openxmlformats.org/drawingml/2006/main" noGrp="1"/>
          </p:cNvSpPr>
          <p:nvPr/>
        </p:nvSpPr>
        <p:spPr>
          <a:xfrm xmlns:a="http://schemas.openxmlformats.org/drawingml/2006/main">
            <a:off x="552450" y="1809750"/>
            <a:ext cx="4762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500" b="1">
                <a:solidFill>
                  <a:srgbClr val="6DCBF4"/>
                </a:solidFill>
              </a:defRPr>
            </a:pPr>
            <a:r>
              <a:rPr sz="1500" b="1">
                <a:solidFill>
                  <a:srgbClr val="6DCBF4"/>
                </a:solidFill>
              </a:rPr>
              <a:t>1.</a:t>
            </a:r>
          </a:p>
        </p:txBody>
      </p:sp>
      <p:sp>
        <p:nvSpPr>
          <p:cNvPr id="3" name="">
            <a:extLst xmlns:a="http://schemas.openxmlformats.org/drawingml/2006/main">
              <a:ext uri="{FF2B5EF4-FFF2-40B4-BE49-F238E27FC236}">
                <a16:creationId xmlns:a16="http://schemas.microsoft.com/office/drawing/2014/main" id="{68AA8D2A-D1AA-40E6-894B-A8E4FC266FD7}"/>
              </a:ext>
            </a:extLst>
          </p:cNvPr>
          <p:cNvSpPr>
            <a:spLocks xmlns:a="http://schemas.openxmlformats.org/drawingml/2006/main" noGrp="1"/>
          </p:cNvSpPr>
          <p:nvPr/>
        </p:nvSpPr>
        <p:spPr>
          <a:xfrm xmlns:a="http://schemas.openxmlformats.org/drawingml/2006/main">
            <a:off x="1123950" y="1771650"/>
            <a:ext cx="85725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950" b="1">
                <a:solidFill>
                  <a:srgbClr val="FFFFFF"/>
                </a:solidFill>
              </a:defRPr>
            </a:pPr>
            <a:r>
              <a:rPr sz="1950" b="1">
                <a:solidFill>
                  <a:srgbClr val="FFFFFF"/>
                </a:solidFill>
              </a:rPr>
              <a:t>Usable stock</a:t>
            </a:r>
          </a:p>
        </p:txBody>
      </p:sp>
      <p:sp>
        <p:nvSpPr>
          <p:cNvPr id="4" name="">
            <a:extLst xmlns:a="http://schemas.openxmlformats.org/drawingml/2006/main">
              <a:ext uri="{FF2B5EF4-FFF2-40B4-BE49-F238E27FC236}">
                <a16:creationId xmlns:a16="http://schemas.microsoft.com/office/drawing/2014/main" id="{DAD71A7E-ED03-4891-81FA-ADAF4F0611E2}"/>
              </a:ext>
            </a:extLst>
          </p:cNvPr>
          <p:cNvSpPr>
            <a:spLocks xmlns:a="http://schemas.openxmlformats.org/drawingml/2006/main" noGrp="1"/>
          </p:cNvSpPr>
          <p:nvPr/>
        </p:nvSpPr>
        <p:spPr>
          <a:xfrm xmlns:a="http://schemas.openxmlformats.org/drawingml/2006/main">
            <a:off x="552450" y="2438400"/>
            <a:ext cx="4762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500" b="1">
                <a:solidFill>
                  <a:srgbClr val="6DCBF4"/>
                </a:solidFill>
              </a:defRPr>
            </a:pPr>
            <a:r>
              <a:rPr sz="1500" b="1">
                <a:solidFill>
                  <a:srgbClr val="6DCBF4"/>
                </a:solidFill>
              </a:rPr>
              <a:t>2.</a:t>
            </a:r>
          </a:p>
        </p:txBody>
      </p:sp>
      <p:sp>
        <p:nvSpPr>
          <p:cNvPr id="5" name="">
            <a:extLst xmlns:a="http://schemas.openxmlformats.org/drawingml/2006/main">
              <a:ext uri="{FF2B5EF4-FFF2-40B4-BE49-F238E27FC236}">
                <a16:creationId xmlns:a16="http://schemas.microsoft.com/office/drawing/2014/main" id="{D6A4CE8C-88A9-4043-B1DC-56AC97597C83}"/>
              </a:ext>
            </a:extLst>
          </p:cNvPr>
          <p:cNvSpPr>
            <a:spLocks xmlns:a="http://schemas.openxmlformats.org/drawingml/2006/main" noGrp="1"/>
          </p:cNvSpPr>
          <p:nvPr/>
        </p:nvSpPr>
        <p:spPr>
          <a:xfrm xmlns:a="http://schemas.openxmlformats.org/drawingml/2006/main">
            <a:off x="1123950" y="2400300"/>
            <a:ext cx="85725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950" b="1">
                <a:solidFill>
                  <a:srgbClr val="FFFFFF"/>
                </a:solidFill>
              </a:defRPr>
            </a:pPr>
            <a:r>
              <a:rPr sz="1950" b="1">
                <a:solidFill>
                  <a:srgbClr val="FFFFFF"/>
                </a:solidFill>
              </a:rPr>
              <a:t>Consumption</a:t>
            </a:r>
          </a:p>
        </p:txBody>
      </p:sp>
      <p:sp>
        <p:nvSpPr>
          <p:cNvPr id="6" name="">
            <a:extLst xmlns:a="http://schemas.openxmlformats.org/drawingml/2006/main">
              <a:ext uri="{FF2B5EF4-FFF2-40B4-BE49-F238E27FC236}">
                <a16:creationId xmlns:a16="http://schemas.microsoft.com/office/drawing/2014/main" id="{7BC3A1C9-18AF-4893-AEA4-C8262ECC8F04}"/>
              </a:ext>
            </a:extLst>
          </p:cNvPr>
          <p:cNvSpPr>
            <a:spLocks xmlns:a="http://schemas.openxmlformats.org/drawingml/2006/main" noGrp="1"/>
          </p:cNvSpPr>
          <p:nvPr/>
        </p:nvSpPr>
        <p:spPr>
          <a:xfrm xmlns:a="http://schemas.openxmlformats.org/drawingml/2006/main">
            <a:off x="552450" y="3067050"/>
            <a:ext cx="4762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500" b="1">
                <a:solidFill>
                  <a:srgbClr val="6DCBF4"/>
                </a:solidFill>
              </a:defRPr>
            </a:pPr>
            <a:r>
              <a:rPr sz="1500" b="1">
                <a:solidFill>
                  <a:srgbClr val="6DCBF4"/>
                </a:solidFill>
              </a:rPr>
              <a:t>3.</a:t>
            </a:r>
          </a:p>
        </p:txBody>
      </p:sp>
      <p:sp>
        <p:nvSpPr>
          <p:cNvPr id="7" name="">
            <a:extLst xmlns:a="http://schemas.openxmlformats.org/drawingml/2006/main">
              <a:ext uri="{FF2B5EF4-FFF2-40B4-BE49-F238E27FC236}">
                <a16:creationId xmlns:a16="http://schemas.microsoft.com/office/drawing/2014/main" id="{B0570AB0-DC90-4977-9605-101F703E66FC}"/>
              </a:ext>
            </a:extLst>
          </p:cNvPr>
          <p:cNvSpPr>
            <a:spLocks xmlns:a="http://schemas.openxmlformats.org/drawingml/2006/main" noGrp="1"/>
          </p:cNvSpPr>
          <p:nvPr/>
        </p:nvSpPr>
        <p:spPr>
          <a:xfrm xmlns:a="http://schemas.openxmlformats.org/drawingml/2006/main">
            <a:off x="1123950" y="3028950"/>
            <a:ext cx="85725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950" b="1">
                <a:solidFill>
                  <a:srgbClr val="FFFFFF"/>
                </a:solidFill>
              </a:defRPr>
            </a:pPr>
            <a:r>
              <a:rPr sz="1950" b="1">
                <a:solidFill>
                  <a:srgbClr val="FFFFFF"/>
                </a:solidFill>
              </a:rPr>
              <a:t>Lead time</a:t>
            </a:r>
          </a:p>
        </p:txBody>
      </p:sp>
      <p:sp>
        <p:nvSpPr>
          <p:cNvPr id="8" name="">
            <a:extLst xmlns:a="http://schemas.openxmlformats.org/drawingml/2006/main">
              <a:ext uri="{FF2B5EF4-FFF2-40B4-BE49-F238E27FC236}">
                <a16:creationId xmlns:a16="http://schemas.microsoft.com/office/drawing/2014/main" id="{7A224535-58C7-463D-99F4-5BCB9DDF015F}"/>
              </a:ext>
            </a:extLst>
          </p:cNvPr>
          <p:cNvSpPr>
            <a:spLocks xmlns:a="http://schemas.openxmlformats.org/drawingml/2006/main" noGrp="1"/>
          </p:cNvSpPr>
          <p:nvPr/>
        </p:nvSpPr>
        <p:spPr>
          <a:xfrm xmlns:a="http://schemas.openxmlformats.org/drawingml/2006/main">
            <a:off x="552450" y="3695700"/>
            <a:ext cx="4762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500" b="1">
                <a:solidFill>
                  <a:srgbClr val="6DCBF4"/>
                </a:solidFill>
              </a:defRPr>
            </a:pPr>
            <a:r>
              <a:rPr sz="1500" b="1">
                <a:solidFill>
                  <a:srgbClr val="6DCBF4"/>
                </a:solidFill>
              </a:rPr>
              <a:t>4.</a:t>
            </a:r>
          </a:p>
        </p:txBody>
      </p:sp>
      <p:sp>
        <p:nvSpPr>
          <p:cNvPr id="9" name="">
            <a:extLst xmlns:a="http://schemas.openxmlformats.org/drawingml/2006/main">
              <a:ext uri="{FF2B5EF4-FFF2-40B4-BE49-F238E27FC236}">
                <a16:creationId xmlns:a16="http://schemas.microsoft.com/office/drawing/2014/main" id="{BF59FA72-A65A-46BF-B56D-E5FCB2B0463E}"/>
              </a:ext>
            </a:extLst>
          </p:cNvPr>
          <p:cNvSpPr>
            <a:spLocks xmlns:a="http://schemas.openxmlformats.org/drawingml/2006/main" noGrp="1"/>
          </p:cNvSpPr>
          <p:nvPr/>
        </p:nvSpPr>
        <p:spPr>
          <a:xfrm xmlns:a="http://schemas.openxmlformats.org/drawingml/2006/main">
            <a:off x="1123950" y="3657600"/>
            <a:ext cx="85725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950" b="1">
                <a:solidFill>
                  <a:srgbClr val="FFFFFF"/>
                </a:solidFill>
              </a:defRPr>
            </a:pPr>
            <a:r>
              <a:rPr sz="1950" b="1">
                <a:solidFill>
                  <a:srgbClr val="FFFFFF"/>
                </a:solidFill>
              </a:rPr>
              <a:t>Cold chain</a:t>
            </a:r>
          </a:p>
        </p:txBody>
      </p:sp>
      <p:sp>
        <p:nvSpPr>
          <p:cNvPr id="10" name="">
            <a:extLst xmlns:a="http://schemas.openxmlformats.org/drawingml/2006/main">
              <a:ext uri="{FF2B5EF4-FFF2-40B4-BE49-F238E27FC236}">
                <a16:creationId xmlns:a16="http://schemas.microsoft.com/office/drawing/2014/main" id="{0237425F-29F2-49E2-A82E-C9BB93945FC5}"/>
              </a:ext>
            </a:extLst>
          </p:cNvPr>
          <p:cNvSpPr>
            <a:spLocks xmlns:a="http://schemas.openxmlformats.org/drawingml/2006/main" noGrp="1"/>
          </p:cNvSpPr>
          <p:nvPr/>
        </p:nvSpPr>
        <p:spPr>
          <a:xfrm xmlns:a="http://schemas.openxmlformats.org/drawingml/2006/main">
            <a:off x="552450" y="4324350"/>
            <a:ext cx="4762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500" b="1">
                <a:solidFill>
                  <a:srgbClr val="6DCBF4"/>
                </a:solidFill>
              </a:defRPr>
            </a:pPr>
            <a:r>
              <a:rPr sz="1500" b="1">
                <a:solidFill>
                  <a:srgbClr val="6DCBF4"/>
                </a:solidFill>
              </a:rPr>
              <a:t>5.</a:t>
            </a:r>
          </a:p>
        </p:txBody>
      </p:sp>
      <p:sp>
        <p:nvSpPr>
          <p:cNvPr id="11" name="">
            <a:extLst xmlns:a="http://schemas.openxmlformats.org/drawingml/2006/main">
              <a:ext uri="{FF2B5EF4-FFF2-40B4-BE49-F238E27FC236}">
                <a16:creationId xmlns:a16="http://schemas.microsoft.com/office/drawing/2014/main" id="{70094604-425E-4762-B737-C9C8DC0CC4C5}"/>
              </a:ext>
            </a:extLst>
          </p:cNvPr>
          <p:cNvSpPr>
            <a:spLocks xmlns:a="http://schemas.openxmlformats.org/drawingml/2006/main" noGrp="1"/>
          </p:cNvSpPr>
          <p:nvPr/>
        </p:nvSpPr>
        <p:spPr>
          <a:xfrm xmlns:a="http://schemas.openxmlformats.org/drawingml/2006/main">
            <a:off x="1123950" y="4286250"/>
            <a:ext cx="85725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950" b="1">
                <a:solidFill>
                  <a:srgbClr val="FFFFFF"/>
                </a:solidFill>
              </a:defRPr>
            </a:pPr>
            <a:r>
              <a:rPr sz="1950" b="1">
                <a:solidFill>
                  <a:srgbClr val="FFFFFF"/>
                </a:solidFill>
              </a:rPr>
              <a:t>Expiry risk</a:t>
            </a:r>
          </a:p>
        </p:txBody>
      </p:sp>
      <p:sp>
        <p:nvSpPr>
          <p:cNvPr id="12" name="">
            <a:extLst xmlns:a="http://schemas.openxmlformats.org/drawingml/2006/main">
              <a:ext uri="{FF2B5EF4-FFF2-40B4-BE49-F238E27FC236}">
                <a16:creationId xmlns:a16="http://schemas.microsoft.com/office/drawing/2014/main" id="{DE395AE7-F200-408C-BCC0-7FAB9DAF2CD3}"/>
              </a:ext>
            </a:extLst>
          </p:cNvPr>
          <p:cNvSpPr>
            <a:spLocks xmlns:a="http://schemas.openxmlformats.org/drawingml/2006/main" noGrp="1"/>
          </p:cNvSpPr>
          <p:nvPr/>
        </p:nvSpPr>
        <p:spPr>
          <a:xfrm xmlns:a="http://schemas.openxmlformats.org/drawingml/2006/main">
            <a:off x="552450" y="5410200"/>
            <a:ext cx="1000125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725" b="1">
                <a:solidFill>
                  <a:srgbClr val="F5C66A"/>
                </a:solidFill>
              </a:defRPr>
            </a:pPr>
            <a:r>
              <a:rPr sz="1725" b="1">
                <a:solidFill>
                  <a:srgbClr val="F5C66A"/>
                </a:solidFill>
              </a:rPr>
              <a:t>If one critical answer is missing, pause and refer for review.</a:t>
            </a:r>
          </a:p>
        </p:txBody>
      </p:sp>
    </p:spTree>
    <p:extLst>
      <p:ext uri="{BB962C8B-B14F-4D97-AF65-F5344CB8AC3E}">
        <p14:creationId xmlns:p14="http://schemas.microsoft.com/office/powerpoint/2010/main" val="1170345243"/>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2026-09-04T14:49:29.1750000Z</dcterms:created>
  <dcterms:modified xsi:type="dcterms:W3CDTF">2026-09-04T14:49:29.1750000Z</dcterms:modified>
</coreProperties>
</file>