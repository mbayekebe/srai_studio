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c5e41a04774330" /><Relationship Type="http://schemas.openxmlformats.org/officeDocument/2006/relationships/extended-properties" Target="/docProps/app.xml" Id="Rfab60ed63d9e4aaa" /><Relationship Type="http://schemas.openxmlformats.org/officeDocument/2006/relationships/officeDocument" Target="/ppt/presentation.xml" Id="Rbe73639afb20449e" /></Relationships>
</file>

<file path=ppt/presentation.xml><?xml version="1.0" encoding="utf-8"?>
<p:presentation xmlns:p="http://schemas.openxmlformats.org/presentationml/2006/main">
  <p:sldMasterIdLst>
    <p:sldMasterId xmlns:r="http://schemas.openxmlformats.org/officeDocument/2006/relationships" id="2147483648" r:id="R5c3bd2881173462d"/>
  </p:sldMasterIdLst>
  <p:notesMasterIdLst>
    <p:notesMasterId xmlns:r="http://schemas.openxmlformats.org/officeDocument/2006/relationships" r:id="R84f9ce5b81c7432e"/>
  </p:notesMasterIdLst>
  <p:sldIdLst>
    <p:sldId xmlns:r="http://schemas.openxmlformats.org/officeDocument/2006/relationships" id="256" r:id="R4867a7a7258a459b"/>
    <p:sldId xmlns:r="http://schemas.openxmlformats.org/officeDocument/2006/relationships" id="257" r:id="R2572ad4c83f14e16"/>
    <p:sldId xmlns:r="http://schemas.openxmlformats.org/officeDocument/2006/relationships" id="258" r:id="Rb8855ec7c734423c"/>
    <p:sldId xmlns:r="http://schemas.openxmlformats.org/officeDocument/2006/relationships" id="259" r:id="R7c4967615a714da1"/>
    <p:sldId xmlns:r="http://schemas.openxmlformats.org/officeDocument/2006/relationships" id="260" r:id="Re722b1efbfc34c84"/>
    <p:sldId xmlns:r="http://schemas.openxmlformats.org/officeDocument/2006/relationships" id="261" r:id="R40764f7907fb476c"/>
    <p:sldId xmlns:r="http://schemas.openxmlformats.org/officeDocument/2006/relationships" id="262" r:id="R14ddb849b6194088"/>
    <p:sldId xmlns:r="http://schemas.openxmlformats.org/officeDocument/2006/relationships" id="263" r:id="R247119b23c6643f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d9739c88de462f" /><Relationship Type="http://schemas.openxmlformats.org/officeDocument/2006/relationships/slideMaster" Target="/ppt/slideMasters/slideMaster1.xml" Id="R5c3bd2881173462d" /><Relationship Type="http://schemas.openxmlformats.org/officeDocument/2006/relationships/notesMaster" Target="/ppt/notesMasters/notesMaster1.xml" Id="R84f9ce5b81c7432e" /><Relationship Type="http://schemas.openxmlformats.org/officeDocument/2006/relationships/presProps" Target="/ppt/presProps.xml" Id="R103f610379244ee4" /><Relationship Type="http://schemas.openxmlformats.org/officeDocument/2006/relationships/tableStyles" Target="/ppt/tableStyles.xml" Id="Ra75db357c4ce4bb3" /><Relationship Type="http://schemas.openxmlformats.org/officeDocument/2006/relationships/slide" Target="/ppt/slides/slide1.xml" Id="R4867a7a7258a459b" /><Relationship Type="http://schemas.openxmlformats.org/officeDocument/2006/relationships/slide" Target="/ppt/slides/slide2.xml" Id="R2572ad4c83f14e16" /><Relationship Type="http://schemas.openxmlformats.org/officeDocument/2006/relationships/slide" Target="/ppt/slides/slide3.xml" Id="Rb8855ec7c734423c" /><Relationship Type="http://schemas.openxmlformats.org/officeDocument/2006/relationships/slide" Target="/ppt/slides/slide4.xml" Id="R7c4967615a714da1" /><Relationship Type="http://schemas.openxmlformats.org/officeDocument/2006/relationships/slide" Target="/ppt/slides/slide5.xml" Id="Re722b1efbfc34c84" /><Relationship Type="http://schemas.openxmlformats.org/officeDocument/2006/relationships/slide" Target="/ppt/slides/slide6.xml" Id="R40764f7907fb476c" /><Relationship Type="http://schemas.openxmlformats.org/officeDocument/2006/relationships/slide" Target="/ppt/slides/slide7.xml" Id="R14ddb849b6194088" /><Relationship Type="http://schemas.openxmlformats.org/officeDocument/2006/relationships/slide" Target="/ppt/slides/slide8.xml" Id="R247119b23c6643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6e89f4592946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33a912ab6f47d3" /><Relationship Type="http://schemas.openxmlformats.org/officeDocument/2006/relationships/notesMaster" Target="/ppt/notesMasters/notesMaster1.xml" Id="Ra27f4288bb4e450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077984c46044ee" /><Relationship Type="http://schemas.openxmlformats.org/officeDocument/2006/relationships/notesMaster" Target="/ppt/notesMasters/notesMaster1.xml" Id="R4907a0224e204d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9c2be6cca046b1" /><Relationship Type="http://schemas.openxmlformats.org/officeDocument/2006/relationships/notesMaster" Target="/ppt/notesMasters/notesMaster1.xml" Id="Rb98d4a16c8fa4b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b8deaf2b0c4d21" /><Relationship Type="http://schemas.openxmlformats.org/officeDocument/2006/relationships/notesMaster" Target="/ppt/notesMasters/notesMaster1.xml" Id="R667f516250724e3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88548a037e4657" /><Relationship Type="http://schemas.openxmlformats.org/officeDocument/2006/relationships/notesMaster" Target="/ppt/notesMasters/notesMaster1.xml" Id="Rf829448aa18745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74b85e7a274122" /><Relationship Type="http://schemas.openxmlformats.org/officeDocument/2006/relationships/notesMaster" Target="/ppt/notesMasters/notesMaster1.xml" Id="R5c14f2008b714bd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5ca3abef744039" /><Relationship Type="http://schemas.openxmlformats.org/officeDocument/2006/relationships/notesMaster" Target="/ppt/notesMasters/notesMaster1.xml" Id="R2de6616343f84d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d68ddd77e9410e" /><Relationship Type="http://schemas.openxmlformats.org/officeDocument/2006/relationships/notesMaster" Target="/ppt/notesMasters/notesMaster1.xml" Id="R9c8a3079bcd742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Maintain First, Replace With Evidence. This lesson begins with one principle: asset decisions must balance condition, criticality, failure, cost, and equity.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V7_D_N06,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Asset decisions must balance condition, criticality, failure, cost, and equity. The five controls shown here are Condition, Criticality, Failure risk, Lifecycle cost, Equity. Together, they prevent a habitat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V7_D_N06,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condition, move through criticality and failure risk, and finish with lifecycle cost and equity.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V7_D_N06,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habitat example. A city compares maintenance, rehabilitation, and replacement for a deteriorating water asset.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V7_D_N06,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Prioritize infrastructure action and test lifecycle, uncertainty, and equity gates.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V7_D_N06,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habitat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V7_D_N06,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V7_D_N06,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condition clear? Is criticality documented? Is failure risk testable? Is lifecycle cost governed? And is equity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V7_D_N06,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f9b94c3e7a463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24bc540fed4009" /><Relationship Type="http://schemas.openxmlformats.org/officeDocument/2006/relationships/slideLayout" Target="/ppt/slideLayouts/slideLayout1.xml" Id="R3d17f68ac4a045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17f68ac4a045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9bb15b2b4e64ebf" /><Relationship Type="http://schemas.openxmlformats.org/officeDocument/2006/relationships/notesSlide" Target="/ppt/notesSlides/notesSlide1.xml" Id="R6c1c1fbebc6947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b0e71e9310d434e" /><Relationship Type="http://schemas.openxmlformats.org/officeDocument/2006/relationships/notesSlide" Target="/ppt/notesSlides/notesSlide2.xml" Id="R5bcb63959b9f49d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14e5ba121014b8b" /><Relationship Type="http://schemas.openxmlformats.org/officeDocument/2006/relationships/notesSlide" Target="/ppt/notesSlides/notesSlide3.xml" Id="Raa994f73912044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86c622a960440d5" /><Relationship Type="http://schemas.openxmlformats.org/officeDocument/2006/relationships/notesSlide" Target="/ppt/notesSlides/notesSlide4.xml" Id="Rce3e311f728f4f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75d0b8265554a2f" /><Relationship Type="http://schemas.openxmlformats.org/officeDocument/2006/relationships/notesSlide" Target="/ppt/notesSlides/notesSlide5.xml" Id="Rfdf63eaf0fcb4d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982e4a8de90449e" /><Relationship Type="http://schemas.openxmlformats.org/officeDocument/2006/relationships/notesSlide" Target="/ppt/notesSlides/notesSlide6.xml" Id="R30e303bf7936464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3d9de460db34de8" /><Relationship Type="http://schemas.openxmlformats.org/officeDocument/2006/relationships/notesSlide" Target="/ppt/notesSlides/notesSlide7.xml" Id="R11a6665c2a4c4f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e9acc91319f427d" /><Relationship Type="http://schemas.openxmlformats.org/officeDocument/2006/relationships/notesSlide" Target="/ppt/notesSlides/notesSlide8.xml" Id="Rdad658725a704b58"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69F440A-A8D7-4C9E-AAB1-537F61201B5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428300DF-4FF0-4BBC-8DEB-E7C015BCECB2}"/>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2A499A7B-E80D-4CA3-A5EE-6F6A6790F1E8}"/>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00A8E00E-208E-470C-9399-1264CD771FE7}"/>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HABITAT TRACK</a:t>
            </a:r>
          </a:p>
        </p:txBody>
      </p:sp>
      <p:sp>
        <p:nvSpPr>
          <p:cNvPr id="5" name="">
            <a:extLst xmlns:a="http://schemas.openxmlformats.org/drawingml/2006/main">
              <a:ext uri="{FF2B5EF4-FFF2-40B4-BE49-F238E27FC236}">
                <a16:creationId xmlns:a16="http://schemas.microsoft.com/office/drawing/2014/main" id="{158CC617-F100-4BC8-84E4-A4817D564CDF}"/>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MAINTAIN FIRST, REPLACE WITH EVIDENCE</a:t>
            </a:r>
          </a:p>
        </p:txBody>
      </p:sp>
      <p:sp>
        <p:nvSpPr>
          <p:cNvPr id="6" name="">
            <a:extLst xmlns:a="http://schemas.openxmlformats.org/drawingml/2006/main">
              <a:ext uri="{FF2B5EF4-FFF2-40B4-BE49-F238E27FC236}">
                <a16:creationId xmlns:a16="http://schemas.microsoft.com/office/drawing/2014/main" id="{FBFD5650-DFF0-4E59-BDBE-CF8CA17FBD9B}"/>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Asset decisions must balance condition, criticality, failure, cost, and equity.</a:t>
            </a:r>
          </a:p>
        </p:txBody>
      </p:sp>
      <p:sp>
        <p:nvSpPr>
          <p:cNvPr id="7" name="">
            <a:extLst xmlns:a="http://schemas.openxmlformats.org/drawingml/2006/main">
              <a:ext uri="{FF2B5EF4-FFF2-40B4-BE49-F238E27FC236}">
                <a16:creationId xmlns:a16="http://schemas.microsoft.com/office/drawing/2014/main" id="{972922D3-5EAA-4FFE-8BDC-254E08FDEAD8}"/>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V7_D_N06</a:t>
            </a:r>
          </a:p>
        </p:txBody>
      </p:sp>
      <p:sp>
        <p:nvSpPr>
          <p:cNvPr id="8" name="">
            <a:extLst xmlns:a="http://schemas.openxmlformats.org/drawingml/2006/main">
              <a:ext uri="{FF2B5EF4-FFF2-40B4-BE49-F238E27FC236}">
                <a16:creationId xmlns:a16="http://schemas.microsoft.com/office/drawing/2014/main" id="{987A4DEA-022A-4618-A404-67D482B2C407}"/>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PU-B07-C56</a:t>
            </a:r>
          </a:p>
        </p:txBody>
      </p:sp>
      <p:sp>
        <p:nvSpPr>
          <p:cNvPr id="9" name="">
            <a:extLst xmlns:a="http://schemas.openxmlformats.org/drawingml/2006/main">
              <a:ext uri="{FF2B5EF4-FFF2-40B4-BE49-F238E27FC236}">
                <a16:creationId xmlns:a16="http://schemas.microsoft.com/office/drawing/2014/main" id="{6D3CF4D7-B13F-4DF3-A600-257839D7771A}"/>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ADC78E4A-4E70-49D6-BAF7-F0F55EFC57AC}"/>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2055546974"/>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36C88CF-3EE1-4E14-A932-00DA6EE7C206}"/>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V7_D_N06</a:t>
            </a:r>
          </a:p>
        </p:txBody>
      </p:sp>
      <p:sp>
        <p:nvSpPr>
          <p:cNvPr id="2" name="">
            <a:extLst xmlns:a="http://schemas.openxmlformats.org/drawingml/2006/main">
              <a:ext uri="{FF2B5EF4-FFF2-40B4-BE49-F238E27FC236}">
                <a16:creationId xmlns:a16="http://schemas.microsoft.com/office/drawing/2014/main" id="{AC8FDB51-B532-45F7-855C-804C195DE1E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5CEB5F17-B3D9-4ABC-BA1A-AC8F6ECC6FEA}"/>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734DA6E-20C7-4C05-97FF-18B4AEF6214C}"/>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36F2BD47-5DED-4743-A7FA-FC59954BA807}"/>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Asset decisions must balance condition, criticality, failure, cost, and equity.</a:t>
            </a:r>
          </a:p>
        </p:txBody>
      </p:sp>
      <p:sp>
        <p:nvSpPr>
          <p:cNvPr id="6" name="">
            <a:extLst xmlns:a="http://schemas.openxmlformats.org/drawingml/2006/main">
              <a:ext uri="{FF2B5EF4-FFF2-40B4-BE49-F238E27FC236}">
                <a16:creationId xmlns:a16="http://schemas.microsoft.com/office/drawing/2014/main" id="{124AE532-BA62-4257-844E-914AFF07603E}"/>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E8801680-33B0-4412-8A18-DAFD6FFC5571}"/>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FA392C92-9109-4B78-A9E8-C96EAF970967}"/>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Condition</a:t>
            </a:r>
          </a:p>
        </p:txBody>
      </p:sp>
      <p:sp>
        <p:nvSpPr>
          <p:cNvPr id="9" name="">
            <a:extLst xmlns:a="http://schemas.openxmlformats.org/drawingml/2006/main">
              <a:ext uri="{FF2B5EF4-FFF2-40B4-BE49-F238E27FC236}">
                <a16:creationId xmlns:a16="http://schemas.microsoft.com/office/drawing/2014/main" id="{518C377B-FA1A-4E76-989F-07003C715D57}"/>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D06CFA7C-6516-485C-BCA0-E411A4EFB594}"/>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Criticality</a:t>
            </a:r>
          </a:p>
        </p:txBody>
      </p:sp>
      <p:sp>
        <p:nvSpPr>
          <p:cNvPr id="11" name="">
            <a:extLst xmlns:a="http://schemas.openxmlformats.org/drawingml/2006/main">
              <a:ext uri="{FF2B5EF4-FFF2-40B4-BE49-F238E27FC236}">
                <a16:creationId xmlns:a16="http://schemas.microsoft.com/office/drawing/2014/main" id="{8F33404A-9AC5-434D-9626-4A38796C28A7}"/>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0E872A99-0DA9-4848-A54D-29E0817EA379}"/>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Failure risk</a:t>
            </a:r>
          </a:p>
        </p:txBody>
      </p:sp>
      <p:sp>
        <p:nvSpPr>
          <p:cNvPr id="13" name="">
            <a:extLst xmlns:a="http://schemas.openxmlformats.org/drawingml/2006/main">
              <a:ext uri="{FF2B5EF4-FFF2-40B4-BE49-F238E27FC236}">
                <a16:creationId xmlns:a16="http://schemas.microsoft.com/office/drawing/2014/main" id="{B314C2B7-2AA0-4A63-9C62-15BBF55B2D5A}"/>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07EF75C0-9493-4316-96CD-6C7FF2980FCD}"/>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Lifecycle cost</a:t>
            </a:r>
          </a:p>
        </p:txBody>
      </p:sp>
      <p:sp>
        <p:nvSpPr>
          <p:cNvPr id="15" name="">
            <a:extLst xmlns:a="http://schemas.openxmlformats.org/drawingml/2006/main">
              <a:ext uri="{FF2B5EF4-FFF2-40B4-BE49-F238E27FC236}">
                <a16:creationId xmlns:a16="http://schemas.microsoft.com/office/drawing/2014/main" id="{D119D114-7E13-47A4-803D-217F81625551}"/>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D26DCDF8-A12B-4391-A73F-2965D3F9BB08}"/>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Equity</a:t>
            </a:r>
          </a:p>
        </p:txBody>
      </p:sp>
      <p:sp>
        <p:nvSpPr>
          <p:cNvPr id="17" name="">
            <a:extLst xmlns:a="http://schemas.openxmlformats.org/drawingml/2006/main">
              <a:ext uri="{FF2B5EF4-FFF2-40B4-BE49-F238E27FC236}">
                <a16:creationId xmlns:a16="http://schemas.microsoft.com/office/drawing/2014/main" id="{120AACE2-89B2-4773-BE94-1B89BC20425D}"/>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953294396"/>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732B39F-D66A-470F-A6E0-E74C92F66D98}"/>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V7_D_N06</a:t>
            </a:r>
          </a:p>
        </p:txBody>
      </p:sp>
      <p:sp>
        <p:nvSpPr>
          <p:cNvPr id="2" name="">
            <a:extLst xmlns:a="http://schemas.openxmlformats.org/drawingml/2006/main">
              <a:ext uri="{FF2B5EF4-FFF2-40B4-BE49-F238E27FC236}">
                <a16:creationId xmlns:a16="http://schemas.microsoft.com/office/drawing/2014/main" id="{251D5562-BBCC-4CDB-BAE7-1F63F6C008B1}"/>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5A455263-A651-4018-AC06-27FDBF0C653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ABFDA8B-A8A7-46AD-8404-691E2D4C082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1114483C-062D-4DB3-A594-DC9D27D5097B}"/>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B75A180F-9062-4DE1-BFF0-DBE05FDF8A59}"/>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8E6F18FA-28E5-460F-A6A5-94584FC1613D}"/>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Condition</a:t>
            </a:r>
          </a:p>
        </p:txBody>
      </p:sp>
      <p:sp>
        <p:nvSpPr>
          <p:cNvPr id="8" name="">
            <a:extLst xmlns:a="http://schemas.openxmlformats.org/drawingml/2006/main">
              <a:ext uri="{FF2B5EF4-FFF2-40B4-BE49-F238E27FC236}">
                <a16:creationId xmlns:a16="http://schemas.microsoft.com/office/drawing/2014/main" id="{27726B5B-476E-413B-8824-3A4D526E759C}"/>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0B7C84E5-5316-4E35-86B0-F89EC55C2BD1}"/>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64321F2E-8636-4D71-BE31-2FF72248BDF8}"/>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Criticality</a:t>
            </a:r>
          </a:p>
        </p:txBody>
      </p:sp>
      <p:sp>
        <p:nvSpPr>
          <p:cNvPr id="11" name="">
            <a:extLst xmlns:a="http://schemas.openxmlformats.org/drawingml/2006/main">
              <a:ext uri="{FF2B5EF4-FFF2-40B4-BE49-F238E27FC236}">
                <a16:creationId xmlns:a16="http://schemas.microsoft.com/office/drawing/2014/main" id="{092F9155-596D-459E-BE4C-C0E8F16C690A}"/>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20E99F19-8916-4A68-8F00-656C9AE5DD20}"/>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4C77FB6B-792B-492B-8FDE-76171E8DA2B5}"/>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Failure risk</a:t>
            </a:r>
          </a:p>
        </p:txBody>
      </p:sp>
      <p:sp>
        <p:nvSpPr>
          <p:cNvPr id="14" name="">
            <a:extLst xmlns:a="http://schemas.openxmlformats.org/drawingml/2006/main">
              <a:ext uri="{FF2B5EF4-FFF2-40B4-BE49-F238E27FC236}">
                <a16:creationId xmlns:a16="http://schemas.microsoft.com/office/drawing/2014/main" id="{BFBBCE93-D872-4176-807D-76F94B76D2D0}"/>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CED23D85-DCAF-487F-A4D8-4B3F28DF8B49}"/>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09C6D36F-6405-47C3-8C83-EA15B3AFB2A3}"/>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Lifecycle cost</a:t>
            </a:r>
          </a:p>
        </p:txBody>
      </p:sp>
      <p:sp>
        <p:nvSpPr>
          <p:cNvPr id="17" name="">
            <a:extLst xmlns:a="http://schemas.openxmlformats.org/drawingml/2006/main">
              <a:ext uri="{FF2B5EF4-FFF2-40B4-BE49-F238E27FC236}">
                <a16:creationId xmlns:a16="http://schemas.microsoft.com/office/drawing/2014/main" id="{4C60CF40-C019-4E3E-A14A-3B5DD7DAE89F}"/>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7169F631-1D8D-4CA8-9500-891251C75057}"/>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341A539A-80CB-49ED-A724-C6625D61C061}"/>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Equity</a:t>
            </a:r>
          </a:p>
        </p:txBody>
      </p:sp>
      <p:sp>
        <p:nvSpPr>
          <p:cNvPr id="20" name="">
            <a:extLst xmlns:a="http://schemas.openxmlformats.org/drawingml/2006/main">
              <a:ext uri="{FF2B5EF4-FFF2-40B4-BE49-F238E27FC236}">
                <a16:creationId xmlns:a16="http://schemas.microsoft.com/office/drawing/2014/main" id="{2F3AB62E-7E7F-450F-A856-A94FC5489980}"/>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484722211"/>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16BD4D6-F00B-4620-B348-651AC915768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V7_D_N06</a:t>
            </a:r>
          </a:p>
        </p:txBody>
      </p:sp>
      <p:sp>
        <p:nvSpPr>
          <p:cNvPr id="2" name="">
            <a:extLst xmlns:a="http://schemas.openxmlformats.org/drawingml/2006/main">
              <a:ext uri="{FF2B5EF4-FFF2-40B4-BE49-F238E27FC236}">
                <a16:creationId xmlns:a16="http://schemas.microsoft.com/office/drawing/2014/main" id="{D5E40140-687A-4F0F-97F3-60E186B3B63D}"/>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397E90F6-2083-4A71-9A83-3CB63A419616}"/>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F635167D-10D2-40C3-BB98-9F243A9150E8}"/>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84D2961C-0113-45D9-A357-DFD561E4DDB4}"/>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E033D341-ED96-40B3-83D4-7F8F77A97627}"/>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7F337033-676D-418B-8EBE-E35F07300CD6}"/>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city compares maintenance, rehabilitation, and replacement for a deteriorating water asset.</a:t>
            </a:r>
          </a:p>
        </p:txBody>
      </p:sp>
      <p:sp>
        <p:nvSpPr>
          <p:cNvPr id="8" name="">
            <a:extLst xmlns:a="http://schemas.openxmlformats.org/drawingml/2006/main">
              <a:ext uri="{FF2B5EF4-FFF2-40B4-BE49-F238E27FC236}">
                <a16:creationId xmlns:a16="http://schemas.microsoft.com/office/drawing/2014/main" id="{C4C3E109-2893-4002-A0D0-094F5C63D63E}"/>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C30E17FE-60E7-45C8-881F-FDBA1E389F7A}"/>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D32EEAEC-DF93-4B4E-9848-B257F368FAAE}"/>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BE3E28A3-CF61-46E3-A373-E8279AF81295}"/>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2065096486"/>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CD99214-5132-4A8F-A156-72DD098871C6}"/>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V7_D_N06</a:t>
            </a:r>
          </a:p>
        </p:txBody>
      </p:sp>
      <p:sp>
        <p:nvSpPr>
          <p:cNvPr id="2" name="">
            <a:extLst xmlns:a="http://schemas.openxmlformats.org/drawingml/2006/main">
              <a:ext uri="{FF2B5EF4-FFF2-40B4-BE49-F238E27FC236}">
                <a16:creationId xmlns:a16="http://schemas.microsoft.com/office/drawing/2014/main" id="{BFCAAEA6-92AA-4086-8CB9-09D56044277D}"/>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6651ED96-F755-4B76-A8A6-D0312CD27366}"/>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BB07F612-4BAF-4B07-B092-73882082F5E8}"/>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52B574E8-52A6-4670-8901-25F368D4D3AD}"/>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Prioritize infrastructure action and test lifecycle, uncertainty, and equity gates.</a:t>
            </a:r>
          </a:p>
        </p:txBody>
      </p:sp>
      <p:sp>
        <p:nvSpPr>
          <p:cNvPr id="6" name="">
            <a:extLst xmlns:a="http://schemas.openxmlformats.org/drawingml/2006/main">
              <a:ext uri="{FF2B5EF4-FFF2-40B4-BE49-F238E27FC236}">
                <a16:creationId xmlns:a16="http://schemas.microsoft.com/office/drawing/2014/main" id="{D4EE3E4C-56CB-4431-9617-BFA3F9F8D40E}"/>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C6A167C0-98FB-4271-9FDD-DCCE65AA09F5}"/>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EF3866AB-A0CC-4969-92F5-E6EE43CACB1A}"/>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2BC02AF6-D06E-4ED2-B67A-A6991EE830D2}"/>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5F2F635A-CC16-4089-BC4C-1B5C4C4990DC}"/>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51EADD13-98F4-4441-8700-763343E5AB30}"/>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F2B14B29-51C4-4DD5-8002-73051A52DE3A}"/>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E9111B84-0462-4459-8D8A-B6095DE34EDD}"/>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449287E8-0518-4F50-A812-9A4591FC7B50}"/>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605C9650-6ED4-45CA-937B-51ADCFEBAAEB}"/>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55EA5919-5207-4538-907B-1D05A2BA4015}"/>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49DB5238-2771-40BF-BF14-7CE392DC345A}"/>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480076414"/>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37AF8D0-4F7A-4ABC-924F-24BAA3FD9CE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V7_D_N06</a:t>
            </a:r>
          </a:p>
        </p:txBody>
      </p:sp>
      <p:sp>
        <p:nvSpPr>
          <p:cNvPr id="2" name="">
            <a:extLst xmlns:a="http://schemas.openxmlformats.org/drawingml/2006/main">
              <a:ext uri="{FF2B5EF4-FFF2-40B4-BE49-F238E27FC236}">
                <a16:creationId xmlns:a16="http://schemas.microsoft.com/office/drawing/2014/main" id="{A44C235C-7648-495C-A13B-7320B1525981}"/>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1C8341EB-3C41-4246-99B2-96DEDCA69F6D}"/>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56E39DB6-9D7C-4BAF-A6B0-90BDECCF02D6}"/>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41C9C26D-CCDF-4D0D-ACBA-2398EF8A8209}"/>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7CF3391F-8503-4219-BEB7-828AC952EFF0}"/>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4BE75337-A8B4-42CC-B963-11AA9A779FB2}"/>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72B3A769-B5B6-42A0-BDD5-9F620FEE2D59}"/>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A5965738-D9F1-4FF4-8D4F-389D96C19F88}"/>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D04C03CF-67CD-4C26-9449-24E0E9D9E007}"/>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AC049826-079D-4270-AF11-B9D9F11AB092}"/>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EA7F832C-563A-4937-B1EF-78C821396646}"/>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1903A2A5-4486-48D4-B448-44E66A156EFB}"/>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848C5487-8852-4389-B797-23A6D7E55196}"/>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100018372"/>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D4F7F06-83F1-41E0-B524-FC6A7DB2179A}"/>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V7_D_N06</a:t>
            </a:r>
          </a:p>
        </p:txBody>
      </p:sp>
      <p:sp>
        <p:nvSpPr>
          <p:cNvPr id="2" name="">
            <a:extLst xmlns:a="http://schemas.openxmlformats.org/drawingml/2006/main">
              <a:ext uri="{FF2B5EF4-FFF2-40B4-BE49-F238E27FC236}">
                <a16:creationId xmlns:a16="http://schemas.microsoft.com/office/drawing/2014/main" id="{CE845E4C-069F-4224-BEAE-52A21E285E0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AB2329ED-6508-4643-8DB2-49E4C39A593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C2E0612-37E6-4548-B2C7-52D2E8B9BFF8}"/>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09722368-4E44-49D8-9021-31A816CE6B50}"/>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C0492131-38CB-4C21-98EF-C0C661F4E57A}"/>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3BDC1F05-F7D6-44DC-B39F-6787E3B30F58}"/>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4BB5D03C-D63A-4D3B-87F6-BACFCC2E38C0}"/>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93980EB7-7901-49B5-9A8B-F803714F3B3B}"/>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E0A31A3D-E85D-4912-AAA1-EF59EB28692D}"/>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365724952"/>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F5C199B-85DA-4F6D-950D-A27DF939A0D4}"/>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CC90F888-F57B-4103-B711-ED89F07FDD7D}"/>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8DA63C85-55C6-4D75-954F-EAF21AF7FDEB}"/>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Condition</a:t>
            </a:r>
          </a:p>
        </p:txBody>
      </p:sp>
      <p:sp>
        <p:nvSpPr>
          <p:cNvPr id="4" name="">
            <a:extLst xmlns:a="http://schemas.openxmlformats.org/drawingml/2006/main">
              <a:ext uri="{FF2B5EF4-FFF2-40B4-BE49-F238E27FC236}">
                <a16:creationId xmlns:a16="http://schemas.microsoft.com/office/drawing/2014/main" id="{A4CC143E-7F7E-4D7C-B10F-7B69FFC90189}"/>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538B700C-96CE-4787-90FD-DB9817CE066F}"/>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Criticality</a:t>
            </a:r>
          </a:p>
        </p:txBody>
      </p:sp>
      <p:sp>
        <p:nvSpPr>
          <p:cNvPr id="6" name="">
            <a:extLst xmlns:a="http://schemas.openxmlformats.org/drawingml/2006/main">
              <a:ext uri="{FF2B5EF4-FFF2-40B4-BE49-F238E27FC236}">
                <a16:creationId xmlns:a16="http://schemas.microsoft.com/office/drawing/2014/main" id="{FEBA124E-819F-451B-9801-E5C867F14180}"/>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9D8501D9-9053-4A1D-9833-D889F40C79C5}"/>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Failure risk</a:t>
            </a:r>
          </a:p>
        </p:txBody>
      </p:sp>
      <p:sp>
        <p:nvSpPr>
          <p:cNvPr id="8" name="">
            <a:extLst xmlns:a="http://schemas.openxmlformats.org/drawingml/2006/main">
              <a:ext uri="{FF2B5EF4-FFF2-40B4-BE49-F238E27FC236}">
                <a16:creationId xmlns:a16="http://schemas.microsoft.com/office/drawing/2014/main" id="{76BA528B-03A9-4ABF-9876-429AC3AAD9E2}"/>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A70A8618-C44E-49D5-A946-4BEF90667316}"/>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Lifecycle cost</a:t>
            </a:r>
          </a:p>
        </p:txBody>
      </p:sp>
      <p:sp>
        <p:nvSpPr>
          <p:cNvPr id="10" name="">
            <a:extLst xmlns:a="http://schemas.openxmlformats.org/drawingml/2006/main">
              <a:ext uri="{FF2B5EF4-FFF2-40B4-BE49-F238E27FC236}">
                <a16:creationId xmlns:a16="http://schemas.microsoft.com/office/drawing/2014/main" id="{2C90D08B-9538-4D28-A908-74A6024A8EC4}"/>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EB793A99-674E-4C4E-A2EC-DBE299C8E7AB}"/>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Equity</a:t>
            </a:r>
          </a:p>
        </p:txBody>
      </p:sp>
      <p:sp>
        <p:nvSpPr>
          <p:cNvPr id="12" name="">
            <a:extLst xmlns:a="http://schemas.openxmlformats.org/drawingml/2006/main">
              <a:ext uri="{FF2B5EF4-FFF2-40B4-BE49-F238E27FC236}">
                <a16:creationId xmlns:a16="http://schemas.microsoft.com/office/drawing/2014/main" id="{C64F0406-FCC0-42C9-8A06-A60B2C1F4948}"/>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5168065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2026-09-04T15:44:32.9730000Z</dcterms:created>
  <dcterms:modified xsi:type="dcterms:W3CDTF">2026-09-04T15:44:32.9730000Z</dcterms:modified>
</coreProperties>
</file>