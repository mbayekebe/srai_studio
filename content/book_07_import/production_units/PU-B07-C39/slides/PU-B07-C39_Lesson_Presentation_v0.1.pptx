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c0ebb3f6c1468f" /><Relationship Type="http://schemas.openxmlformats.org/officeDocument/2006/relationships/extended-properties" Target="/docProps/app.xml" Id="Raa22cdc436e243be" /><Relationship Type="http://schemas.openxmlformats.org/officeDocument/2006/relationships/officeDocument" Target="/ppt/presentation.xml" Id="Rb3943b94c8974877" /></Relationships>
</file>

<file path=ppt/presentation.xml><?xml version="1.0" encoding="utf-8"?>
<p:presentation xmlns:p="http://schemas.openxmlformats.org/presentationml/2006/main">
  <p:sldMasterIdLst>
    <p:sldMasterId xmlns:r="http://schemas.openxmlformats.org/officeDocument/2006/relationships" id="2147483648" r:id="R576f848f8a2d4193"/>
  </p:sldMasterIdLst>
  <p:notesMasterIdLst>
    <p:notesMasterId xmlns:r="http://schemas.openxmlformats.org/officeDocument/2006/relationships" r:id="Re87c5df2772a4c77"/>
  </p:notesMasterIdLst>
  <p:sldIdLst>
    <p:sldId xmlns:r="http://schemas.openxmlformats.org/officeDocument/2006/relationships" id="256" r:id="R4358e3012f26404f"/>
    <p:sldId xmlns:r="http://schemas.openxmlformats.org/officeDocument/2006/relationships" id="257" r:id="R16a24b1827a1493c"/>
    <p:sldId xmlns:r="http://schemas.openxmlformats.org/officeDocument/2006/relationships" id="258" r:id="R845cdbd3face40e7"/>
    <p:sldId xmlns:r="http://schemas.openxmlformats.org/officeDocument/2006/relationships" id="259" r:id="Rc0f2f472928e4b76"/>
    <p:sldId xmlns:r="http://schemas.openxmlformats.org/officeDocument/2006/relationships" id="260" r:id="Ra8733901c1554704"/>
    <p:sldId xmlns:r="http://schemas.openxmlformats.org/officeDocument/2006/relationships" id="261" r:id="R029fbd13cb8c4565"/>
    <p:sldId xmlns:r="http://schemas.openxmlformats.org/officeDocument/2006/relationships" id="262" r:id="R3707aec5b61a4869"/>
    <p:sldId xmlns:r="http://schemas.openxmlformats.org/officeDocument/2006/relationships" id="263" r:id="R818d1bd1fcc844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b3b10425ec487a" /><Relationship Type="http://schemas.openxmlformats.org/officeDocument/2006/relationships/slideMaster" Target="/ppt/slideMasters/slideMaster1.xml" Id="R576f848f8a2d4193" /><Relationship Type="http://schemas.openxmlformats.org/officeDocument/2006/relationships/notesMaster" Target="/ppt/notesMasters/notesMaster1.xml" Id="Re87c5df2772a4c77" /><Relationship Type="http://schemas.openxmlformats.org/officeDocument/2006/relationships/presProps" Target="/ppt/presProps.xml" Id="R8954673be6fe46e1" /><Relationship Type="http://schemas.openxmlformats.org/officeDocument/2006/relationships/tableStyles" Target="/ppt/tableStyles.xml" Id="Rf35c69dd44d74264" /><Relationship Type="http://schemas.openxmlformats.org/officeDocument/2006/relationships/slide" Target="/ppt/slides/slide1.xml" Id="R4358e3012f26404f" /><Relationship Type="http://schemas.openxmlformats.org/officeDocument/2006/relationships/slide" Target="/ppt/slides/slide2.xml" Id="R16a24b1827a1493c" /><Relationship Type="http://schemas.openxmlformats.org/officeDocument/2006/relationships/slide" Target="/ppt/slides/slide3.xml" Id="R845cdbd3face40e7" /><Relationship Type="http://schemas.openxmlformats.org/officeDocument/2006/relationships/slide" Target="/ppt/slides/slide4.xml" Id="Rc0f2f472928e4b76" /><Relationship Type="http://schemas.openxmlformats.org/officeDocument/2006/relationships/slide" Target="/ppt/slides/slide5.xml" Id="Ra8733901c1554704" /><Relationship Type="http://schemas.openxmlformats.org/officeDocument/2006/relationships/slide" Target="/ppt/slides/slide6.xml" Id="R029fbd13cb8c4565" /><Relationship Type="http://schemas.openxmlformats.org/officeDocument/2006/relationships/slide" Target="/ppt/slides/slide7.xml" Id="R3707aec5b61a4869" /><Relationship Type="http://schemas.openxmlformats.org/officeDocument/2006/relationships/slide" Target="/ppt/slides/slide8.xml" Id="R818d1bd1fcc844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122ab5141b422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7413bac40646f2" /><Relationship Type="http://schemas.openxmlformats.org/officeDocument/2006/relationships/notesMaster" Target="/ppt/notesMasters/notesMaster1.xml" Id="Re7ecdc18f0e74d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b71be88f3b479a" /><Relationship Type="http://schemas.openxmlformats.org/officeDocument/2006/relationships/notesMaster" Target="/ppt/notesMasters/notesMaster1.xml" Id="Rd1e4f8e1642c4bd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07f80787a14493" /><Relationship Type="http://schemas.openxmlformats.org/officeDocument/2006/relationships/notesMaster" Target="/ppt/notesMasters/notesMaster1.xml" Id="R4fdbab4075204e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ae76fe61d24185" /><Relationship Type="http://schemas.openxmlformats.org/officeDocument/2006/relationships/notesMaster" Target="/ppt/notesMasters/notesMaster1.xml" Id="Rfac0bfb1c5f340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fa17146ffad140c7" /><Relationship Type="http://schemas.openxmlformats.org/officeDocument/2006/relationships/notesMaster" Target="/ppt/notesMasters/notesMaster1.xml" Id="Re75a0edb27c743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2e8558ea294b4b" /><Relationship Type="http://schemas.openxmlformats.org/officeDocument/2006/relationships/notesMaster" Target="/ppt/notesMasters/notesMaster1.xml" Id="Rf40ee0c525314eee"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268111b3a8497b" /><Relationship Type="http://schemas.openxmlformats.org/officeDocument/2006/relationships/notesMaster" Target="/ppt/notesMasters/notesMaster1.xml" Id="Ra218ca5010b04d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e979f078df4651" /><Relationship Type="http://schemas.openxmlformats.org/officeDocument/2006/relationships/notesMaster" Target="/ppt/notesMasters/notesMaster1.xml" Id="Rac0ed5879faf47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Plan Seats Before Crowding Arrives. This lesson begins with one principle: school-capacity planning must make demographic uncertainty visible.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V7_C_N04,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School-capacity planning must make demographic uncertainty visible. The five controls shown here are Demography, Enrolment flow, Accessibility, Scenario, Capacity. Together, they prevent an education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V7_C_N04,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demography, move through enrolment flow and accessibility, and finish with scenario and capacity.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V7_C_N04,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education example. A planning team tests demand scenarios before expanding classrooms or changing catchments.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V7_C_N04,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Model school-seat demand and test uncertainty and accessibility gates.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V7_C_N04,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education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V7_C_N04,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V7_C_N04,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demography clear? Is enrolment flow documented? Is accessibility testable? Is scenario governed? And is capacity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V7_C_N04,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a2eeec23fd4e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5a4934e59949de" /><Relationship Type="http://schemas.openxmlformats.org/officeDocument/2006/relationships/slideLayout" Target="/ppt/slideLayouts/slideLayout1.xml" Id="Re6d35604d28d4d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d35604d28d4d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64833f31b8f45e1" /><Relationship Type="http://schemas.openxmlformats.org/officeDocument/2006/relationships/notesSlide" Target="/ppt/notesSlides/notesSlide1.xml" Id="R436a452d70a346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61e7c8bad194fa4" /><Relationship Type="http://schemas.openxmlformats.org/officeDocument/2006/relationships/notesSlide" Target="/ppt/notesSlides/notesSlide2.xml" Id="Ref41ff68f14d4ca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b6b3907c81e4558" /><Relationship Type="http://schemas.openxmlformats.org/officeDocument/2006/relationships/notesSlide" Target="/ppt/notesSlides/notesSlide3.xml" Id="R8e0582d48465480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924d618883e4979" /><Relationship Type="http://schemas.openxmlformats.org/officeDocument/2006/relationships/notesSlide" Target="/ppt/notesSlides/notesSlide4.xml" Id="Rb0f710939cf04f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a5e00d181244a06" /><Relationship Type="http://schemas.openxmlformats.org/officeDocument/2006/relationships/notesSlide" Target="/ppt/notesSlides/notesSlide5.xml" Id="Rd6a7a035fcc843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1d043fda5d94462" /><Relationship Type="http://schemas.openxmlformats.org/officeDocument/2006/relationships/notesSlide" Target="/ppt/notesSlides/notesSlide6.xml" Id="Re4964091d0e841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e14688cf2db4fe0" /><Relationship Type="http://schemas.openxmlformats.org/officeDocument/2006/relationships/notesSlide" Target="/ppt/notesSlides/notesSlide7.xml" Id="R451ef047547d433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96b6808718c42b7" /><Relationship Type="http://schemas.openxmlformats.org/officeDocument/2006/relationships/notesSlide" Target="/ppt/notesSlides/notesSlide8.xml" Id="R50446b143db64086"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FBC7863-1B1A-4D22-82D4-41FF6528C6A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CF022387-0E18-4899-87D8-86067C7BF711}"/>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1AF570E1-0015-47FB-9F09-150D33623FC1}"/>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EFA2479F-6471-44DA-B3F6-52B323D6BD34}"/>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EDUCATION TRACK</a:t>
            </a:r>
          </a:p>
        </p:txBody>
      </p:sp>
      <p:sp>
        <p:nvSpPr>
          <p:cNvPr id="5" name="">
            <a:extLst xmlns:a="http://schemas.openxmlformats.org/drawingml/2006/main">
              <a:ext uri="{FF2B5EF4-FFF2-40B4-BE49-F238E27FC236}">
                <a16:creationId xmlns:a16="http://schemas.microsoft.com/office/drawing/2014/main" id="{A1BF20AC-A44B-47BD-94BE-2E105A4EF3F0}"/>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PLAN SEATS BEFORE CROWDING ARRIVES</a:t>
            </a:r>
          </a:p>
        </p:txBody>
      </p:sp>
      <p:sp>
        <p:nvSpPr>
          <p:cNvPr id="6" name="">
            <a:extLst xmlns:a="http://schemas.openxmlformats.org/drawingml/2006/main">
              <a:ext uri="{FF2B5EF4-FFF2-40B4-BE49-F238E27FC236}">
                <a16:creationId xmlns:a16="http://schemas.microsoft.com/office/drawing/2014/main" id="{549F6F86-F953-42FE-B1F1-E97AF6A5A2AC}"/>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School-capacity planning must make demographic uncertainty visible.</a:t>
            </a:r>
          </a:p>
        </p:txBody>
      </p:sp>
      <p:sp>
        <p:nvSpPr>
          <p:cNvPr id="7" name="">
            <a:extLst xmlns:a="http://schemas.openxmlformats.org/drawingml/2006/main">
              <a:ext uri="{FF2B5EF4-FFF2-40B4-BE49-F238E27FC236}">
                <a16:creationId xmlns:a16="http://schemas.microsoft.com/office/drawing/2014/main" id="{BE8E521A-6F7F-4127-8084-660BEB9BE38E}"/>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V7_C_N04</a:t>
            </a:r>
          </a:p>
        </p:txBody>
      </p:sp>
      <p:sp>
        <p:nvSpPr>
          <p:cNvPr id="8" name="">
            <a:extLst xmlns:a="http://schemas.openxmlformats.org/drawingml/2006/main">
              <a:ext uri="{FF2B5EF4-FFF2-40B4-BE49-F238E27FC236}">
                <a16:creationId xmlns:a16="http://schemas.microsoft.com/office/drawing/2014/main" id="{1FC19E5B-8B65-4022-94E1-2C3589901978}"/>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PU-B07-C39</a:t>
            </a:r>
          </a:p>
        </p:txBody>
      </p:sp>
      <p:sp>
        <p:nvSpPr>
          <p:cNvPr id="9" name="">
            <a:extLst xmlns:a="http://schemas.openxmlformats.org/drawingml/2006/main">
              <a:ext uri="{FF2B5EF4-FFF2-40B4-BE49-F238E27FC236}">
                <a16:creationId xmlns:a16="http://schemas.microsoft.com/office/drawing/2014/main" id="{7E4C1463-7482-44EE-B3B1-2C1C31CE7685}"/>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ABEA4747-3F35-4A16-A5D1-3C6D925A30D1}"/>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11730937"/>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1848A0E-82BD-4092-A2EE-46FCC1714EEE}"/>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V7_C_N04</a:t>
            </a:r>
          </a:p>
        </p:txBody>
      </p:sp>
      <p:sp>
        <p:nvSpPr>
          <p:cNvPr id="2" name="">
            <a:extLst xmlns:a="http://schemas.openxmlformats.org/drawingml/2006/main">
              <a:ext uri="{FF2B5EF4-FFF2-40B4-BE49-F238E27FC236}">
                <a16:creationId xmlns:a16="http://schemas.microsoft.com/office/drawing/2014/main" id="{955FA7A0-4A55-447E-AC88-CD5FD14EF4DF}"/>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4AB57CAA-B494-4333-AA53-7224D251A382}"/>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B475140-0BD3-4E6E-A937-54ED1F80C326}"/>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69501ECE-BA80-4F4A-89DB-9DEDDB4C0623}"/>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School-capacity planning must make demographic uncertainty visible.</a:t>
            </a:r>
          </a:p>
        </p:txBody>
      </p:sp>
      <p:sp>
        <p:nvSpPr>
          <p:cNvPr id="6" name="">
            <a:extLst xmlns:a="http://schemas.openxmlformats.org/drawingml/2006/main">
              <a:ext uri="{FF2B5EF4-FFF2-40B4-BE49-F238E27FC236}">
                <a16:creationId xmlns:a16="http://schemas.microsoft.com/office/drawing/2014/main" id="{301426C0-BF83-462F-878D-3D0AB1C8C9A1}"/>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757389D6-6436-4536-81F5-F17EA35DEA3A}"/>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3C04274A-134D-4137-9D1B-BB33ADA2900E}"/>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Demography</a:t>
            </a:r>
          </a:p>
        </p:txBody>
      </p:sp>
      <p:sp>
        <p:nvSpPr>
          <p:cNvPr id="9" name="">
            <a:extLst xmlns:a="http://schemas.openxmlformats.org/drawingml/2006/main">
              <a:ext uri="{FF2B5EF4-FFF2-40B4-BE49-F238E27FC236}">
                <a16:creationId xmlns:a16="http://schemas.microsoft.com/office/drawing/2014/main" id="{EDFE998A-FC51-4AD6-AF64-347AC6BA885A}"/>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08637BDD-B536-4F19-9A98-FD141F96DCB5}"/>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Enrolment flow</a:t>
            </a:r>
          </a:p>
        </p:txBody>
      </p:sp>
      <p:sp>
        <p:nvSpPr>
          <p:cNvPr id="11" name="">
            <a:extLst xmlns:a="http://schemas.openxmlformats.org/drawingml/2006/main">
              <a:ext uri="{FF2B5EF4-FFF2-40B4-BE49-F238E27FC236}">
                <a16:creationId xmlns:a16="http://schemas.microsoft.com/office/drawing/2014/main" id="{4C63E162-DA4F-4C0B-8DC9-795E76A8DD30}"/>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6549A11F-1C41-4A52-BA2C-24CE8EC6C792}"/>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Accessibility</a:t>
            </a:r>
          </a:p>
        </p:txBody>
      </p:sp>
      <p:sp>
        <p:nvSpPr>
          <p:cNvPr id="13" name="">
            <a:extLst xmlns:a="http://schemas.openxmlformats.org/drawingml/2006/main">
              <a:ext uri="{FF2B5EF4-FFF2-40B4-BE49-F238E27FC236}">
                <a16:creationId xmlns:a16="http://schemas.microsoft.com/office/drawing/2014/main" id="{2E6514D0-D504-4682-B57F-92EF31B60AA6}"/>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B918C981-EC1C-4D57-B7C0-7CC854D60F98}"/>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Scenario</a:t>
            </a:r>
          </a:p>
        </p:txBody>
      </p:sp>
      <p:sp>
        <p:nvSpPr>
          <p:cNvPr id="15" name="">
            <a:extLst xmlns:a="http://schemas.openxmlformats.org/drawingml/2006/main">
              <a:ext uri="{FF2B5EF4-FFF2-40B4-BE49-F238E27FC236}">
                <a16:creationId xmlns:a16="http://schemas.microsoft.com/office/drawing/2014/main" id="{7CA60172-F420-40DB-962C-DAB22E336186}"/>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9B6BA021-C43D-4A43-944D-991F7B244D1B}"/>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Capacity</a:t>
            </a:r>
          </a:p>
        </p:txBody>
      </p:sp>
      <p:sp>
        <p:nvSpPr>
          <p:cNvPr id="17" name="">
            <a:extLst xmlns:a="http://schemas.openxmlformats.org/drawingml/2006/main">
              <a:ext uri="{FF2B5EF4-FFF2-40B4-BE49-F238E27FC236}">
                <a16:creationId xmlns:a16="http://schemas.microsoft.com/office/drawing/2014/main" id="{271178F1-ACE2-428B-884E-4BB272D0B66F}"/>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92994640"/>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30B284C-51DB-4EDB-A253-BD165874AF57}"/>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V7_C_N04</a:t>
            </a:r>
          </a:p>
        </p:txBody>
      </p:sp>
      <p:sp>
        <p:nvSpPr>
          <p:cNvPr id="2" name="">
            <a:extLst xmlns:a="http://schemas.openxmlformats.org/drawingml/2006/main">
              <a:ext uri="{FF2B5EF4-FFF2-40B4-BE49-F238E27FC236}">
                <a16:creationId xmlns:a16="http://schemas.microsoft.com/office/drawing/2014/main" id="{18536D80-BCD2-4889-8981-D08767624B35}"/>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126982F7-F03B-4549-8E75-C66FAA252BE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751B0AE4-730A-43A4-9371-746210127632}"/>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A940A296-F1EF-4736-9404-700A1D45A08C}"/>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50B57104-666F-4410-83A9-167AAB2CC457}"/>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F56EE2B0-7306-4185-BCE7-2D6D72E75248}"/>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Demography</a:t>
            </a:r>
          </a:p>
        </p:txBody>
      </p:sp>
      <p:sp>
        <p:nvSpPr>
          <p:cNvPr id="8" name="">
            <a:extLst xmlns:a="http://schemas.openxmlformats.org/drawingml/2006/main">
              <a:ext uri="{FF2B5EF4-FFF2-40B4-BE49-F238E27FC236}">
                <a16:creationId xmlns:a16="http://schemas.microsoft.com/office/drawing/2014/main" id="{A1A3D5A5-5739-46E0-B90B-DACECE18CF7C}"/>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C4B0E05D-3654-401A-83A9-6AF350CD4FAE}"/>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B51CF8D4-0225-4D34-AAF8-686A5AC27532}"/>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Enrolment flow</a:t>
            </a:r>
          </a:p>
        </p:txBody>
      </p:sp>
      <p:sp>
        <p:nvSpPr>
          <p:cNvPr id="11" name="">
            <a:extLst xmlns:a="http://schemas.openxmlformats.org/drawingml/2006/main">
              <a:ext uri="{FF2B5EF4-FFF2-40B4-BE49-F238E27FC236}">
                <a16:creationId xmlns:a16="http://schemas.microsoft.com/office/drawing/2014/main" id="{77DF7D2C-04EA-4699-927C-FAE2EA258BFE}"/>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90B9855B-3AA8-42BE-AD64-7A1ED0F4122F}"/>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BC45BFCD-5D2E-4FFE-B026-DDD347B8E7E1}"/>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Accessibility</a:t>
            </a:r>
          </a:p>
        </p:txBody>
      </p:sp>
      <p:sp>
        <p:nvSpPr>
          <p:cNvPr id="14" name="">
            <a:extLst xmlns:a="http://schemas.openxmlformats.org/drawingml/2006/main">
              <a:ext uri="{FF2B5EF4-FFF2-40B4-BE49-F238E27FC236}">
                <a16:creationId xmlns:a16="http://schemas.microsoft.com/office/drawing/2014/main" id="{F5928F43-FFF0-43AE-872C-18AF83B43757}"/>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581B7932-C3C7-40F7-8CED-7FBE963611A9}"/>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739C32C4-1DC3-4C0A-8C0B-5496970A0E3A}"/>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Scenario</a:t>
            </a:r>
          </a:p>
        </p:txBody>
      </p:sp>
      <p:sp>
        <p:nvSpPr>
          <p:cNvPr id="17" name="">
            <a:extLst xmlns:a="http://schemas.openxmlformats.org/drawingml/2006/main">
              <a:ext uri="{FF2B5EF4-FFF2-40B4-BE49-F238E27FC236}">
                <a16:creationId xmlns:a16="http://schemas.microsoft.com/office/drawing/2014/main" id="{6222FE67-93EA-40DB-A0C6-0E799E5FE4EE}"/>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B847765F-8BFA-4197-B4A9-B9C30A719AD4}"/>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C544DD31-DAC1-436E-B064-7386EFB594E0}"/>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Capacity</a:t>
            </a:r>
          </a:p>
        </p:txBody>
      </p:sp>
      <p:sp>
        <p:nvSpPr>
          <p:cNvPr id="20" name="">
            <a:extLst xmlns:a="http://schemas.openxmlformats.org/drawingml/2006/main">
              <a:ext uri="{FF2B5EF4-FFF2-40B4-BE49-F238E27FC236}">
                <a16:creationId xmlns:a16="http://schemas.microsoft.com/office/drawing/2014/main" id="{3D1EE936-E2AC-435B-A324-E11A9BBF201F}"/>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555780183"/>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9375F8D-DEFE-47C8-9F00-708364E0E21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V7_C_N04</a:t>
            </a:r>
          </a:p>
        </p:txBody>
      </p:sp>
      <p:sp>
        <p:nvSpPr>
          <p:cNvPr id="2" name="">
            <a:extLst xmlns:a="http://schemas.openxmlformats.org/drawingml/2006/main">
              <a:ext uri="{FF2B5EF4-FFF2-40B4-BE49-F238E27FC236}">
                <a16:creationId xmlns:a16="http://schemas.microsoft.com/office/drawing/2014/main" id="{E51BA70E-A5AC-42C5-AD88-B6CAAD08C520}"/>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2D3A0659-057D-4D1C-8D72-A8404BEC25F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8E14F28E-AB34-489D-9B3D-F8AD8F00B4EC}"/>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60D529E8-6EE5-43EB-817E-BD0DC65AF24F}"/>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523DFA40-ED5A-471F-BAE3-75696FDA0035}"/>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81E91F52-4B66-4AE1-BC8F-A11FAA1C0691}"/>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planning team tests demand scenarios before expanding classrooms or changing catchments.</a:t>
            </a:r>
          </a:p>
        </p:txBody>
      </p:sp>
      <p:sp>
        <p:nvSpPr>
          <p:cNvPr id="8" name="">
            <a:extLst xmlns:a="http://schemas.openxmlformats.org/drawingml/2006/main">
              <a:ext uri="{FF2B5EF4-FFF2-40B4-BE49-F238E27FC236}">
                <a16:creationId xmlns:a16="http://schemas.microsoft.com/office/drawing/2014/main" id="{5E23F8E4-1937-464F-80B6-43B078D6A03F}"/>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87FBA667-195C-4860-B42C-ED863A84595F}"/>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571C28E4-D33E-4055-AB31-9D2798837771}"/>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F8FE7079-2F3E-49A5-A82D-5912E9148B79}"/>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491119075"/>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A90A0A0-3A4F-44F9-BCBE-48E5375410E7}"/>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V7_C_N04</a:t>
            </a:r>
          </a:p>
        </p:txBody>
      </p:sp>
      <p:sp>
        <p:nvSpPr>
          <p:cNvPr id="2" name="">
            <a:extLst xmlns:a="http://schemas.openxmlformats.org/drawingml/2006/main">
              <a:ext uri="{FF2B5EF4-FFF2-40B4-BE49-F238E27FC236}">
                <a16:creationId xmlns:a16="http://schemas.microsoft.com/office/drawing/2014/main" id="{DBD0B25D-6A89-448F-AB64-7D01097C21F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A574C2DB-BB58-4091-B153-BF1DFDF40622}"/>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D79A675-2373-4E2D-A869-77EA3F715BFC}"/>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4E2EEDBD-69E6-4865-82EE-110A2346943E}"/>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Model school-seat demand and test uncertainty and accessibility gates.</a:t>
            </a:r>
          </a:p>
        </p:txBody>
      </p:sp>
      <p:sp>
        <p:nvSpPr>
          <p:cNvPr id="6" name="">
            <a:extLst xmlns:a="http://schemas.openxmlformats.org/drawingml/2006/main">
              <a:ext uri="{FF2B5EF4-FFF2-40B4-BE49-F238E27FC236}">
                <a16:creationId xmlns:a16="http://schemas.microsoft.com/office/drawing/2014/main" id="{E4403B7A-E3AE-4DE1-8103-BAE633042BEB}"/>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F58DBEA2-8AE7-4F2D-BD2D-ED97EEE6C17F}"/>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0840F398-4206-48A0-A487-566761A17535}"/>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8C3A24D8-BF5D-46C7-AD7B-8CA0C697CDF7}"/>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DD94B73B-3C0A-43F5-8593-EA24D747CAF6}"/>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5D1466C6-CB5A-4FCB-9450-BE0B34E44B42}"/>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CE09C980-7A9A-441E-BAC2-A605A7E17D7C}"/>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EF588860-9235-440F-8C4B-41B3DEEEEFDB}"/>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DA8646FA-07DE-4F28-9FC5-1F215B15D4B0}"/>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96A62C1D-8847-4E09-B6EA-441AB7C56F01}"/>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A9D65626-40AF-41DC-B2C9-84F7E6545A23}"/>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F77AC477-2050-42DD-951A-C6C173CAE67F}"/>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580548175"/>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C237C0A-9FED-4001-B281-A86198D9685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V7_C_N04</a:t>
            </a:r>
          </a:p>
        </p:txBody>
      </p:sp>
      <p:sp>
        <p:nvSpPr>
          <p:cNvPr id="2" name="">
            <a:extLst xmlns:a="http://schemas.openxmlformats.org/drawingml/2006/main">
              <a:ext uri="{FF2B5EF4-FFF2-40B4-BE49-F238E27FC236}">
                <a16:creationId xmlns:a16="http://schemas.microsoft.com/office/drawing/2014/main" id="{5417572C-C3A3-4A4B-B3BF-7083C45CAA9F}"/>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7B9FCA69-04B9-4009-AC56-8A06EA863296}"/>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433A1443-B021-4451-BD14-AE7D17FA51B0}"/>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3A5FD342-A610-4BD3-9FFE-E913B92410C1}"/>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21BC956B-936E-431B-89D4-19D636986281}"/>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A509BDA8-EADD-4BB9-B26F-0CBD8C4AA531}"/>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91DA8339-6D2E-4C51-AA97-1449E593148D}"/>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C55EDDBA-8F99-4974-9CCE-4E6D8AEE109B}"/>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54D41270-F2A9-46D0-8087-2B22267934DE}"/>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785E15D5-DA0D-4B1F-86B6-019DA76A1304}"/>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95EEEC97-9518-4B5B-AE8B-7FA67919506E}"/>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2EB42EAF-F739-4764-A89B-33F1572EDC3B}"/>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2639AEAE-BF99-488C-B3F3-D39B0C364A26}"/>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942249961"/>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126A10C-9B5E-4E1E-AE7F-853009FC5EE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V7_C_N04</a:t>
            </a:r>
          </a:p>
        </p:txBody>
      </p:sp>
      <p:sp>
        <p:nvSpPr>
          <p:cNvPr id="2" name="">
            <a:extLst xmlns:a="http://schemas.openxmlformats.org/drawingml/2006/main">
              <a:ext uri="{FF2B5EF4-FFF2-40B4-BE49-F238E27FC236}">
                <a16:creationId xmlns:a16="http://schemas.microsoft.com/office/drawing/2014/main" id="{30BC643D-A31F-471F-B230-763A49F0CD37}"/>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C5F04815-8F44-4B3D-B95E-10909D713A9E}"/>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FE0B31E9-428E-44DE-AF55-165FA2F9202B}"/>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DB4D7F98-51F8-4F21-B54C-B85D58AED0CC}"/>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3B4B3D68-3978-4E2F-B653-1B62DE6871E2}"/>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2540AE68-3082-47AE-BB69-4987EBF85198}"/>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95FAD579-580D-4747-8EE7-135BC738815D}"/>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1C8433CC-37D6-4163-9AE1-9B2D04168537}"/>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F84CC1B9-D492-4EC5-BEED-736F984AC8CF}"/>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996048172"/>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C761DC8-7A61-4783-B9F0-294F9BEF1CA3}"/>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95716546-8BAF-4FD5-BC20-EADAED029E34}"/>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1F7F3A1A-542F-44B4-AA1C-FFEDD333F61D}"/>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Demography</a:t>
            </a:r>
          </a:p>
        </p:txBody>
      </p:sp>
      <p:sp>
        <p:nvSpPr>
          <p:cNvPr id="4" name="">
            <a:extLst xmlns:a="http://schemas.openxmlformats.org/drawingml/2006/main">
              <a:ext uri="{FF2B5EF4-FFF2-40B4-BE49-F238E27FC236}">
                <a16:creationId xmlns:a16="http://schemas.microsoft.com/office/drawing/2014/main" id="{1F13A79F-B57F-4C3A-8498-9D331C74EF86}"/>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4A846418-3706-4FF1-A177-6242A4035E01}"/>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Enrolment flow</a:t>
            </a:r>
          </a:p>
        </p:txBody>
      </p:sp>
      <p:sp>
        <p:nvSpPr>
          <p:cNvPr id="6" name="">
            <a:extLst xmlns:a="http://schemas.openxmlformats.org/drawingml/2006/main">
              <a:ext uri="{FF2B5EF4-FFF2-40B4-BE49-F238E27FC236}">
                <a16:creationId xmlns:a16="http://schemas.microsoft.com/office/drawing/2014/main" id="{CB2F72AD-1458-455B-BF6B-36A5C71C9203}"/>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9664F7F4-0092-4775-9CE5-81E8C7D3D19E}"/>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Accessibility</a:t>
            </a:r>
          </a:p>
        </p:txBody>
      </p:sp>
      <p:sp>
        <p:nvSpPr>
          <p:cNvPr id="8" name="">
            <a:extLst xmlns:a="http://schemas.openxmlformats.org/drawingml/2006/main">
              <a:ext uri="{FF2B5EF4-FFF2-40B4-BE49-F238E27FC236}">
                <a16:creationId xmlns:a16="http://schemas.microsoft.com/office/drawing/2014/main" id="{8399122E-C4F8-478E-9F62-4754C3BEF918}"/>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C5E62998-734F-4E37-97E9-BC0DB6E86329}"/>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Scenario</a:t>
            </a:r>
          </a:p>
        </p:txBody>
      </p:sp>
      <p:sp>
        <p:nvSpPr>
          <p:cNvPr id="10" name="">
            <a:extLst xmlns:a="http://schemas.openxmlformats.org/drawingml/2006/main">
              <a:ext uri="{FF2B5EF4-FFF2-40B4-BE49-F238E27FC236}">
                <a16:creationId xmlns:a16="http://schemas.microsoft.com/office/drawing/2014/main" id="{D26EAF32-B0F8-4B49-8177-2E820EB75D39}"/>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0806E44A-1280-40A7-8ECF-9D5B0ED83438}"/>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Capacity</a:t>
            </a:r>
          </a:p>
        </p:txBody>
      </p:sp>
      <p:sp>
        <p:nvSpPr>
          <p:cNvPr id="12" name="">
            <a:extLst xmlns:a="http://schemas.openxmlformats.org/drawingml/2006/main">
              <a:ext uri="{FF2B5EF4-FFF2-40B4-BE49-F238E27FC236}">
                <a16:creationId xmlns:a16="http://schemas.microsoft.com/office/drawing/2014/main" id="{ACAC0401-451A-4C73-8A38-A3D1823846AD}"/>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7234630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2026-09-04T15:25:24.2760000Z</dcterms:created>
  <dcterms:modified xsi:type="dcterms:W3CDTF">2026-09-04T15:25:24.2760000Z</dcterms:modified>
</coreProperties>
</file>