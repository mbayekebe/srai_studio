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c7916af9d943ba" /><Relationship Type="http://schemas.openxmlformats.org/officeDocument/2006/relationships/extended-properties" Target="/docProps/app.xml" Id="Rc738da470afe4711" /><Relationship Type="http://schemas.openxmlformats.org/officeDocument/2006/relationships/officeDocument" Target="/ppt/presentation.xml" Id="R1f1fb1db82c840ef" /></Relationships>
</file>

<file path=ppt/presentation.xml><?xml version="1.0" encoding="utf-8"?>
<p:presentation xmlns:p="http://schemas.openxmlformats.org/presentationml/2006/main">
  <p:sldMasterIdLst>
    <p:sldMasterId xmlns:r="http://schemas.openxmlformats.org/officeDocument/2006/relationships" id="2147483648" r:id="R9aad8f851d15434a"/>
  </p:sldMasterIdLst>
  <p:notesMasterIdLst>
    <p:notesMasterId xmlns:r="http://schemas.openxmlformats.org/officeDocument/2006/relationships" r:id="Ra76b844050ce42a2"/>
  </p:notesMasterIdLst>
  <p:sldIdLst>
    <p:sldId xmlns:r="http://schemas.openxmlformats.org/officeDocument/2006/relationships" id="256" r:id="R0aeb3a4de9c34863"/>
    <p:sldId xmlns:r="http://schemas.openxmlformats.org/officeDocument/2006/relationships" id="257" r:id="R6fcdb1310abb4908"/>
    <p:sldId xmlns:r="http://schemas.openxmlformats.org/officeDocument/2006/relationships" id="258" r:id="R0e4ec22092e24b05"/>
    <p:sldId xmlns:r="http://schemas.openxmlformats.org/officeDocument/2006/relationships" id="259" r:id="R6f7078aeb48b4b3e"/>
    <p:sldId xmlns:r="http://schemas.openxmlformats.org/officeDocument/2006/relationships" id="260" r:id="R50e2aa0345f14c1a"/>
    <p:sldId xmlns:r="http://schemas.openxmlformats.org/officeDocument/2006/relationships" id="261" r:id="R73d6e48150c34d6e"/>
    <p:sldId xmlns:r="http://schemas.openxmlformats.org/officeDocument/2006/relationships" id="262" r:id="R55b237084bba4e1d"/>
    <p:sldId xmlns:r="http://schemas.openxmlformats.org/officeDocument/2006/relationships" id="263" r:id="R52acdebeee3148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5fa291cbba486d" /><Relationship Type="http://schemas.openxmlformats.org/officeDocument/2006/relationships/slideMaster" Target="/ppt/slideMasters/slideMaster1.xml" Id="R9aad8f851d15434a" /><Relationship Type="http://schemas.openxmlformats.org/officeDocument/2006/relationships/notesMaster" Target="/ppt/notesMasters/notesMaster1.xml" Id="Ra76b844050ce42a2" /><Relationship Type="http://schemas.openxmlformats.org/officeDocument/2006/relationships/presProps" Target="/ppt/presProps.xml" Id="R85ec0ebd2ada42c4" /><Relationship Type="http://schemas.openxmlformats.org/officeDocument/2006/relationships/tableStyles" Target="/ppt/tableStyles.xml" Id="Rae53580c2c6e4629" /><Relationship Type="http://schemas.openxmlformats.org/officeDocument/2006/relationships/slide" Target="/ppt/slides/slide1.xml" Id="R0aeb3a4de9c34863" /><Relationship Type="http://schemas.openxmlformats.org/officeDocument/2006/relationships/slide" Target="/ppt/slides/slide2.xml" Id="R6fcdb1310abb4908" /><Relationship Type="http://schemas.openxmlformats.org/officeDocument/2006/relationships/slide" Target="/ppt/slides/slide3.xml" Id="R0e4ec22092e24b05" /><Relationship Type="http://schemas.openxmlformats.org/officeDocument/2006/relationships/slide" Target="/ppt/slides/slide4.xml" Id="R6f7078aeb48b4b3e" /><Relationship Type="http://schemas.openxmlformats.org/officeDocument/2006/relationships/slide" Target="/ppt/slides/slide5.xml" Id="R50e2aa0345f14c1a" /><Relationship Type="http://schemas.openxmlformats.org/officeDocument/2006/relationships/slide" Target="/ppt/slides/slide6.xml" Id="R73d6e48150c34d6e" /><Relationship Type="http://schemas.openxmlformats.org/officeDocument/2006/relationships/slide" Target="/ppt/slides/slide7.xml" Id="R55b237084bba4e1d" /><Relationship Type="http://schemas.openxmlformats.org/officeDocument/2006/relationships/slide" Target="/ppt/slides/slide8.xml" Id="R52acdebeee3148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f2666a3c4d43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d1d690a330465d" /><Relationship Type="http://schemas.openxmlformats.org/officeDocument/2006/relationships/notesMaster" Target="/ppt/notesMasters/notesMaster1.xml" Id="R67dc91e617bf4e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c3abd28a4248a9" /><Relationship Type="http://schemas.openxmlformats.org/officeDocument/2006/relationships/notesMaster" Target="/ppt/notesMasters/notesMaster1.xml" Id="R4b835cf29b224c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fdf420b7234e7f" /><Relationship Type="http://schemas.openxmlformats.org/officeDocument/2006/relationships/notesMaster" Target="/ppt/notesMasters/notesMaster1.xml" Id="Re64540a838604f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8ff1d225354b94" /><Relationship Type="http://schemas.openxmlformats.org/officeDocument/2006/relationships/notesMaster" Target="/ppt/notesMasters/notesMaster1.xml" Id="R9ebc32cd30a640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b7069e2b60491c" /><Relationship Type="http://schemas.openxmlformats.org/officeDocument/2006/relationships/notesMaster" Target="/ppt/notesMasters/notesMaster1.xml" Id="Rb7cac7a0cb6e4e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d0bba0331c4142" /><Relationship Type="http://schemas.openxmlformats.org/officeDocument/2006/relationships/notesMaster" Target="/ppt/notesMasters/notesMaster1.xml" Id="R1628988c9a9c42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def7487b8d414a" /><Relationship Type="http://schemas.openxmlformats.org/officeDocument/2006/relationships/notesMaster" Target="/ppt/notesMasters/notesMaster1.xml" Id="R874b53eb766440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1b24c582474a0a" /><Relationship Type="http://schemas.openxmlformats.org/officeDocument/2006/relationships/notesMaster" Target="/ppt/notesMasters/notesMaster1.xml" Id="Re0f6170adf3f46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See the Service Gaps: Informal-Settlement Mapping. This lesson begins with one principle: service-gap mapping must support residents without exposing or stigmatizing them.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Service-gap mapping must support residents without exposing or stigmatizing them. The five controls shown here are Service gap, Participation, Privacy, Accessibility, Investment.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service gap, move through participation and privacy, and finish with accessibility and investment.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Residents and agencies validate aggregated WASH, access, drainage, and waste gaps.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Map service gaps and test privacy, participation, accessibility, and use controls.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service gap clear? Is participation documented? Is privacy testable? Is accessibility governed? And is investment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494e4bfcbe4b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74f52645d2499c" /><Relationship Type="http://schemas.openxmlformats.org/officeDocument/2006/relationships/slideLayout" Target="/ppt/slideLayouts/slideLayout1.xml" Id="R203f287ddd9c4c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3f287ddd9c4c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c2a3c12bfa4954" /><Relationship Type="http://schemas.openxmlformats.org/officeDocument/2006/relationships/notesSlide" Target="/ppt/notesSlides/notesSlide1.xml" Id="R8e4e4ffdad1246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53197ef6234939" /><Relationship Type="http://schemas.openxmlformats.org/officeDocument/2006/relationships/notesSlide" Target="/ppt/notesSlides/notesSlide2.xml" Id="Re67b4697586748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5cf057b93a45aa" /><Relationship Type="http://schemas.openxmlformats.org/officeDocument/2006/relationships/notesSlide" Target="/ppt/notesSlides/notesSlide3.xml" Id="R0341dbd8652844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ecbd212ee84d3c" /><Relationship Type="http://schemas.openxmlformats.org/officeDocument/2006/relationships/notesSlide" Target="/ppt/notesSlides/notesSlide4.xml" Id="Rcdb65ce837a84c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7c97e3d79d410c" /><Relationship Type="http://schemas.openxmlformats.org/officeDocument/2006/relationships/notesSlide" Target="/ppt/notesSlides/notesSlide5.xml" Id="R77a942f9ed464a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29c0426dad4e6e" /><Relationship Type="http://schemas.openxmlformats.org/officeDocument/2006/relationships/notesSlide" Target="/ppt/notesSlides/notesSlide6.xml" Id="R20046cc5b4ff41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47d2667cfa4d4f" /><Relationship Type="http://schemas.openxmlformats.org/officeDocument/2006/relationships/notesSlide" Target="/ppt/notesSlides/notesSlide7.xml" Id="Rc8476ca5eb3d4b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a3d93bd96e4740" /><Relationship Type="http://schemas.openxmlformats.org/officeDocument/2006/relationships/notesSlide" Target="/ppt/notesSlides/notesSlide8.xml" Id="Re25893595821487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216C1C-758F-4ABB-9949-DA8AE8805D4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447D9F26-7951-43E0-9A74-770EBB198ADA}"/>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E631688E-F06A-4C07-B3E4-1B6BCB626CBB}"/>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69CDA28E-4A2D-432E-AC49-521B2B06C601}"/>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362ACED4-EAAD-4A9F-BEB6-392D0B1DFDC6}"/>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SEE THE SERVICE GAPS: INFORMAL-SETTLEMENT MAPPING</a:t>
            </a:r>
          </a:p>
        </p:txBody>
      </p:sp>
      <p:sp>
        <p:nvSpPr>
          <p:cNvPr id="6" name="">
            <a:extLst xmlns:a="http://schemas.openxmlformats.org/drawingml/2006/main">
              <a:ext uri="{FF2B5EF4-FFF2-40B4-BE49-F238E27FC236}">
                <a16:creationId xmlns:a16="http://schemas.microsoft.com/office/drawing/2014/main" id="{F9FC6599-3EB2-4A93-BF84-153FE3D949C0}"/>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Service-gap mapping must support residents without exposing or stigmatizing them.</a:t>
            </a:r>
          </a:p>
        </p:txBody>
      </p:sp>
      <p:sp>
        <p:nvSpPr>
          <p:cNvPr id="7" name="">
            <a:extLst xmlns:a="http://schemas.openxmlformats.org/drawingml/2006/main">
              <a:ext uri="{FF2B5EF4-FFF2-40B4-BE49-F238E27FC236}">
                <a16:creationId xmlns:a16="http://schemas.microsoft.com/office/drawing/2014/main" id="{CDAA3442-D786-4B43-8BDE-F752BE0B8B74}"/>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V7_D_N03</a:t>
            </a:r>
          </a:p>
        </p:txBody>
      </p:sp>
      <p:sp>
        <p:nvSpPr>
          <p:cNvPr id="8" name="">
            <a:extLst xmlns:a="http://schemas.openxmlformats.org/drawingml/2006/main">
              <a:ext uri="{FF2B5EF4-FFF2-40B4-BE49-F238E27FC236}">
                <a16:creationId xmlns:a16="http://schemas.microsoft.com/office/drawing/2014/main" id="{E61CA318-4DC5-437D-8BD8-AE11B738C24F}"/>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PU-B07-C53</a:t>
            </a:r>
          </a:p>
        </p:txBody>
      </p:sp>
      <p:sp>
        <p:nvSpPr>
          <p:cNvPr id="9" name="">
            <a:extLst xmlns:a="http://schemas.openxmlformats.org/drawingml/2006/main">
              <a:ext uri="{FF2B5EF4-FFF2-40B4-BE49-F238E27FC236}">
                <a16:creationId xmlns:a16="http://schemas.microsoft.com/office/drawing/2014/main" id="{3343D90C-3040-4264-B7BF-829D08760DF2}"/>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800E3A0A-29CD-4672-ABCE-C5B015FA80EA}"/>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847053522"/>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2DBB1B9-6720-40EE-830D-5F69B34EFF9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V7_D_N03</a:t>
            </a:r>
          </a:p>
        </p:txBody>
      </p:sp>
      <p:sp>
        <p:nvSpPr>
          <p:cNvPr id="2" name="">
            <a:extLst xmlns:a="http://schemas.openxmlformats.org/drawingml/2006/main">
              <a:ext uri="{FF2B5EF4-FFF2-40B4-BE49-F238E27FC236}">
                <a16:creationId xmlns:a16="http://schemas.microsoft.com/office/drawing/2014/main" id="{0333FC89-7F63-4939-B880-76DC41EC64D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E87D1A27-3314-4A5D-8AE5-00FAA011E8D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B73121B-1EC4-408F-89AF-C54C2633AA37}"/>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B4BA31F5-179A-4359-B35C-0ECED918827C}"/>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Service-gap mapping must support residents without exposing or stigmatizing them.</a:t>
            </a:r>
          </a:p>
        </p:txBody>
      </p:sp>
      <p:sp>
        <p:nvSpPr>
          <p:cNvPr id="6" name="">
            <a:extLst xmlns:a="http://schemas.openxmlformats.org/drawingml/2006/main">
              <a:ext uri="{FF2B5EF4-FFF2-40B4-BE49-F238E27FC236}">
                <a16:creationId xmlns:a16="http://schemas.microsoft.com/office/drawing/2014/main" id="{BA6592F7-6775-4CF6-964C-6F2F3D5681BE}"/>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56F09DF4-4378-49CE-B403-B41840828105}"/>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AD57CD75-C3D7-488B-A51B-B025A7C4CD51}"/>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Service gap</a:t>
            </a:r>
          </a:p>
        </p:txBody>
      </p:sp>
      <p:sp>
        <p:nvSpPr>
          <p:cNvPr id="9" name="">
            <a:extLst xmlns:a="http://schemas.openxmlformats.org/drawingml/2006/main">
              <a:ext uri="{FF2B5EF4-FFF2-40B4-BE49-F238E27FC236}">
                <a16:creationId xmlns:a16="http://schemas.microsoft.com/office/drawing/2014/main" id="{C4AA0844-DE53-4C91-9EA1-09183340A61D}"/>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54D7C6D5-E14F-4BAF-BB5A-147D91FAF382}"/>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Participation</a:t>
            </a:r>
          </a:p>
        </p:txBody>
      </p:sp>
      <p:sp>
        <p:nvSpPr>
          <p:cNvPr id="11" name="">
            <a:extLst xmlns:a="http://schemas.openxmlformats.org/drawingml/2006/main">
              <a:ext uri="{FF2B5EF4-FFF2-40B4-BE49-F238E27FC236}">
                <a16:creationId xmlns:a16="http://schemas.microsoft.com/office/drawing/2014/main" id="{91EF1421-69AE-4382-995D-04C71C7B1901}"/>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17C8AB8B-5218-446C-BDD5-1DEC11D13DCF}"/>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Privacy</a:t>
            </a:r>
          </a:p>
        </p:txBody>
      </p:sp>
      <p:sp>
        <p:nvSpPr>
          <p:cNvPr id="13" name="">
            <a:extLst xmlns:a="http://schemas.openxmlformats.org/drawingml/2006/main">
              <a:ext uri="{FF2B5EF4-FFF2-40B4-BE49-F238E27FC236}">
                <a16:creationId xmlns:a16="http://schemas.microsoft.com/office/drawing/2014/main" id="{5C34E34C-8788-4946-8903-3369783325C8}"/>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65E1D00-D225-459C-86CC-29E75D7D10B4}"/>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Accessibility</a:t>
            </a:r>
          </a:p>
        </p:txBody>
      </p:sp>
      <p:sp>
        <p:nvSpPr>
          <p:cNvPr id="15" name="">
            <a:extLst xmlns:a="http://schemas.openxmlformats.org/drawingml/2006/main">
              <a:ext uri="{FF2B5EF4-FFF2-40B4-BE49-F238E27FC236}">
                <a16:creationId xmlns:a16="http://schemas.microsoft.com/office/drawing/2014/main" id="{CA2DBE19-E31D-4062-804D-2E3E2CAD8377}"/>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8BC78076-29C9-4814-B33A-B5EFA34227C5}"/>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Investment</a:t>
            </a:r>
          </a:p>
        </p:txBody>
      </p:sp>
      <p:sp>
        <p:nvSpPr>
          <p:cNvPr id="17" name="">
            <a:extLst xmlns:a="http://schemas.openxmlformats.org/drawingml/2006/main">
              <a:ext uri="{FF2B5EF4-FFF2-40B4-BE49-F238E27FC236}">
                <a16:creationId xmlns:a16="http://schemas.microsoft.com/office/drawing/2014/main" id="{1622C89F-AFDC-4E59-88E7-B022379A08AD}"/>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774491128"/>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54BE923-A865-40AC-84C0-641D9FF819D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V7_D_N03</a:t>
            </a:r>
          </a:p>
        </p:txBody>
      </p:sp>
      <p:sp>
        <p:nvSpPr>
          <p:cNvPr id="2" name="">
            <a:extLst xmlns:a="http://schemas.openxmlformats.org/drawingml/2006/main">
              <a:ext uri="{FF2B5EF4-FFF2-40B4-BE49-F238E27FC236}">
                <a16:creationId xmlns:a16="http://schemas.microsoft.com/office/drawing/2014/main" id="{52323E24-B60F-437A-BCDD-87EC91C84A8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C14B6F9F-8CDF-4949-99A4-3B15510235D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1F506D6-63B8-49B2-9F44-C533CEC9E67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E59C1F08-7CCE-432D-ADCF-55F595C7FBAF}"/>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40CD4382-5C82-4213-ACFD-84B3BD349A94}"/>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7A4B8FC1-47A1-41B8-86BE-9F2B6DD62550}"/>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Service gap</a:t>
            </a:r>
          </a:p>
        </p:txBody>
      </p:sp>
      <p:sp>
        <p:nvSpPr>
          <p:cNvPr id="8" name="">
            <a:extLst xmlns:a="http://schemas.openxmlformats.org/drawingml/2006/main">
              <a:ext uri="{FF2B5EF4-FFF2-40B4-BE49-F238E27FC236}">
                <a16:creationId xmlns:a16="http://schemas.microsoft.com/office/drawing/2014/main" id="{AD6928EB-0BE5-4E9A-8AE1-A29142B2FE9B}"/>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BA6AC053-3A31-4B7B-9B90-17A7C8F19F63}"/>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216FEE54-1F7E-43C2-A37A-76B314F3AB84}"/>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Participation</a:t>
            </a:r>
          </a:p>
        </p:txBody>
      </p:sp>
      <p:sp>
        <p:nvSpPr>
          <p:cNvPr id="11" name="">
            <a:extLst xmlns:a="http://schemas.openxmlformats.org/drawingml/2006/main">
              <a:ext uri="{FF2B5EF4-FFF2-40B4-BE49-F238E27FC236}">
                <a16:creationId xmlns:a16="http://schemas.microsoft.com/office/drawing/2014/main" id="{08ED96FD-C738-4AFF-A248-10CACD9FC75B}"/>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65EEEF73-A8BC-4E46-A257-6B70C6EBA83C}"/>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D3D039A2-D267-4615-82DA-7B0E87110C93}"/>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Privacy</a:t>
            </a:r>
          </a:p>
        </p:txBody>
      </p:sp>
      <p:sp>
        <p:nvSpPr>
          <p:cNvPr id="14" name="">
            <a:extLst xmlns:a="http://schemas.openxmlformats.org/drawingml/2006/main">
              <a:ext uri="{FF2B5EF4-FFF2-40B4-BE49-F238E27FC236}">
                <a16:creationId xmlns:a16="http://schemas.microsoft.com/office/drawing/2014/main" id="{ACE93081-4D85-4D73-92D4-134EC12997A8}"/>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44B38B25-202F-4A87-B7BC-72538914ED3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00BA618B-5A73-4D94-AC69-2BF6DBA20189}"/>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Accessibility</a:t>
            </a:r>
          </a:p>
        </p:txBody>
      </p:sp>
      <p:sp>
        <p:nvSpPr>
          <p:cNvPr id="17" name="">
            <a:extLst xmlns:a="http://schemas.openxmlformats.org/drawingml/2006/main">
              <a:ext uri="{FF2B5EF4-FFF2-40B4-BE49-F238E27FC236}">
                <a16:creationId xmlns:a16="http://schemas.microsoft.com/office/drawing/2014/main" id="{0921F7DB-D39D-4542-9AF5-E93D5ACAD915}"/>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81ACAFEC-68A5-4A5A-BD55-D5AA000F077C}"/>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0D2F5E95-F2FA-4B0B-BD93-643B81390E88}"/>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Investment</a:t>
            </a:r>
          </a:p>
        </p:txBody>
      </p:sp>
      <p:sp>
        <p:nvSpPr>
          <p:cNvPr id="20" name="">
            <a:extLst xmlns:a="http://schemas.openxmlformats.org/drawingml/2006/main">
              <a:ext uri="{FF2B5EF4-FFF2-40B4-BE49-F238E27FC236}">
                <a16:creationId xmlns:a16="http://schemas.microsoft.com/office/drawing/2014/main" id="{6AD17961-7C42-472E-83F8-0A1B7D9664D8}"/>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394849312"/>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0809B3-F21B-4F07-8648-44486548455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V7_D_N03</a:t>
            </a:r>
          </a:p>
        </p:txBody>
      </p:sp>
      <p:sp>
        <p:nvSpPr>
          <p:cNvPr id="2" name="">
            <a:extLst xmlns:a="http://schemas.openxmlformats.org/drawingml/2006/main">
              <a:ext uri="{FF2B5EF4-FFF2-40B4-BE49-F238E27FC236}">
                <a16:creationId xmlns:a16="http://schemas.microsoft.com/office/drawing/2014/main" id="{9A99E82F-C45C-4873-98D0-A48752D35AA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3FB01619-A385-44D5-8D13-D73A181158E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B653883-3109-4D2B-ADC2-F7083C0AE15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9BBF1681-EAE2-40F8-9FCA-FCB9B3B6D117}"/>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7690C140-3F15-442D-9F2A-0AFF762AE5A1}"/>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8488C5F-794F-4575-8361-60AB4E0218E8}"/>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Residents and agencies validate aggregated WASH, access, drainage, and waste gaps.</a:t>
            </a:r>
          </a:p>
        </p:txBody>
      </p:sp>
      <p:sp>
        <p:nvSpPr>
          <p:cNvPr id="8" name="">
            <a:extLst xmlns:a="http://schemas.openxmlformats.org/drawingml/2006/main">
              <a:ext uri="{FF2B5EF4-FFF2-40B4-BE49-F238E27FC236}">
                <a16:creationId xmlns:a16="http://schemas.microsoft.com/office/drawing/2014/main" id="{26AAC1B6-2D2B-43D9-8BF4-3BCF2236555B}"/>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6C6B5322-5625-4824-97B6-60E125E4D790}"/>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504BFAD0-0C01-49D7-98A1-C1BBCD541ABB}"/>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E6DB2101-A6B4-48B3-A8EE-46FDF5230EFC}"/>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309686112"/>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76891DB-E84C-40AC-B5F3-8261A2937A2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V7_D_N03</a:t>
            </a:r>
          </a:p>
        </p:txBody>
      </p:sp>
      <p:sp>
        <p:nvSpPr>
          <p:cNvPr id="2" name="">
            <a:extLst xmlns:a="http://schemas.openxmlformats.org/drawingml/2006/main">
              <a:ext uri="{FF2B5EF4-FFF2-40B4-BE49-F238E27FC236}">
                <a16:creationId xmlns:a16="http://schemas.microsoft.com/office/drawing/2014/main" id="{10F890A9-B170-4185-983E-C78650030E0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85CDBDBD-2D8E-4793-98CA-0908F4850FD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905A27B-1DEE-4165-88CD-235F94DD8C8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AA7BBD9D-DA91-4143-AD4D-5899D609FF89}"/>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Map service gaps and test privacy, participation, accessibility, and use controls.</a:t>
            </a:r>
          </a:p>
        </p:txBody>
      </p:sp>
      <p:sp>
        <p:nvSpPr>
          <p:cNvPr id="6" name="">
            <a:extLst xmlns:a="http://schemas.openxmlformats.org/drawingml/2006/main">
              <a:ext uri="{FF2B5EF4-FFF2-40B4-BE49-F238E27FC236}">
                <a16:creationId xmlns:a16="http://schemas.microsoft.com/office/drawing/2014/main" id="{28949F21-737B-4CC6-8D45-A449E17ED2E3}"/>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8B29AE71-1691-44A6-8176-459523232F5C}"/>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DF2DAD0B-AB24-4E25-88C6-1F9F78E34F2A}"/>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DCB45CBB-D5BB-4629-AC56-B54670BDAB65}"/>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4CE6BBA0-D262-4C04-A029-157CD4BAE254}"/>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D49F4EDF-468F-4CCE-A056-669483C6ABF9}"/>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70AC6496-4B17-40FA-89F5-5893E7569485}"/>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06A3FEC-4BD9-48EE-9186-6CF23A053ADE}"/>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4DEA803-60C6-421C-9063-019E4F560F9C}"/>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5F980518-4236-43E8-8767-BCC2CA68C3DE}"/>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A2BBDEB-C949-4DC3-A71D-5A561FB1232A}"/>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5ACAF67A-E55B-4E11-B684-7EDCA61A9E78}"/>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33280977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105E80-CFE3-410C-842F-F0C5813B7F6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V7_D_N03</a:t>
            </a:r>
          </a:p>
        </p:txBody>
      </p:sp>
      <p:sp>
        <p:nvSpPr>
          <p:cNvPr id="2" name="">
            <a:extLst xmlns:a="http://schemas.openxmlformats.org/drawingml/2006/main">
              <a:ext uri="{FF2B5EF4-FFF2-40B4-BE49-F238E27FC236}">
                <a16:creationId xmlns:a16="http://schemas.microsoft.com/office/drawing/2014/main" id="{E925977A-0DB4-449E-AC67-BE42125411D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611B0B82-BB14-4DF1-8E4E-102F23058DF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3870CE2-8218-4840-85C6-AF412DB9F2F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47A6ADCE-C12C-47F1-AE7B-D5B5DA1A7734}"/>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0BA4A3A7-5422-4A08-8DAA-C7E8C49F914F}"/>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9FDF6935-3397-41E1-B67A-BF402489D81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977EC370-F3D5-4E6C-BA1A-2038B9C8C36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5799B7A-252C-4F22-BCE6-93417ABEDC23}"/>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734BE7A5-EAA0-4CAC-99C8-AB8209D351EB}"/>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B1419F8C-A4CB-4BE7-A398-9DADB1216341}"/>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87EF34BB-A5B2-4DB2-B876-9AFC35E0E7EE}"/>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564372E4-32E8-40FF-A053-28BAFA5F562F}"/>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B325C35B-33CC-47FB-8067-046A40263ACE}"/>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616736330"/>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4D239C-FFB5-4D8D-AE04-E00C589A8E0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V7_D_N03</a:t>
            </a:r>
          </a:p>
        </p:txBody>
      </p:sp>
      <p:sp>
        <p:nvSpPr>
          <p:cNvPr id="2" name="">
            <a:extLst xmlns:a="http://schemas.openxmlformats.org/drawingml/2006/main">
              <a:ext uri="{FF2B5EF4-FFF2-40B4-BE49-F238E27FC236}">
                <a16:creationId xmlns:a16="http://schemas.microsoft.com/office/drawing/2014/main" id="{8A3C5B26-E86D-4E2F-9F79-FC2A9509C4A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1C689311-A03F-4D4D-BE5E-690995BDAFD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95EB9AF-32E3-4B71-9C19-C0098885876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54D90B4F-B614-4D26-86FD-1D4249F2E9B5}"/>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C919032A-2CD1-4844-BA71-1153356AB424}"/>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3D799CE4-8A49-4327-813A-A48378213846}"/>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6826B24D-1E51-4299-BA60-EFBCC60222AE}"/>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BAF02257-2E19-4B30-83E3-B1C95E331562}"/>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700CF2C7-E7C4-4629-A930-5C8059C2D4DC}"/>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321060080"/>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F274D3-ED07-4154-A0F3-FC25929FA66D}"/>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98C70226-795B-4643-A8FE-D3DC950C4E1E}"/>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78A853AC-D1DD-44BE-9213-F0D760E0BC4C}"/>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Service gap</a:t>
            </a:r>
          </a:p>
        </p:txBody>
      </p:sp>
      <p:sp>
        <p:nvSpPr>
          <p:cNvPr id="4" name="">
            <a:extLst xmlns:a="http://schemas.openxmlformats.org/drawingml/2006/main">
              <a:ext uri="{FF2B5EF4-FFF2-40B4-BE49-F238E27FC236}">
                <a16:creationId xmlns:a16="http://schemas.microsoft.com/office/drawing/2014/main" id="{BD747A4F-AB62-4673-8646-1E6D39FC5310}"/>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24F1B296-576B-4EE7-835C-BD7FDE2DFD5A}"/>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Participation</a:t>
            </a:r>
          </a:p>
        </p:txBody>
      </p:sp>
      <p:sp>
        <p:nvSpPr>
          <p:cNvPr id="6" name="">
            <a:extLst xmlns:a="http://schemas.openxmlformats.org/drawingml/2006/main">
              <a:ext uri="{FF2B5EF4-FFF2-40B4-BE49-F238E27FC236}">
                <a16:creationId xmlns:a16="http://schemas.microsoft.com/office/drawing/2014/main" id="{D884CB35-C22E-48AE-84BC-32091B50165C}"/>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FC8D3177-25C7-4E60-9BAB-1C732412640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Privacy</a:t>
            </a:r>
          </a:p>
        </p:txBody>
      </p:sp>
      <p:sp>
        <p:nvSpPr>
          <p:cNvPr id="8" name="">
            <a:extLst xmlns:a="http://schemas.openxmlformats.org/drawingml/2006/main">
              <a:ext uri="{FF2B5EF4-FFF2-40B4-BE49-F238E27FC236}">
                <a16:creationId xmlns:a16="http://schemas.microsoft.com/office/drawing/2014/main" id="{BF7E4D9C-079C-47CB-9361-43FEA1421D31}"/>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12F0E67C-A2BA-4554-BD32-CBD25AC47353}"/>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Accessibility</a:t>
            </a:r>
          </a:p>
        </p:txBody>
      </p:sp>
      <p:sp>
        <p:nvSpPr>
          <p:cNvPr id="10" name="">
            <a:extLst xmlns:a="http://schemas.openxmlformats.org/drawingml/2006/main">
              <a:ext uri="{FF2B5EF4-FFF2-40B4-BE49-F238E27FC236}">
                <a16:creationId xmlns:a16="http://schemas.microsoft.com/office/drawing/2014/main" id="{DF535B72-350E-4E78-A50D-06D098A3FBDC}"/>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8132A3B2-91D6-431C-B8FD-D092CAC8D842}"/>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Investment</a:t>
            </a:r>
          </a:p>
        </p:txBody>
      </p:sp>
      <p:sp>
        <p:nvSpPr>
          <p:cNvPr id="12" name="">
            <a:extLst xmlns:a="http://schemas.openxmlformats.org/drawingml/2006/main">
              <a:ext uri="{FF2B5EF4-FFF2-40B4-BE49-F238E27FC236}">
                <a16:creationId xmlns:a16="http://schemas.microsoft.com/office/drawing/2014/main" id="{38581F17-51F6-48A1-A642-D4058918899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1324343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2026-09-04T15:40:14.1830000Z</dcterms:created>
  <dcterms:modified xsi:type="dcterms:W3CDTF">2026-09-04T15:40:14.1830000Z</dcterms:modified>
</coreProperties>
</file>