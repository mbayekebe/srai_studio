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97ab7f254a4bc9" /><Relationship Type="http://schemas.openxmlformats.org/officeDocument/2006/relationships/extended-properties" Target="/docProps/app.xml" Id="R05076602ebbd44f6" /><Relationship Type="http://schemas.openxmlformats.org/officeDocument/2006/relationships/officeDocument" Target="/ppt/presentation.xml" Id="Rd07f8c6e06f141d6" /></Relationships>
</file>

<file path=ppt/presentation.xml><?xml version="1.0" encoding="utf-8"?>
<p:presentation xmlns:p="http://schemas.openxmlformats.org/presentationml/2006/main">
  <p:sldMasterIdLst>
    <p:sldMasterId xmlns:r="http://schemas.openxmlformats.org/officeDocument/2006/relationships" id="2147483648" r:id="R9893a0bb07a14d60"/>
  </p:sldMasterIdLst>
  <p:notesMasterIdLst>
    <p:notesMasterId xmlns:r="http://schemas.openxmlformats.org/officeDocument/2006/relationships" r:id="R57bcd7ec69df484d"/>
  </p:notesMasterIdLst>
  <p:sldIdLst>
    <p:sldId xmlns:r="http://schemas.openxmlformats.org/officeDocument/2006/relationships" id="256" r:id="R5efcd157f479403e"/>
    <p:sldId xmlns:r="http://schemas.openxmlformats.org/officeDocument/2006/relationships" id="257" r:id="R3dc7f21121214686"/>
    <p:sldId xmlns:r="http://schemas.openxmlformats.org/officeDocument/2006/relationships" id="258" r:id="R5c5ea4ad211b4746"/>
    <p:sldId xmlns:r="http://schemas.openxmlformats.org/officeDocument/2006/relationships" id="259" r:id="Ra5ea6496061243d5"/>
    <p:sldId xmlns:r="http://schemas.openxmlformats.org/officeDocument/2006/relationships" id="260" r:id="Rc6d382e2af354e58"/>
    <p:sldId xmlns:r="http://schemas.openxmlformats.org/officeDocument/2006/relationships" id="261" r:id="R8e19aa2d19294399"/>
    <p:sldId xmlns:r="http://schemas.openxmlformats.org/officeDocument/2006/relationships" id="262" r:id="Rd9f56b881f0041ea"/>
    <p:sldId xmlns:r="http://schemas.openxmlformats.org/officeDocument/2006/relationships" id="263" r:id="R6253b6094b754b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233ba18e8f4a63" /><Relationship Type="http://schemas.openxmlformats.org/officeDocument/2006/relationships/slideMaster" Target="/ppt/slideMasters/slideMaster1.xml" Id="R9893a0bb07a14d60" /><Relationship Type="http://schemas.openxmlformats.org/officeDocument/2006/relationships/notesMaster" Target="/ppt/notesMasters/notesMaster1.xml" Id="R57bcd7ec69df484d" /><Relationship Type="http://schemas.openxmlformats.org/officeDocument/2006/relationships/presProps" Target="/ppt/presProps.xml" Id="R32d0e3d440d84669" /><Relationship Type="http://schemas.openxmlformats.org/officeDocument/2006/relationships/tableStyles" Target="/ppt/tableStyles.xml" Id="R4b549ec223944ffb" /><Relationship Type="http://schemas.openxmlformats.org/officeDocument/2006/relationships/slide" Target="/ppt/slides/slide1.xml" Id="R5efcd157f479403e" /><Relationship Type="http://schemas.openxmlformats.org/officeDocument/2006/relationships/slide" Target="/ppt/slides/slide2.xml" Id="R3dc7f21121214686" /><Relationship Type="http://schemas.openxmlformats.org/officeDocument/2006/relationships/slide" Target="/ppt/slides/slide3.xml" Id="R5c5ea4ad211b4746" /><Relationship Type="http://schemas.openxmlformats.org/officeDocument/2006/relationships/slide" Target="/ppt/slides/slide4.xml" Id="Ra5ea6496061243d5" /><Relationship Type="http://schemas.openxmlformats.org/officeDocument/2006/relationships/slide" Target="/ppt/slides/slide5.xml" Id="Rc6d382e2af354e58" /><Relationship Type="http://schemas.openxmlformats.org/officeDocument/2006/relationships/slide" Target="/ppt/slides/slide6.xml" Id="R8e19aa2d19294399" /><Relationship Type="http://schemas.openxmlformats.org/officeDocument/2006/relationships/slide" Target="/ppt/slides/slide7.xml" Id="Rd9f56b881f0041ea" /><Relationship Type="http://schemas.openxmlformats.org/officeDocument/2006/relationships/slide" Target="/ppt/slides/slide8.xml" Id="R6253b6094b754b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6e92fe6d3743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4ddeeddc7d4c0e" /><Relationship Type="http://schemas.openxmlformats.org/officeDocument/2006/relationships/notesMaster" Target="/ppt/notesMasters/notesMaster1.xml" Id="R65437ef63bae4f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7d4fe727c94af8" /><Relationship Type="http://schemas.openxmlformats.org/officeDocument/2006/relationships/notesMaster" Target="/ppt/notesMasters/notesMaster1.xml" Id="R4e657aa5ecb746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6db74c0a484896" /><Relationship Type="http://schemas.openxmlformats.org/officeDocument/2006/relationships/notesMaster" Target="/ppt/notesMasters/notesMaster1.xml" Id="Rcd55fef2efd840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7aa12a9b7e4e28" /><Relationship Type="http://schemas.openxmlformats.org/officeDocument/2006/relationships/notesMaster" Target="/ppt/notesMasters/notesMaster1.xml" Id="Rde2501166a4b46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b90540fc9341f9" /><Relationship Type="http://schemas.openxmlformats.org/officeDocument/2006/relationships/notesMaster" Target="/ppt/notesMasters/notesMaster1.xml" Id="Rec8fa7cfc6724a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5abc3a35174860" /><Relationship Type="http://schemas.openxmlformats.org/officeDocument/2006/relationships/notesMaster" Target="/ppt/notesMasters/notesMaster1.xml" Id="R1a2fdc37dba54c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18298221564143" /><Relationship Type="http://schemas.openxmlformats.org/officeDocument/2006/relationships/notesMaster" Target="/ppt/notesMasters/notesMaster1.xml" Id="Rb8b4863faf4e42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9e0409b2db467b" /><Relationship Type="http://schemas.openxmlformats.org/officeDocument/2006/relationships/notesMaster" Target="/ppt/notesMasters/notesMaster1.xml" Id="R46de773e08af47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Beds, Staff, Supplies: Forecasting Service Capacity. This lesson begins with one principle: capacity means deployable services—not nominal resources.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Capacity means deployable services—not nominal resources. The five controls shown here are Demand forecast, Staffed beds, Shift coverage, Critical supplies, Referral capacity. Together, they prevent an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demand forecast, move through staffed beds and shift coverage, and finish with critical supplies and referral capacity.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Expected admissions are linked to staffed beds, oxygen, supplies, and referral capacity.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Forecast service demand and test operational capacity constraints.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demand forecast clear? Is staffed beds documented? Is shift coverage testable? Is critical supplies governed? And is referral capacity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V7_B_N02,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b0c863a6d64f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b4250228424988" /><Relationship Type="http://schemas.openxmlformats.org/officeDocument/2006/relationships/slideLayout" Target="/ppt/slideLayouts/slideLayout1.xml" Id="R1294ea3fd48245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94ea3fd48245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3de0d02c6944d0" /><Relationship Type="http://schemas.openxmlformats.org/officeDocument/2006/relationships/notesSlide" Target="/ppt/notesSlides/notesSlide1.xml" Id="R0a84b0c730f444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7b6f8ff2214661" /><Relationship Type="http://schemas.openxmlformats.org/officeDocument/2006/relationships/notesSlide" Target="/ppt/notesSlides/notesSlide2.xml" Id="Rf17aa49faddd49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014e48ec094707" /><Relationship Type="http://schemas.openxmlformats.org/officeDocument/2006/relationships/notesSlide" Target="/ppt/notesSlides/notesSlide3.xml" Id="R1627ec44433543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f6fa5db9d44061" /><Relationship Type="http://schemas.openxmlformats.org/officeDocument/2006/relationships/notesSlide" Target="/ppt/notesSlides/notesSlide4.xml" Id="Re732c0bb0f4044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88af67c74d241cd" /><Relationship Type="http://schemas.openxmlformats.org/officeDocument/2006/relationships/notesSlide" Target="/ppt/notesSlides/notesSlide5.xml" Id="R4fbcb93e4a6d42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09a3f852a94881" /><Relationship Type="http://schemas.openxmlformats.org/officeDocument/2006/relationships/notesSlide" Target="/ppt/notesSlides/notesSlide6.xml" Id="R4e9369dd7eb348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a6eeffe9ba4f13" /><Relationship Type="http://schemas.openxmlformats.org/officeDocument/2006/relationships/notesSlide" Target="/ppt/notesSlides/notesSlide7.xml" Id="R63a203f0a8bf48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3e3921776574783" /><Relationship Type="http://schemas.openxmlformats.org/officeDocument/2006/relationships/notesSlide" Target="/ppt/notesSlides/notesSlide8.xml" Id="R82dcfe5ab30249d1"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6643FA-0B58-4D76-BAEE-E1A80FAF808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57ADF263-F367-4A60-9657-D6417CD5C13D}"/>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B05EE085-DC20-4BEA-8FCA-FBBD8D88358D}"/>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CFD31AC4-5343-4E49-9CA6-4F3D36C27CF6}"/>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1E114141-9E5C-4BB1-B869-E5F3420331C4}"/>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BEDS, STAFF, SUPPLIES: FORECASTING SERVICE CAPACITY</a:t>
            </a:r>
          </a:p>
        </p:txBody>
      </p:sp>
      <p:sp>
        <p:nvSpPr>
          <p:cNvPr id="6" name="">
            <a:extLst xmlns:a="http://schemas.openxmlformats.org/drawingml/2006/main">
              <a:ext uri="{FF2B5EF4-FFF2-40B4-BE49-F238E27FC236}">
                <a16:creationId xmlns:a16="http://schemas.microsoft.com/office/drawing/2014/main" id="{3305B3D3-156C-48A9-8743-41E9E82C33B7}"/>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Capacity means deployable services—not nominal resources.</a:t>
            </a:r>
          </a:p>
        </p:txBody>
      </p:sp>
      <p:sp>
        <p:nvSpPr>
          <p:cNvPr id="7" name="">
            <a:extLst xmlns:a="http://schemas.openxmlformats.org/drawingml/2006/main">
              <a:ext uri="{FF2B5EF4-FFF2-40B4-BE49-F238E27FC236}">
                <a16:creationId xmlns:a16="http://schemas.microsoft.com/office/drawing/2014/main" id="{ABE5A6CC-195D-437D-B566-BDECDFFD219F}"/>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V7_B_N02</a:t>
            </a:r>
          </a:p>
        </p:txBody>
      </p:sp>
      <p:sp>
        <p:nvSpPr>
          <p:cNvPr id="8" name="">
            <a:extLst xmlns:a="http://schemas.openxmlformats.org/drawingml/2006/main">
              <a:ext uri="{FF2B5EF4-FFF2-40B4-BE49-F238E27FC236}">
                <a16:creationId xmlns:a16="http://schemas.microsoft.com/office/drawing/2014/main" id="{B44E8424-9FA3-42CE-9B10-E4FC2325F862}"/>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PU-B07-C22</a:t>
            </a:r>
          </a:p>
        </p:txBody>
      </p:sp>
      <p:sp>
        <p:nvSpPr>
          <p:cNvPr id="9" name="">
            <a:extLst xmlns:a="http://schemas.openxmlformats.org/drawingml/2006/main">
              <a:ext uri="{FF2B5EF4-FFF2-40B4-BE49-F238E27FC236}">
                <a16:creationId xmlns:a16="http://schemas.microsoft.com/office/drawing/2014/main" id="{366E92D4-53F4-4729-A3E3-4FB737FECD34}"/>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60DFA402-C30B-490D-9BB5-D480378D9D13}"/>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65695099"/>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0703EA4-1DFF-48D1-805E-54E0EEFD80B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V7_B_N02</a:t>
            </a:r>
          </a:p>
        </p:txBody>
      </p:sp>
      <p:sp>
        <p:nvSpPr>
          <p:cNvPr id="2" name="">
            <a:extLst xmlns:a="http://schemas.openxmlformats.org/drawingml/2006/main">
              <a:ext uri="{FF2B5EF4-FFF2-40B4-BE49-F238E27FC236}">
                <a16:creationId xmlns:a16="http://schemas.microsoft.com/office/drawing/2014/main" id="{47F8E26A-49AD-467E-BF7A-269693B9161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DB1EE7B7-6F4C-45BD-9D68-1248F12E03A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86533CE-413C-41B3-897E-F83E6C924966}"/>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2F7EAF43-8E0A-4A42-8BC1-4BEA16631F50}"/>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Capacity means deployable services—not nominal resources.</a:t>
            </a:r>
          </a:p>
        </p:txBody>
      </p:sp>
      <p:sp>
        <p:nvSpPr>
          <p:cNvPr id="6" name="">
            <a:extLst xmlns:a="http://schemas.openxmlformats.org/drawingml/2006/main">
              <a:ext uri="{FF2B5EF4-FFF2-40B4-BE49-F238E27FC236}">
                <a16:creationId xmlns:a16="http://schemas.microsoft.com/office/drawing/2014/main" id="{15066BBB-F2A4-40BC-8EF0-18DD865C69F1}"/>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1C764A3D-4E34-4DE2-85EF-4A394CCA3511}"/>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44FEE51E-4EDC-4061-BAB3-A029671BA708}"/>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Demand forecast</a:t>
            </a:r>
          </a:p>
        </p:txBody>
      </p:sp>
      <p:sp>
        <p:nvSpPr>
          <p:cNvPr id="9" name="">
            <a:extLst xmlns:a="http://schemas.openxmlformats.org/drawingml/2006/main">
              <a:ext uri="{FF2B5EF4-FFF2-40B4-BE49-F238E27FC236}">
                <a16:creationId xmlns:a16="http://schemas.microsoft.com/office/drawing/2014/main" id="{ECB59BD7-D540-4AFF-B166-BC09F81B6568}"/>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AE805B70-7B20-409B-AFE8-46805E601D00}"/>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Staffed beds</a:t>
            </a:r>
          </a:p>
        </p:txBody>
      </p:sp>
      <p:sp>
        <p:nvSpPr>
          <p:cNvPr id="11" name="">
            <a:extLst xmlns:a="http://schemas.openxmlformats.org/drawingml/2006/main">
              <a:ext uri="{FF2B5EF4-FFF2-40B4-BE49-F238E27FC236}">
                <a16:creationId xmlns:a16="http://schemas.microsoft.com/office/drawing/2014/main" id="{95AC5BE5-E3A2-4B60-AB08-074B138B3AF2}"/>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C91D39E4-8DB4-432B-8364-1624B0B40930}"/>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Shift coverage</a:t>
            </a:r>
          </a:p>
        </p:txBody>
      </p:sp>
      <p:sp>
        <p:nvSpPr>
          <p:cNvPr id="13" name="">
            <a:extLst xmlns:a="http://schemas.openxmlformats.org/drawingml/2006/main">
              <a:ext uri="{FF2B5EF4-FFF2-40B4-BE49-F238E27FC236}">
                <a16:creationId xmlns:a16="http://schemas.microsoft.com/office/drawing/2014/main" id="{9F130C17-ADE1-4970-974F-3050F7E55C23}"/>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A5D1E5EC-F166-4AD7-A4AF-3BC6DBA81047}"/>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Critical supplies</a:t>
            </a:r>
          </a:p>
        </p:txBody>
      </p:sp>
      <p:sp>
        <p:nvSpPr>
          <p:cNvPr id="15" name="">
            <a:extLst xmlns:a="http://schemas.openxmlformats.org/drawingml/2006/main">
              <a:ext uri="{FF2B5EF4-FFF2-40B4-BE49-F238E27FC236}">
                <a16:creationId xmlns:a16="http://schemas.microsoft.com/office/drawing/2014/main" id="{297A1C01-7F38-4A4C-B6ED-787E260D519B}"/>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F7CD9231-104A-4E79-8F18-75C5F1D536E8}"/>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Referral capacity</a:t>
            </a:r>
          </a:p>
        </p:txBody>
      </p:sp>
      <p:sp>
        <p:nvSpPr>
          <p:cNvPr id="17" name="">
            <a:extLst xmlns:a="http://schemas.openxmlformats.org/drawingml/2006/main">
              <a:ext uri="{FF2B5EF4-FFF2-40B4-BE49-F238E27FC236}">
                <a16:creationId xmlns:a16="http://schemas.microsoft.com/office/drawing/2014/main" id="{58E80A72-6A09-4B22-A154-61C8A87C8697}"/>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19890023"/>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DEFE34B-524C-4D57-97DF-660E4CA9346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V7_B_N02</a:t>
            </a:r>
          </a:p>
        </p:txBody>
      </p:sp>
      <p:sp>
        <p:nvSpPr>
          <p:cNvPr id="2" name="">
            <a:extLst xmlns:a="http://schemas.openxmlformats.org/drawingml/2006/main">
              <a:ext uri="{FF2B5EF4-FFF2-40B4-BE49-F238E27FC236}">
                <a16:creationId xmlns:a16="http://schemas.microsoft.com/office/drawing/2014/main" id="{06C93EA4-087E-4563-A716-ACC03E59ADF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0F8ECEE2-5092-4D34-A426-3C4D1DBE450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BF666AF-1E5C-428A-994F-BEC2E79C93F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AE26E046-D186-4111-AFE8-5B0E2C39A407}"/>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491666C1-B1A9-4403-AEDF-F6AF75C39EA6}"/>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1A0F89D4-1571-4660-A337-6CF66B3BD7EC}"/>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Demand forecast</a:t>
            </a:r>
          </a:p>
        </p:txBody>
      </p:sp>
      <p:sp>
        <p:nvSpPr>
          <p:cNvPr id="8" name="">
            <a:extLst xmlns:a="http://schemas.openxmlformats.org/drawingml/2006/main">
              <a:ext uri="{FF2B5EF4-FFF2-40B4-BE49-F238E27FC236}">
                <a16:creationId xmlns:a16="http://schemas.microsoft.com/office/drawing/2014/main" id="{B4DD1E3B-5681-4D80-81DB-F06AFF7FEFA1}"/>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C52670C3-B1BE-49A3-B15E-310258D04045}"/>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4587579A-A0A8-46EC-85F3-53A0C6BC3E38}"/>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Staffed beds</a:t>
            </a:r>
          </a:p>
        </p:txBody>
      </p:sp>
      <p:sp>
        <p:nvSpPr>
          <p:cNvPr id="11" name="">
            <a:extLst xmlns:a="http://schemas.openxmlformats.org/drawingml/2006/main">
              <a:ext uri="{FF2B5EF4-FFF2-40B4-BE49-F238E27FC236}">
                <a16:creationId xmlns:a16="http://schemas.microsoft.com/office/drawing/2014/main" id="{E0F60BF4-9A11-4E3E-981A-FBFFE33895F5}"/>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2BCE5991-EA43-4493-ADFA-62BC418FF0D7}"/>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FC4438A2-DAAB-400F-8FBB-7BCD563FF6ED}"/>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Shift coverage</a:t>
            </a:r>
          </a:p>
        </p:txBody>
      </p:sp>
      <p:sp>
        <p:nvSpPr>
          <p:cNvPr id="14" name="">
            <a:extLst xmlns:a="http://schemas.openxmlformats.org/drawingml/2006/main">
              <a:ext uri="{FF2B5EF4-FFF2-40B4-BE49-F238E27FC236}">
                <a16:creationId xmlns:a16="http://schemas.microsoft.com/office/drawing/2014/main" id="{87FAA48B-3A1C-48DC-867B-7E94DCD3E622}"/>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64AD1491-33FE-48DE-8122-0EF0180E9D13}"/>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00DC9C67-335D-4322-AB68-6B43B7565FFB}"/>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Critical supplies</a:t>
            </a:r>
          </a:p>
        </p:txBody>
      </p:sp>
      <p:sp>
        <p:nvSpPr>
          <p:cNvPr id="17" name="">
            <a:extLst xmlns:a="http://schemas.openxmlformats.org/drawingml/2006/main">
              <a:ext uri="{FF2B5EF4-FFF2-40B4-BE49-F238E27FC236}">
                <a16:creationId xmlns:a16="http://schemas.microsoft.com/office/drawing/2014/main" id="{64DE6A3C-E392-4D7F-9089-05860EF45337}"/>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2A63C1CB-1132-404E-8C58-35555FBD4241}"/>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869DE8DD-BB4F-46AD-8FE5-B4B5D6AEAE62}"/>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Referral capacity</a:t>
            </a:r>
          </a:p>
        </p:txBody>
      </p:sp>
      <p:sp>
        <p:nvSpPr>
          <p:cNvPr id="20" name="">
            <a:extLst xmlns:a="http://schemas.openxmlformats.org/drawingml/2006/main">
              <a:ext uri="{FF2B5EF4-FFF2-40B4-BE49-F238E27FC236}">
                <a16:creationId xmlns:a16="http://schemas.microsoft.com/office/drawing/2014/main" id="{0EA787A5-585E-4C7E-849E-A7AF0745DA97}"/>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003234153"/>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5D1CE3-6DED-4899-B3C6-1958CA2D712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V7_B_N02</a:t>
            </a:r>
          </a:p>
        </p:txBody>
      </p:sp>
      <p:sp>
        <p:nvSpPr>
          <p:cNvPr id="2" name="">
            <a:extLst xmlns:a="http://schemas.openxmlformats.org/drawingml/2006/main">
              <a:ext uri="{FF2B5EF4-FFF2-40B4-BE49-F238E27FC236}">
                <a16:creationId xmlns:a16="http://schemas.microsoft.com/office/drawing/2014/main" id="{6779EAEF-26EC-4C92-AAB0-6CC643E699E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A4FE122C-BBE8-442E-BE52-3C51E4D8B9F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8D431CB-61EA-455B-A490-6820481BCD5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BCBEEC7B-03BA-4C96-83E3-C6303F80A59A}"/>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4AABFD08-75E1-4F23-B950-567736F37B80}"/>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8CFFF157-E0E4-4C58-9E57-70742711C11C}"/>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Expected admissions are linked to staffed beds, oxygen, supplies, and referral capacity.</a:t>
            </a:r>
          </a:p>
        </p:txBody>
      </p:sp>
      <p:sp>
        <p:nvSpPr>
          <p:cNvPr id="8" name="">
            <a:extLst xmlns:a="http://schemas.openxmlformats.org/drawingml/2006/main">
              <a:ext uri="{FF2B5EF4-FFF2-40B4-BE49-F238E27FC236}">
                <a16:creationId xmlns:a16="http://schemas.microsoft.com/office/drawing/2014/main" id="{5D1D2DD3-D07D-4419-8D3B-564D04B2CF78}"/>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317F1F7C-1A43-4C5D-AA0D-4721B5E14A4B}"/>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915FD058-A56B-4539-8189-3A4B7FE98058}"/>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4BF877CD-4DB1-4CE7-BC6C-A10DB7A41D5F}"/>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107291897"/>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707214B-991D-430B-B68B-0D3226D7DD3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V7_B_N02</a:t>
            </a:r>
          </a:p>
        </p:txBody>
      </p:sp>
      <p:sp>
        <p:nvSpPr>
          <p:cNvPr id="2" name="">
            <a:extLst xmlns:a="http://schemas.openxmlformats.org/drawingml/2006/main">
              <a:ext uri="{FF2B5EF4-FFF2-40B4-BE49-F238E27FC236}">
                <a16:creationId xmlns:a16="http://schemas.microsoft.com/office/drawing/2014/main" id="{6CC2AC0A-B27B-46EC-A062-370B6738DFE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B5BEA32E-BD07-4B74-8AB9-102EA20A612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F8FAAF5-64B0-4AA0-B9D0-1D23C8970AE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61C89E35-98A5-4D6F-82D6-7730A5B1BC8E}"/>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Forecast service demand and test operational capacity constraints.</a:t>
            </a:r>
          </a:p>
        </p:txBody>
      </p:sp>
      <p:sp>
        <p:nvSpPr>
          <p:cNvPr id="6" name="">
            <a:extLst xmlns:a="http://schemas.openxmlformats.org/drawingml/2006/main">
              <a:ext uri="{FF2B5EF4-FFF2-40B4-BE49-F238E27FC236}">
                <a16:creationId xmlns:a16="http://schemas.microsoft.com/office/drawing/2014/main" id="{A1436A7D-756B-448A-8747-CDD7452235F7}"/>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CC00C557-6134-4AAB-B840-3CE751F86465}"/>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B0615410-DA65-43CB-8F21-444AE2429E2E}"/>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06C36028-2463-4FED-A3C7-25DF8554C6B2}"/>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FB6AF43B-3F30-4D27-A4FC-02BE485FC7A9}"/>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E3240254-322E-44D8-B4E0-CAB4C8962BEB}"/>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D64A9F5D-B5C5-4C8C-85B0-CA716E9B3803}"/>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FF48202D-D6A6-41FE-BE11-AA093723D9F7}"/>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FE7EFBAE-8B98-4871-AB25-0B4E26836362}"/>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4432BBEC-230C-434E-B6BB-1F94B09AEC4D}"/>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355305BC-848A-4AAC-99E7-D125CC78CF3E}"/>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12B89614-9623-48B7-862A-B2AEF4C6D1E6}"/>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575566512"/>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103984D-5AC8-49EA-9871-8F100CEE886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V7_B_N02</a:t>
            </a:r>
          </a:p>
        </p:txBody>
      </p:sp>
      <p:sp>
        <p:nvSpPr>
          <p:cNvPr id="2" name="">
            <a:extLst xmlns:a="http://schemas.openxmlformats.org/drawingml/2006/main">
              <a:ext uri="{FF2B5EF4-FFF2-40B4-BE49-F238E27FC236}">
                <a16:creationId xmlns:a16="http://schemas.microsoft.com/office/drawing/2014/main" id="{B6F5DCC1-D759-47A8-8049-F8473602B9B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705E19AE-0247-4128-8DB5-2A67E7EE4C4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47895C4-ACFB-4B79-99F3-930B576B315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44E35491-C7FA-446E-9CD4-407E0E8FF587}"/>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AB5AC5A4-1B47-4B89-8BC4-C670210F3585}"/>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B17A2336-785E-4BE9-B487-F6E7986CD323}"/>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D31ADA7E-BE0B-4918-BE16-3AA5C385D9AF}"/>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01A0F05A-B064-472A-A74C-2CEB55FC6D78}"/>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09588402-69D6-4CE0-A9CF-15CE62D4D547}"/>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E3700B9A-A709-483B-9E4E-03E45E837C72}"/>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7189FF9E-0920-4E50-A386-1FD5961EB4C1}"/>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8754260B-8CDC-4925-B5AF-A9E4CD69D937}"/>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DBCB039B-7A63-40F3-9C0B-FA5C516E5571}"/>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98276556"/>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28B048-67BE-4843-A300-E0C46599C03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V7_B_N02</a:t>
            </a:r>
          </a:p>
        </p:txBody>
      </p:sp>
      <p:sp>
        <p:nvSpPr>
          <p:cNvPr id="2" name="">
            <a:extLst xmlns:a="http://schemas.openxmlformats.org/drawingml/2006/main">
              <a:ext uri="{FF2B5EF4-FFF2-40B4-BE49-F238E27FC236}">
                <a16:creationId xmlns:a16="http://schemas.microsoft.com/office/drawing/2014/main" id="{5FD4FD98-8DA3-4432-98A3-594F2A1A72D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7995A18D-E252-4501-B8C5-47E5EDB7E04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159257E-63F3-457B-A04A-8C8165A6D48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E77BA6D9-22B6-4E25-9A73-A99F54E3F15F}"/>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92AD0B7C-68EE-493F-9FCB-1C5DCA62328B}"/>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CED1EB7D-F02E-4429-8525-CA8935C5FB81}"/>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EB9D4B37-F77E-443A-AAD5-CDEF2D3FCFAB}"/>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185F1F28-C0EE-46F0-9C1C-11FC8DD874EB}"/>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855FFFAB-EC16-4AF6-895A-7FC1F568B4C0}"/>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2070041016"/>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0685A8F-02B4-43CB-A8AE-5C4D9608CEC3}"/>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87DE809E-E546-460F-BD45-F9A227984BD4}"/>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F11BE112-D49C-458D-9B40-A3D46FC516A5}"/>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Demand forecast</a:t>
            </a:r>
          </a:p>
        </p:txBody>
      </p:sp>
      <p:sp>
        <p:nvSpPr>
          <p:cNvPr id="4" name="">
            <a:extLst xmlns:a="http://schemas.openxmlformats.org/drawingml/2006/main">
              <a:ext uri="{FF2B5EF4-FFF2-40B4-BE49-F238E27FC236}">
                <a16:creationId xmlns:a16="http://schemas.microsoft.com/office/drawing/2014/main" id="{119BEB21-64AE-48A8-B87C-347FBB8BF91D}"/>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7D15CCE5-2B48-4BEE-8DB3-2D9B52BF00C9}"/>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Staffed beds</a:t>
            </a:r>
          </a:p>
        </p:txBody>
      </p:sp>
      <p:sp>
        <p:nvSpPr>
          <p:cNvPr id="6" name="">
            <a:extLst xmlns:a="http://schemas.openxmlformats.org/drawingml/2006/main">
              <a:ext uri="{FF2B5EF4-FFF2-40B4-BE49-F238E27FC236}">
                <a16:creationId xmlns:a16="http://schemas.microsoft.com/office/drawing/2014/main" id="{DD2A062C-F125-46EE-9788-824CA79B8EFD}"/>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9140BDFA-6276-4747-9CD8-F24404863941}"/>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Shift coverage</a:t>
            </a:r>
          </a:p>
        </p:txBody>
      </p:sp>
      <p:sp>
        <p:nvSpPr>
          <p:cNvPr id="8" name="">
            <a:extLst xmlns:a="http://schemas.openxmlformats.org/drawingml/2006/main">
              <a:ext uri="{FF2B5EF4-FFF2-40B4-BE49-F238E27FC236}">
                <a16:creationId xmlns:a16="http://schemas.microsoft.com/office/drawing/2014/main" id="{E902BDA7-E5A8-4871-9A48-AA519BE8B7A1}"/>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BC9BEDE8-5807-4B42-ACE6-435566936EAA}"/>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Critical supplies</a:t>
            </a:r>
          </a:p>
        </p:txBody>
      </p:sp>
      <p:sp>
        <p:nvSpPr>
          <p:cNvPr id="10" name="">
            <a:extLst xmlns:a="http://schemas.openxmlformats.org/drawingml/2006/main">
              <a:ext uri="{FF2B5EF4-FFF2-40B4-BE49-F238E27FC236}">
                <a16:creationId xmlns:a16="http://schemas.microsoft.com/office/drawing/2014/main" id="{F03472D5-A17B-4845-9C35-479478E17359}"/>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D21CC53A-AFF3-46D8-93C7-9183FEA635F1}"/>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Referral capacity</a:t>
            </a:r>
          </a:p>
        </p:txBody>
      </p:sp>
      <p:sp>
        <p:nvSpPr>
          <p:cNvPr id="12" name="">
            <a:extLst xmlns:a="http://schemas.openxmlformats.org/drawingml/2006/main">
              <a:ext uri="{FF2B5EF4-FFF2-40B4-BE49-F238E27FC236}">
                <a16:creationId xmlns:a16="http://schemas.microsoft.com/office/drawing/2014/main" id="{C9EB04D6-0BD9-453A-BD9B-ADFCD32CAEB7}"/>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8505161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2026-09-04T14:49:27.6770000Z</dcterms:created>
  <dcterms:modified xsi:type="dcterms:W3CDTF">2026-09-04T14:49:27.6770000Z</dcterms:modified>
</coreProperties>
</file>