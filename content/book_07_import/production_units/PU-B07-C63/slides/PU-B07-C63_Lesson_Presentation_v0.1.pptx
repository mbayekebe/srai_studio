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6421be5dd747f5" /><Relationship Type="http://schemas.openxmlformats.org/officeDocument/2006/relationships/extended-properties" Target="/docProps/app.xml" Id="Rb9f596eddcd94471" /><Relationship Type="http://schemas.openxmlformats.org/officeDocument/2006/relationships/officeDocument" Target="/ppt/presentation.xml" Id="R185ab5c4a8d04d5b" /></Relationships>
</file>

<file path=ppt/presentation.xml><?xml version="1.0" encoding="utf-8"?>
<p:presentation xmlns:p="http://schemas.openxmlformats.org/presentationml/2006/main">
  <p:sldMasterIdLst>
    <p:sldMasterId xmlns:r="http://schemas.openxmlformats.org/officeDocument/2006/relationships" id="2147483648" r:id="R1bf37092e2344a63"/>
  </p:sldMasterIdLst>
  <p:notesMasterIdLst>
    <p:notesMasterId xmlns:r="http://schemas.openxmlformats.org/officeDocument/2006/relationships" r:id="R0e64a0e39b8246cc"/>
  </p:notesMasterIdLst>
  <p:sldIdLst>
    <p:sldId xmlns:r="http://schemas.openxmlformats.org/officeDocument/2006/relationships" id="256" r:id="R06375728fd5544e0"/>
    <p:sldId xmlns:r="http://schemas.openxmlformats.org/officeDocument/2006/relationships" id="257" r:id="R556264089c4f4537"/>
    <p:sldId xmlns:r="http://schemas.openxmlformats.org/officeDocument/2006/relationships" id="258" r:id="R5bf02e9e8712462b"/>
    <p:sldId xmlns:r="http://schemas.openxmlformats.org/officeDocument/2006/relationships" id="259" r:id="R8cd57c5d5b8a4665"/>
    <p:sldId xmlns:r="http://schemas.openxmlformats.org/officeDocument/2006/relationships" id="260" r:id="R0e8bfbbe2fb544ed"/>
    <p:sldId xmlns:r="http://schemas.openxmlformats.org/officeDocument/2006/relationships" id="261" r:id="R00b5b4b3cbaa41ec"/>
    <p:sldId xmlns:r="http://schemas.openxmlformats.org/officeDocument/2006/relationships" id="262" r:id="R938bd4cf90ad4ba0"/>
    <p:sldId xmlns:r="http://schemas.openxmlformats.org/officeDocument/2006/relationships" id="263" r:id="R51c05047f4424a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cfccd6beb64947" /><Relationship Type="http://schemas.openxmlformats.org/officeDocument/2006/relationships/slideMaster" Target="/ppt/slideMasters/slideMaster1.xml" Id="R1bf37092e2344a63" /><Relationship Type="http://schemas.openxmlformats.org/officeDocument/2006/relationships/notesMaster" Target="/ppt/notesMasters/notesMaster1.xml" Id="R0e64a0e39b8246cc" /><Relationship Type="http://schemas.openxmlformats.org/officeDocument/2006/relationships/presProps" Target="/ppt/presProps.xml" Id="Ra9e5bb12b57c4360" /><Relationship Type="http://schemas.openxmlformats.org/officeDocument/2006/relationships/tableStyles" Target="/ppt/tableStyles.xml" Id="R827e79c3c2774f6a" /><Relationship Type="http://schemas.openxmlformats.org/officeDocument/2006/relationships/slide" Target="/ppt/slides/slide1.xml" Id="R06375728fd5544e0" /><Relationship Type="http://schemas.openxmlformats.org/officeDocument/2006/relationships/slide" Target="/ppt/slides/slide2.xml" Id="R556264089c4f4537" /><Relationship Type="http://schemas.openxmlformats.org/officeDocument/2006/relationships/slide" Target="/ppt/slides/slide3.xml" Id="R5bf02e9e8712462b" /><Relationship Type="http://schemas.openxmlformats.org/officeDocument/2006/relationships/slide" Target="/ppt/slides/slide4.xml" Id="R8cd57c5d5b8a4665" /><Relationship Type="http://schemas.openxmlformats.org/officeDocument/2006/relationships/slide" Target="/ppt/slides/slide5.xml" Id="R0e8bfbbe2fb544ed" /><Relationship Type="http://schemas.openxmlformats.org/officeDocument/2006/relationships/slide" Target="/ppt/slides/slide6.xml" Id="R00b5b4b3cbaa41ec" /><Relationship Type="http://schemas.openxmlformats.org/officeDocument/2006/relationships/slide" Target="/ppt/slides/slide7.xml" Id="R938bd4cf90ad4ba0" /><Relationship Type="http://schemas.openxmlformats.org/officeDocument/2006/relationships/slide" Target="/ppt/slides/slide8.xml" Id="R51c05047f4424a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a99f22a31648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b1c5deff644831" /><Relationship Type="http://schemas.openxmlformats.org/officeDocument/2006/relationships/notesMaster" Target="/ppt/notesMasters/notesMaster1.xml" Id="R508e85ac84d749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bbb1563b9a40b8" /><Relationship Type="http://schemas.openxmlformats.org/officeDocument/2006/relationships/notesMaster" Target="/ppt/notesMasters/notesMaster1.xml" Id="R4be1dfd9ec4343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833d79c2154197" /><Relationship Type="http://schemas.openxmlformats.org/officeDocument/2006/relationships/notesMaster" Target="/ppt/notesMasters/notesMaster1.xml" Id="Rb25aa93f93ba40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bfd5feaeae4a12" /><Relationship Type="http://schemas.openxmlformats.org/officeDocument/2006/relationships/notesMaster" Target="/ppt/notesMasters/notesMaster1.xml" Id="R489b5f8aebc540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961f4b0cd0409f" /><Relationship Type="http://schemas.openxmlformats.org/officeDocument/2006/relationships/notesMaster" Target="/ppt/notesMasters/notesMaster1.xml" Id="Re3745e507cb94c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996107e0fd47ce" /><Relationship Type="http://schemas.openxmlformats.org/officeDocument/2006/relationships/notesMaster" Target="/ppt/notesMasters/notesMaster1.xml" Id="R41d952ad378046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5cc2e1acd44e05" /><Relationship Type="http://schemas.openxmlformats.org/officeDocument/2006/relationships/notesMaster" Target="/ppt/notesMasters/notesMaster1.xml" Id="R4043e4fc7a314e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758581ee814952" /><Relationship Type="http://schemas.openxmlformats.org/officeDocument/2006/relationships/notesMaster" Target="/ppt/notesMasters/notesMaster1.xml" Id="Rb9b02c4ece7049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Urban Finance and Investment Scenarios. This lesson begins with one principle: urban investment choices must expose costs, benefits, burdens, and uncertainty.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V7_D_N13,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Urban investment choices must expose costs, benefits, burdens, and uncertainty. The five controls shown here are Assumption, Lifecycle cost, Affordability, Distribution, Capacity. Together, they prevent a habitat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V7_D_N13,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assumption, move through lifecycle cost and affordability, and finish with distribution and capacity.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V7_D_N13,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habitat example. A city compares infrastructure scenarios across benefits, debt, maintenance, and equity.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V7_D_N13,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Simulate urban investments and test assumptions, burdens, feasibility, and uncertainty.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V7_D_N13,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habitat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V7_D_N13,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V7_D_N13,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assumption clear? Is lifecycle cost documented? Is affordability testable? Is distribution governed? And is capacity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V7_D_N13,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a1652a052941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a8926af7ac4a57" /><Relationship Type="http://schemas.openxmlformats.org/officeDocument/2006/relationships/slideLayout" Target="/ppt/slideLayouts/slideLayout1.xml" Id="R5e8bfa13ed0241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8bfa13ed0241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9337c3e6344141" /><Relationship Type="http://schemas.openxmlformats.org/officeDocument/2006/relationships/notesSlide" Target="/ppt/notesSlides/notesSlide1.xml" Id="Rcdde1ef2b4c04f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93ed4b86214b19" /><Relationship Type="http://schemas.openxmlformats.org/officeDocument/2006/relationships/notesSlide" Target="/ppt/notesSlides/notesSlide2.xml" Id="Rb0e049fa81ad43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a0fc556cda44753" /><Relationship Type="http://schemas.openxmlformats.org/officeDocument/2006/relationships/notesSlide" Target="/ppt/notesSlides/notesSlide3.xml" Id="Rcf5009cd638b4a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56b9361bc664539" /><Relationship Type="http://schemas.openxmlformats.org/officeDocument/2006/relationships/notesSlide" Target="/ppt/notesSlides/notesSlide4.xml" Id="Rea9ebd0457a04f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16a9d36fe3a49bf" /><Relationship Type="http://schemas.openxmlformats.org/officeDocument/2006/relationships/notesSlide" Target="/ppt/notesSlides/notesSlide5.xml" Id="R994b86b2a42f4b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83555f447e24a6d" /><Relationship Type="http://schemas.openxmlformats.org/officeDocument/2006/relationships/notesSlide" Target="/ppt/notesSlides/notesSlide6.xml" Id="Rebf1e2b82ca343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8b2d4812f734c74" /><Relationship Type="http://schemas.openxmlformats.org/officeDocument/2006/relationships/notesSlide" Target="/ppt/notesSlides/notesSlide7.xml" Id="R32af245b5ec248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25499b4646d4010" /><Relationship Type="http://schemas.openxmlformats.org/officeDocument/2006/relationships/notesSlide" Target="/ppt/notesSlides/notesSlide8.xml" Id="R5b35fe556ec74541"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8C521EC-1116-4EAD-B1C0-DFFF448B256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D6BFCA26-A401-4D88-8B51-9ADF40E4AE1D}"/>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A495E2DD-CE88-4469-A829-163E2AFD6324}"/>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FCD09DEF-2022-4B3A-899E-CEFA37DD9B8E}"/>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HABITAT TRACK</a:t>
            </a:r>
          </a:p>
        </p:txBody>
      </p:sp>
      <p:sp>
        <p:nvSpPr>
          <p:cNvPr id="5" name="">
            <a:extLst xmlns:a="http://schemas.openxmlformats.org/drawingml/2006/main">
              <a:ext uri="{FF2B5EF4-FFF2-40B4-BE49-F238E27FC236}">
                <a16:creationId xmlns:a16="http://schemas.microsoft.com/office/drawing/2014/main" id="{8543708E-D990-4BE2-B792-98E54E3EE22D}"/>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URBAN FINANCE AND INVESTMENT SCENARIOS</a:t>
            </a:r>
          </a:p>
        </p:txBody>
      </p:sp>
      <p:sp>
        <p:nvSpPr>
          <p:cNvPr id="6" name="">
            <a:extLst xmlns:a="http://schemas.openxmlformats.org/drawingml/2006/main">
              <a:ext uri="{FF2B5EF4-FFF2-40B4-BE49-F238E27FC236}">
                <a16:creationId xmlns:a16="http://schemas.microsoft.com/office/drawing/2014/main" id="{4C65CC09-B90A-4FCF-B0F2-EC40CF87A700}"/>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Urban investment choices must expose costs, benefits, burdens, and uncertainty.</a:t>
            </a:r>
          </a:p>
        </p:txBody>
      </p:sp>
      <p:sp>
        <p:nvSpPr>
          <p:cNvPr id="7" name="">
            <a:extLst xmlns:a="http://schemas.openxmlformats.org/drawingml/2006/main">
              <a:ext uri="{FF2B5EF4-FFF2-40B4-BE49-F238E27FC236}">
                <a16:creationId xmlns:a16="http://schemas.microsoft.com/office/drawing/2014/main" id="{5FDC3C56-A264-467D-BD56-DCEE67981AA0}"/>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V7_D_N13</a:t>
            </a:r>
          </a:p>
        </p:txBody>
      </p:sp>
      <p:sp>
        <p:nvSpPr>
          <p:cNvPr id="8" name="">
            <a:extLst xmlns:a="http://schemas.openxmlformats.org/drawingml/2006/main">
              <a:ext uri="{FF2B5EF4-FFF2-40B4-BE49-F238E27FC236}">
                <a16:creationId xmlns:a16="http://schemas.microsoft.com/office/drawing/2014/main" id="{7AA9A67B-E74F-4133-8196-9303FB0731BB}"/>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PU-B07-C63</a:t>
            </a:r>
          </a:p>
        </p:txBody>
      </p:sp>
      <p:sp>
        <p:nvSpPr>
          <p:cNvPr id="9" name="">
            <a:extLst xmlns:a="http://schemas.openxmlformats.org/drawingml/2006/main">
              <a:ext uri="{FF2B5EF4-FFF2-40B4-BE49-F238E27FC236}">
                <a16:creationId xmlns:a16="http://schemas.microsoft.com/office/drawing/2014/main" id="{EC12133B-B4B3-4810-941A-2A5361B47791}"/>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7390FD0A-FF94-4010-9A04-4B1FD64EFF8A}"/>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749037224"/>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EEC18E7-32B9-42F8-8093-BFDC1DCC1907}"/>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V7_D_N13</a:t>
            </a:r>
          </a:p>
        </p:txBody>
      </p:sp>
      <p:sp>
        <p:nvSpPr>
          <p:cNvPr id="2" name="">
            <a:extLst xmlns:a="http://schemas.openxmlformats.org/drawingml/2006/main">
              <a:ext uri="{FF2B5EF4-FFF2-40B4-BE49-F238E27FC236}">
                <a16:creationId xmlns:a16="http://schemas.microsoft.com/office/drawing/2014/main" id="{5EF7060E-606B-42D1-9BCC-FE202845B61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C1A777E2-2838-438B-8F13-704133E251F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90D99880-BB0B-4866-972F-B985B538BA36}"/>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E19F2AD2-40B3-41AC-A29C-6EE216DC07F7}"/>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Urban investment choices must expose costs, benefits, burdens, and uncertainty.</a:t>
            </a:r>
          </a:p>
        </p:txBody>
      </p:sp>
      <p:sp>
        <p:nvSpPr>
          <p:cNvPr id="6" name="">
            <a:extLst xmlns:a="http://schemas.openxmlformats.org/drawingml/2006/main">
              <a:ext uri="{FF2B5EF4-FFF2-40B4-BE49-F238E27FC236}">
                <a16:creationId xmlns:a16="http://schemas.microsoft.com/office/drawing/2014/main" id="{24196353-4578-4E82-A41A-6B6EC3389386}"/>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F8772383-B153-424B-8171-DDA03881F45C}"/>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A08876F3-1237-4001-AFEC-7C7D6859DE64}"/>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Assumption</a:t>
            </a:r>
          </a:p>
        </p:txBody>
      </p:sp>
      <p:sp>
        <p:nvSpPr>
          <p:cNvPr id="9" name="">
            <a:extLst xmlns:a="http://schemas.openxmlformats.org/drawingml/2006/main">
              <a:ext uri="{FF2B5EF4-FFF2-40B4-BE49-F238E27FC236}">
                <a16:creationId xmlns:a16="http://schemas.microsoft.com/office/drawing/2014/main" id="{9FD3A43C-DEAE-4E15-B0D4-2FA8B70FA453}"/>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AE0FABE2-E884-4DED-BCA3-3954BA2D5475}"/>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Lifecycle cost</a:t>
            </a:r>
          </a:p>
        </p:txBody>
      </p:sp>
      <p:sp>
        <p:nvSpPr>
          <p:cNvPr id="11" name="">
            <a:extLst xmlns:a="http://schemas.openxmlformats.org/drawingml/2006/main">
              <a:ext uri="{FF2B5EF4-FFF2-40B4-BE49-F238E27FC236}">
                <a16:creationId xmlns:a16="http://schemas.microsoft.com/office/drawing/2014/main" id="{0E84BE24-D522-46AE-8563-E561CB54B918}"/>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DE7F3E56-53E1-49E7-A47A-1D86856DB4D1}"/>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Affordability</a:t>
            </a:r>
          </a:p>
        </p:txBody>
      </p:sp>
      <p:sp>
        <p:nvSpPr>
          <p:cNvPr id="13" name="">
            <a:extLst xmlns:a="http://schemas.openxmlformats.org/drawingml/2006/main">
              <a:ext uri="{FF2B5EF4-FFF2-40B4-BE49-F238E27FC236}">
                <a16:creationId xmlns:a16="http://schemas.microsoft.com/office/drawing/2014/main" id="{3492296C-D326-4AC5-A728-DBDB049A91CD}"/>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B5138320-6E0B-4B58-9BE5-1ADBC4064818}"/>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Distribution</a:t>
            </a:r>
          </a:p>
        </p:txBody>
      </p:sp>
      <p:sp>
        <p:nvSpPr>
          <p:cNvPr id="15" name="">
            <a:extLst xmlns:a="http://schemas.openxmlformats.org/drawingml/2006/main">
              <a:ext uri="{FF2B5EF4-FFF2-40B4-BE49-F238E27FC236}">
                <a16:creationId xmlns:a16="http://schemas.microsoft.com/office/drawing/2014/main" id="{5F2A086B-6701-43A4-91B5-914934A13496}"/>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E3311EA0-8913-4544-BC0B-0A26ABC8AE9C}"/>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Capacity</a:t>
            </a:r>
          </a:p>
        </p:txBody>
      </p:sp>
      <p:sp>
        <p:nvSpPr>
          <p:cNvPr id="17" name="">
            <a:extLst xmlns:a="http://schemas.openxmlformats.org/drawingml/2006/main">
              <a:ext uri="{FF2B5EF4-FFF2-40B4-BE49-F238E27FC236}">
                <a16:creationId xmlns:a16="http://schemas.microsoft.com/office/drawing/2014/main" id="{AC2BA600-05A0-48E7-BA70-F2F96C6A1B58}"/>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834574548"/>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F727AFC-34CD-4A11-9B81-F49BF987BDE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V7_D_N13</a:t>
            </a:r>
          </a:p>
        </p:txBody>
      </p:sp>
      <p:sp>
        <p:nvSpPr>
          <p:cNvPr id="2" name="">
            <a:extLst xmlns:a="http://schemas.openxmlformats.org/drawingml/2006/main">
              <a:ext uri="{FF2B5EF4-FFF2-40B4-BE49-F238E27FC236}">
                <a16:creationId xmlns:a16="http://schemas.microsoft.com/office/drawing/2014/main" id="{EE2EC137-6ABA-48CE-A649-C7208377B05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2A124110-A82C-42F6-8952-21155CCCCED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61F983F-EE7F-491F-8645-F2E56F55B711}"/>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A70B8089-4008-4118-AE38-2812B62DABDB}"/>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48FD2654-069B-441F-8786-6FCFB50BF692}"/>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D4C3B715-4B09-459E-8D68-5FD96B878905}"/>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Assumption</a:t>
            </a:r>
          </a:p>
        </p:txBody>
      </p:sp>
      <p:sp>
        <p:nvSpPr>
          <p:cNvPr id="8" name="">
            <a:extLst xmlns:a="http://schemas.openxmlformats.org/drawingml/2006/main">
              <a:ext uri="{FF2B5EF4-FFF2-40B4-BE49-F238E27FC236}">
                <a16:creationId xmlns:a16="http://schemas.microsoft.com/office/drawing/2014/main" id="{2112BAFF-7629-421D-8C49-133F46E601E6}"/>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73A57EB9-30CA-41D0-B561-C00EF47F3EFD}"/>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A44CEDB2-D549-4EDA-88BC-5746F95CF649}"/>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Lifecycle cost</a:t>
            </a:r>
          </a:p>
        </p:txBody>
      </p:sp>
      <p:sp>
        <p:nvSpPr>
          <p:cNvPr id="11" name="">
            <a:extLst xmlns:a="http://schemas.openxmlformats.org/drawingml/2006/main">
              <a:ext uri="{FF2B5EF4-FFF2-40B4-BE49-F238E27FC236}">
                <a16:creationId xmlns:a16="http://schemas.microsoft.com/office/drawing/2014/main" id="{06F6B947-51AD-4668-AA5E-5394EB939D1D}"/>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D4297B87-B240-46BC-8BF3-D4C3B9FBD107}"/>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288C9C4E-019E-4F02-8FB9-68184469F5DA}"/>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Affordability</a:t>
            </a:r>
          </a:p>
        </p:txBody>
      </p:sp>
      <p:sp>
        <p:nvSpPr>
          <p:cNvPr id="14" name="">
            <a:extLst xmlns:a="http://schemas.openxmlformats.org/drawingml/2006/main">
              <a:ext uri="{FF2B5EF4-FFF2-40B4-BE49-F238E27FC236}">
                <a16:creationId xmlns:a16="http://schemas.microsoft.com/office/drawing/2014/main" id="{93FD83C3-1020-431E-86C0-82BF9F4EFC54}"/>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09F3D95C-A4CC-46C5-AFEE-C46CA9422AE8}"/>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3B32D8D9-5138-4E84-8F5C-A62E5D8B7C06}"/>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Distribution</a:t>
            </a:r>
          </a:p>
        </p:txBody>
      </p:sp>
      <p:sp>
        <p:nvSpPr>
          <p:cNvPr id="17" name="">
            <a:extLst xmlns:a="http://schemas.openxmlformats.org/drawingml/2006/main">
              <a:ext uri="{FF2B5EF4-FFF2-40B4-BE49-F238E27FC236}">
                <a16:creationId xmlns:a16="http://schemas.microsoft.com/office/drawing/2014/main" id="{326673E8-E27B-4E94-B2E2-01516F54B131}"/>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4A4829F1-9D1F-4C3C-B5A5-8FDF10249C81}"/>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72AEEC0F-A378-4DF5-A532-C6EB3F68E8D7}"/>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Capacity</a:t>
            </a:r>
          </a:p>
        </p:txBody>
      </p:sp>
      <p:sp>
        <p:nvSpPr>
          <p:cNvPr id="20" name="">
            <a:extLst xmlns:a="http://schemas.openxmlformats.org/drawingml/2006/main">
              <a:ext uri="{FF2B5EF4-FFF2-40B4-BE49-F238E27FC236}">
                <a16:creationId xmlns:a16="http://schemas.microsoft.com/office/drawing/2014/main" id="{2CA630DC-2476-41A4-AD7B-0E934220E582}"/>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891527008"/>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EEDCD00-86A4-4490-806F-E0FC5E25806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V7_D_N13</a:t>
            </a:r>
          </a:p>
        </p:txBody>
      </p:sp>
      <p:sp>
        <p:nvSpPr>
          <p:cNvPr id="2" name="">
            <a:extLst xmlns:a="http://schemas.openxmlformats.org/drawingml/2006/main">
              <a:ext uri="{FF2B5EF4-FFF2-40B4-BE49-F238E27FC236}">
                <a16:creationId xmlns:a16="http://schemas.microsoft.com/office/drawing/2014/main" id="{01AA706C-13D5-4AB7-BEAF-FCC645DD4A5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37795E89-590A-44AC-A9F8-6524761CFD2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AAB38C4-799A-4916-A5CA-0C35B42C81B6}"/>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D6FC5B80-15C4-480A-95C6-3EE8B57BE7A7}"/>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81E8F395-0D1A-4931-BADA-8E1EA7BEA58E}"/>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EBEF5BBD-53C4-42D2-AA9B-586554764FF3}"/>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city compares infrastructure scenarios across benefits, debt, maintenance, and equity.</a:t>
            </a:r>
          </a:p>
        </p:txBody>
      </p:sp>
      <p:sp>
        <p:nvSpPr>
          <p:cNvPr id="8" name="">
            <a:extLst xmlns:a="http://schemas.openxmlformats.org/drawingml/2006/main">
              <a:ext uri="{FF2B5EF4-FFF2-40B4-BE49-F238E27FC236}">
                <a16:creationId xmlns:a16="http://schemas.microsoft.com/office/drawing/2014/main" id="{DD4BC28B-2220-4B4B-9815-C72D347B14AF}"/>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09FAF7F5-16CB-43C2-B09E-FADBA038DD46}"/>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32384746-FF57-4D3F-A519-6D907A5A4C78}"/>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77D505B0-18EB-43C0-8819-F2B33A0D995B}"/>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671006838"/>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86A1308-6F89-47F3-B04F-C9B4F8B2F22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V7_D_N13</a:t>
            </a:r>
          </a:p>
        </p:txBody>
      </p:sp>
      <p:sp>
        <p:nvSpPr>
          <p:cNvPr id="2" name="">
            <a:extLst xmlns:a="http://schemas.openxmlformats.org/drawingml/2006/main">
              <a:ext uri="{FF2B5EF4-FFF2-40B4-BE49-F238E27FC236}">
                <a16:creationId xmlns:a16="http://schemas.microsoft.com/office/drawing/2014/main" id="{ECF89818-D25D-40C5-83CC-9416B72E3F2B}"/>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BAB55660-8FF8-4990-96AB-14F7D60957E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5E3BCFC2-8D7E-46F5-B430-0CEDC45A36F1}"/>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69ED0607-2CE8-4A2D-927B-E975D63C7B65}"/>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Simulate urban investments and test assumptions, burdens, feasibility, and uncertainty.</a:t>
            </a:r>
          </a:p>
        </p:txBody>
      </p:sp>
      <p:sp>
        <p:nvSpPr>
          <p:cNvPr id="6" name="">
            <a:extLst xmlns:a="http://schemas.openxmlformats.org/drawingml/2006/main">
              <a:ext uri="{FF2B5EF4-FFF2-40B4-BE49-F238E27FC236}">
                <a16:creationId xmlns:a16="http://schemas.microsoft.com/office/drawing/2014/main" id="{49FFCD21-09DD-486F-87B5-DDEC1909571C}"/>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D667C368-C262-4A54-A305-CD8C518FF659}"/>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BCB11437-3D57-4A47-87E7-49368B824B12}"/>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00ECF38E-C988-4D80-866C-A9DAA90D6993}"/>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16172267-5F45-436C-BD94-CE9CDC4124A9}"/>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ACF4C754-735F-4564-8C80-C58F6B3E20B8}"/>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DBD1C06E-8188-44DC-8B40-DF89B5353E23}"/>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5BA7E2D5-F8AD-4B7E-B15A-87BC6DC466ED}"/>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63FFE5E3-4F0D-4617-B0E1-FDEE2F3B2830}"/>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F72474D4-5EB8-4176-91B9-72A96C2BED23}"/>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C1F2C5E0-BFAA-4FB0-8AF2-F603CBE1A247}"/>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14AA33B4-72D6-4EE9-9EBF-F76507A25573}"/>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758222838"/>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B3AF29D-B13A-4950-B6E6-2A2B71EABB7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V7_D_N13</a:t>
            </a:r>
          </a:p>
        </p:txBody>
      </p:sp>
      <p:sp>
        <p:nvSpPr>
          <p:cNvPr id="2" name="">
            <a:extLst xmlns:a="http://schemas.openxmlformats.org/drawingml/2006/main">
              <a:ext uri="{FF2B5EF4-FFF2-40B4-BE49-F238E27FC236}">
                <a16:creationId xmlns:a16="http://schemas.microsoft.com/office/drawing/2014/main" id="{8F5F47DD-9765-48DA-BA36-BCFE8ADA243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9EDA1184-7C37-4609-B20A-6DD156BA7385}"/>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29BDA72-838A-435C-BFFB-D86D33EE4DD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A8B34124-8789-44F7-A347-BF2CF1070E6D}"/>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F49F753A-59E0-4A17-A556-1E0F4106E82D}"/>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E4FE5669-7B1D-40D9-80C2-D59B6F995E6B}"/>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B4AC6D37-D1D3-4D5A-B560-F590DE75D6BB}"/>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1B2D8380-4EE8-4680-AFE4-8EE2AA38CFE0}"/>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52963F40-4800-48A3-86DE-9E2EFA8DA2DA}"/>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DB11ACED-0193-4C30-80DE-94C4D090B192}"/>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3F400265-F297-43B9-91AA-ECF071643707}"/>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66782CCC-A3F1-4B97-93AB-2208B254A739}"/>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98C80C89-D509-4795-B7E4-ACE90908181C}"/>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77581972"/>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7E24A29-5DD3-4E7E-96CF-042CD1D048B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V7_D_N13</a:t>
            </a:r>
          </a:p>
        </p:txBody>
      </p:sp>
      <p:sp>
        <p:nvSpPr>
          <p:cNvPr id="2" name="">
            <a:extLst xmlns:a="http://schemas.openxmlformats.org/drawingml/2006/main">
              <a:ext uri="{FF2B5EF4-FFF2-40B4-BE49-F238E27FC236}">
                <a16:creationId xmlns:a16="http://schemas.microsoft.com/office/drawing/2014/main" id="{350805EA-9501-40D6-85A1-0F4F237966C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80D082C1-C0B5-4983-ACF3-91138E4E8A0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8E6E147-D2AC-4517-AF85-B5DF3DE046F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6EA09294-193A-48C9-8354-B42336026B2D}"/>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C0929B77-2B42-4599-A2BB-7E50146B1D83}"/>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0E52BA4F-E2E5-41C0-9EE3-322E55180418}"/>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489743E2-FD53-46EA-8538-FBBD9172A4C2}"/>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2B88DD5B-FA8E-4590-8391-5F5859D69100}"/>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62A8E1E4-DF6B-4437-A815-D8487DE5A59A}"/>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136606419"/>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1AB21F9-80B2-412E-9EDB-80253559906B}"/>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3E679735-CF9E-46F6-9F13-45F66051B7ED}"/>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468E196F-2949-498B-A748-E6D12E28F02A}"/>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Assumption</a:t>
            </a:r>
          </a:p>
        </p:txBody>
      </p:sp>
      <p:sp>
        <p:nvSpPr>
          <p:cNvPr id="4" name="">
            <a:extLst xmlns:a="http://schemas.openxmlformats.org/drawingml/2006/main">
              <a:ext uri="{FF2B5EF4-FFF2-40B4-BE49-F238E27FC236}">
                <a16:creationId xmlns:a16="http://schemas.microsoft.com/office/drawing/2014/main" id="{7C9F43FD-F0D3-4C82-A462-DB3D38A938EA}"/>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CC68B65E-1BB3-4D04-A820-537AE5FE40FC}"/>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Lifecycle cost</a:t>
            </a:r>
          </a:p>
        </p:txBody>
      </p:sp>
      <p:sp>
        <p:nvSpPr>
          <p:cNvPr id="6" name="">
            <a:extLst xmlns:a="http://schemas.openxmlformats.org/drawingml/2006/main">
              <a:ext uri="{FF2B5EF4-FFF2-40B4-BE49-F238E27FC236}">
                <a16:creationId xmlns:a16="http://schemas.microsoft.com/office/drawing/2014/main" id="{59C968D0-3D20-4C73-B451-39C3C55FA940}"/>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CE016305-DA69-4516-A152-5050B3C7D58E}"/>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Affordability</a:t>
            </a:r>
          </a:p>
        </p:txBody>
      </p:sp>
      <p:sp>
        <p:nvSpPr>
          <p:cNvPr id="8" name="">
            <a:extLst xmlns:a="http://schemas.openxmlformats.org/drawingml/2006/main">
              <a:ext uri="{FF2B5EF4-FFF2-40B4-BE49-F238E27FC236}">
                <a16:creationId xmlns:a16="http://schemas.microsoft.com/office/drawing/2014/main" id="{DAECA534-F80A-456D-973A-3A4C1621175E}"/>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967E9841-62F2-4122-81E7-314810B24B94}"/>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Distribution</a:t>
            </a:r>
          </a:p>
        </p:txBody>
      </p:sp>
      <p:sp>
        <p:nvSpPr>
          <p:cNvPr id="10" name="">
            <a:extLst xmlns:a="http://schemas.openxmlformats.org/drawingml/2006/main">
              <a:ext uri="{FF2B5EF4-FFF2-40B4-BE49-F238E27FC236}">
                <a16:creationId xmlns:a16="http://schemas.microsoft.com/office/drawing/2014/main" id="{7F5531EF-885F-42CB-BEA2-6E28ABD19798}"/>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5A0397B9-1721-4495-81A7-F324A2B93F57}"/>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Capacity</a:t>
            </a:r>
          </a:p>
        </p:txBody>
      </p:sp>
      <p:sp>
        <p:nvSpPr>
          <p:cNvPr id="12" name="">
            <a:extLst xmlns:a="http://schemas.openxmlformats.org/drawingml/2006/main">
              <a:ext uri="{FF2B5EF4-FFF2-40B4-BE49-F238E27FC236}">
                <a16:creationId xmlns:a16="http://schemas.microsoft.com/office/drawing/2014/main" id="{49610F00-34B8-4272-AC32-02EEA95BF314}"/>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7129398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2026-09-04T15:49:28.1590000Z</dcterms:created>
  <dcterms:modified xsi:type="dcterms:W3CDTF">2026-09-04T15:49:28.1590000Z</dcterms:modified>
</coreProperties>
</file>